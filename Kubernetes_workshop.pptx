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71"/>
  </p:notesMasterIdLst>
  <p:sldIdLst>
    <p:sldId id="280" r:id="rId3"/>
    <p:sldId id="437" r:id="rId4"/>
    <p:sldId id="438" r:id="rId5"/>
    <p:sldId id="439" r:id="rId6"/>
    <p:sldId id="398" r:id="rId7"/>
    <p:sldId id="440" r:id="rId8"/>
    <p:sldId id="354" r:id="rId9"/>
    <p:sldId id="418" r:id="rId10"/>
    <p:sldId id="436" r:id="rId11"/>
    <p:sldId id="452" r:id="rId12"/>
    <p:sldId id="453" r:id="rId13"/>
    <p:sldId id="361" r:id="rId14"/>
    <p:sldId id="455" r:id="rId15"/>
    <p:sldId id="456" r:id="rId16"/>
    <p:sldId id="355" r:id="rId17"/>
    <p:sldId id="454" r:id="rId18"/>
    <p:sldId id="348" r:id="rId19"/>
    <p:sldId id="426" r:id="rId20"/>
    <p:sldId id="459" r:id="rId21"/>
    <p:sldId id="474" r:id="rId22"/>
    <p:sldId id="349" r:id="rId23"/>
    <p:sldId id="443" r:id="rId24"/>
    <p:sldId id="444" r:id="rId25"/>
    <p:sldId id="357" r:id="rId26"/>
    <p:sldId id="445" r:id="rId27"/>
    <p:sldId id="466" r:id="rId28"/>
    <p:sldId id="363" r:id="rId29"/>
    <p:sldId id="460" r:id="rId30"/>
    <p:sldId id="473" r:id="rId31"/>
    <p:sldId id="362" r:id="rId32"/>
    <p:sldId id="446" r:id="rId33"/>
    <p:sldId id="447" r:id="rId34"/>
    <p:sldId id="352" r:id="rId35"/>
    <p:sldId id="375" r:id="rId36"/>
    <p:sldId id="478" r:id="rId37"/>
    <p:sldId id="462" r:id="rId38"/>
    <p:sldId id="393" r:id="rId39"/>
    <p:sldId id="457" r:id="rId40"/>
    <p:sldId id="463" r:id="rId41"/>
    <p:sldId id="376" r:id="rId42"/>
    <p:sldId id="358" r:id="rId43"/>
    <p:sldId id="374" r:id="rId44"/>
    <p:sldId id="370" r:id="rId45"/>
    <p:sldId id="384" r:id="rId46"/>
    <p:sldId id="364" r:id="rId47"/>
    <p:sldId id="464" r:id="rId48"/>
    <p:sldId id="465" r:id="rId49"/>
    <p:sldId id="415" r:id="rId50"/>
    <p:sldId id="367" r:id="rId51"/>
    <p:sldId id="448" r:id="rId52"/>
    <p:sldId id="368" r:id="rId53"/>
    <p:sldId id="477" r:id="rId54"/>
    <p:sldId id="369" r:id="rId55"/>
    <p:sldId id="484" r:id="rId56"/>
    <p:sldId id="479" r:id="rId57"/>
    <p:sldId id="468" r:id="rId58"/>
    <p:sldId id="483" r:id="rId59"/>
    <p:sldId id="476" r:id="rId60"/>
    <p:sldId id="480" r:id="rId61"/>
    <p:sldId id="481" r:id="rId62"/>
    <p:sldId id="482" r:id="rId63"/>
    <p:sldId id="380" r:id="rId64"/>
    <p:sldId id="469" r:id="rId65"/>
    <p:sldId id="458" r:id="rId66"/>
    <p:sldId id="472" r:id="rId67"/>
    <p:sldId id="350" r:id="rId68"/>
    <p:sldId id="450" r:id="rId69"/>
    <p:sldId id="372" r:id="rId7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4D02"/>
    <a:srgbClr val="005DE0"/>
    <a:srgbClr val="0074D9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66" autoAdjust="0"/>
    <p:restoredTop sz="83224"/>
  </p:normalViewPr>
  <p:slideViewPr>
    <p:cSldViewPr snapToGrid="0">
      <p:cViewPr varScale="1">
        <p:scale>
          <a:sx n="103" d="100"/>
          <a:sy n="103" d="100"/>
        </p:scale>
        <p:origin x="18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15/06/2026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tutorials/stateless-application/guestbook/" TargetMode="External"/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Kubernetes as: “The Great Conductor”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83138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 API calls with -v=8</a:t>
            </a:r>
          </a:p>
          <a:p>
            <a:endParaRPr lang="en-DK" dirty="0"/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get pods -v=8 </a:t>
            </a: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kubectl create namespace test --dry-run=server -v=8 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67307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kubectl create deployment nginx --image=nginx:latest</a:t>
            </a:r>
          </a:p>
          <a:p>
            <a:endParaRPr lang="en-DK" dirty="0"/>
          </a:p>
          <a:p>
            <a:r>
              <a:rPr lang="en-DK" dirty="0"/>
              <a:t>kubectl get deploy/nginx -o yaml my-deployment.yml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delete nginx</a:t>
            </a:r>
          </a:p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apply my-deployment.yml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59056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Undlad app labels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17060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https://</a:t>
            </a:r>
            <a:r>
              <a:rPr lang="en-GB" sz="1200" dirty="0" err="1"/>
              <a:t>kubernetes.io</a:t>
            </a:r>
            <a:r>
              <a:rPr lang="en-GB" sz="1200" dirty="0"/>
              <a:t>/docs/concepts/services-networking/</a:t>
            </a:r>
            <a:r>
              <a:rPr lang="en-GB" sz="1200" dirty="0" err="1"/>
              <a:t>dns</a:t>
            </a:r>
            <a:r>
              <a:rPr lang="en-GB" sz="1200" dirty="0"/>
              <a:t>-pod-service/#namespaces-of-services</a:t>
            </a:r>
            <a:endParaRPr lang="en-DK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ctx / 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771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3"/>
              </a:rPr>
              <a:t>https://kubernetes.io/docs/tutorials/stateless-application/guestbook/</a:t>
            </a:r>
            <a:r>
              <a:rPr lang="en-GB" dirty="0"/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698038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15.06.2026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overview/components/#kube-apiserv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kubernetes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9308806" cy="43696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>
                <a:solidFill>
                  <a:srgbClr val="C54D02"/>
                </a:solidFill>
              </a:rPr>
              <a:t>Exercise</a:t>
            </a:r>
            <a:r>
              <a:rPr lang="en-DK" sz="3600" dirty="0"/>
              <a:t>: Deployments &amp; Pods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</a:t>
            </a:r>
            <a:r>
              <a:rPr lang="en-DK" sz="3600" dirty="0">
                <a:solidFill>
                  <a:srgbClr val="C54D02"/>
                </a:solidFill>
              </a:rPr>
              <a:t>[+Exercise]</a:t>
            </a:r>
            <a:endParaRPr lang="en-DK" sz="3600" dirty="0"/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ubectl, k9s og Rancher UI [Demo]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Environment &amp; Volume Mounts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Orchestration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</a:t>
            </a:r>
            <a:r>
              <a:rPr lang="en-DK" sz="3600" dirty="0">
                <a:solidFill>
                  <a:srgbClr val="C54D02"/>
                </a:solidFill>
              </a:rPr>
              <a:t>[+Show &amp; Copy]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2187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Fokus for workshop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262730"/>
            <a:ext cx="10510730" cy="63857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6283186" y="3121715"/>
            <a:ext cx="4730640" cy="247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662052" y="463315"/>
            <a:ext cx="8867895" cy="5261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F67729-13D4-50C5-1BDB-C0A6DC54EBED}"/>
              </a:ext>
            </a:extLst>
          </p:cNvPr>
          <p:cNvSpPr txBox="1"/>
          <p:nvPr/>
        </p:nvSpPr>
        <p:spPr>
          <a:xfrm>
            <a:off x="3180838" y="5925727"/>
            <a:ext cx="4554986" cy="442674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Aka. </a:t>
            </a:r>
            <a:r>
              <a:rPr lang="en-GB" sz="2000" b="1" dirty="0"/>
              <a:t>Infrastructure as Code</a:t>
            </a:r>
            <a:r>
              <a:rPr lang="en-GB" sz="2000" dirty="0"/>
              <a:t> (</a:t>
            </a:r>
            <a:r>
              <a:rPr lang="en-GB" sz="2000" dirty="0" err="1"/>
              <a:t>IaC</a:t>
            </a:r>
            <a:r>
              <a:rPr lang="en-GB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Platformen forsøger at gøre den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Men… 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my-network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594695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“What’s our state? What should I run?”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 control plane is the </a:t>
            </a:r>
            <a:r>
              <a:rPr lang="en-GB" dirty="0">
                <a:hlinkClick r:id="rId2"/>
              </a:rPr>
              <a:t>API server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is just an easy way to interact with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pPr lvl="1"/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 err="1"/>
              <a:t>Kubernetes</a:t>
            </a:r>
            <a:br>
              <a:rPr lang="da-DK" dirty="0"/>
            </a:br>
            <a:r>
              <a:rPr lang="da-DK" sz="3600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 (</a:t>
            </a:r>
            <a:r>
              <a:rPr lang="en-DK" dirty="0">
                <a:solidFill>
                  <a:srgbClr val="FF0000"/>
                </a:solidFill>
              </a:rPr>
              <a:t>FJERNES?</a:t>
            </a:r>
            <a:r>
              <a:rPr lang="en-DK" dirty="0"/>
              <a:t>)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 from our browser</a:t>
            </a:r>
          </a:p>
          <a:p>
            <a:pPr marL="0" indent="0">
              <a:buNone/>
            </a:pP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9"/>
            <a:ext cx="10981691" cy="4442516"/>
          </a:xfrm>
        </p:spPr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 deployment</a:t>
            </a:r>
            <a:r>
              <a:rPr lang="en-DK" sz="22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sz="22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deploy.yml</a:t>
            </a:r>
            <a:endParaRPr lang="en-DK" sz="22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46991" y="2363384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442517"/>
          </a:xfrm>
        </p:spPr>
        <p:txBody>
          <a:bodyPr/>
          <a:lstStyle/>
          <a:p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A Pod should exist</a:t>
            </a:r>
          </a:p>
          <a:p>
            <a:pPr lvl="1"/>
            <a:r>
              <a:rPr lang="en-DK" dirty="0"/>
              <a:t>It should be named “nginx”</a:t>
            </a:r>
          </a:p>
          <a:p>
            <a:pPr lvl="1"/>
            <a:r>
              <a:rPr lang="en-DK" dirty="0"/>
              <a:t>It should have a container also named “nginx”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This container should use the Docker image “nginx:1.14.2”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2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F92C31-FFD6-86AE-47FA-A0082A67B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909" y="1690688"/>
            <a:ext cx="3304892" cy="27615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/>
          <a:lstStyle/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There should exist a </a:t>
            </a:r>
            <a:r>
              <a:rPr lang="en-DK" b="1" dirty="0"/>
              <a:t>Deployment</a:t>
            </a:r>
            <a:r>
              <a:rPr lang="en-DK" dirty="0"/>
              <a:t> named “nginx-deployment”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2"/>
            <a:r>
              <a:rPr lang="en-DK" dirty="0"/>
              <a:t>with label </a:t>
            </a:r>
            <a:r>
              <a:rPr lang="en-DK" b="1" dirty="0"/>
              <a:t>app=nginx</a:t>
            </a:r>
            <a:endParaRPr lang="en-DK" dirty="0"/>
          </a:p>
          <a:p>
            <a:pPr lvl="1"/>
            <a:r>
              <a:rPr lang="en-DK" dirty="0"/>
              <a:t>All 3 Pods should be created from the given template</a:t>
            </a:r>
          </a:p>
          <a:p>
            <a:pPr lvl="2"/>
            <a:r>
              <a:rPr lang="en-DK" dirty="0"/>
              <a:t>Template says each Pod has 1 container 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2"/>
            <a:r>
              <a:rPr lang="en-DK" dirty="0"/>
              <a:t>It identifies its “owned” pods from a selector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420066" y="836044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dirty="0"/>
              <a:t> 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 ned </a:t>
            </a:r>
            <a:r>
              <a:rPr lang="en-DK" dirty="0">
                <a:hlinkClick r:id="rId3"/>
              </a:rPr>
              <a:t>https://github.com/notalib/workshop-kubernetes</a:t>
            </a:r>
            <a:r>
              <a:rPr lang="en-DK" dirty="0"/>
              <a:t> 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GB" b="1" dirty="0"/>
              <a:t>setup/</a:t>
            </a:r>
            <a:r>
              <a:rPr lang="en-GB" b="1" dirty="0" err="1"/>
              <a:t>README.md</a:t>
            </a:r>
            <a:r>
              <a:rPr lang="en-GB" b="1" dirty="0"/>
              <a:t> </a:t>
            </a:r>
            <a:r>
              <a:rPr lang="en-GB" dirty="0"/>
              <a:t>for at </a:t>
            </a:r>
            <a:r>
              <a:rPr lang="en-GB" dirty="0" err="1"/>
              <a:t>få</a:t>
            </a:r>
            <a:r>
              <a:rPr lang="en-GB" dirty="0"/>
              <a:t> </a:t>
            </a:r>
            <a:r>
              <a:rPr lang="en-GB" dirty="0" err="1"/>
              <a:t>lokalt</a:t>
            </a:r>
            <a:r>
              <a:rPr lang="en-GB" dirty="0"/>
              <a:t> cluster op at </a:t>
            </a:r>
            <a:r>
              <a:rPr lang="en-GB" dirty="0" err="1"/>
              <a:t>køre</a:t>
            </a:r>
            <a:r>
              <a:rPr lang="en-GB" dirty="0"/>
              <a:t>.</a:t>
            </a:r>
            <a:endParaRPr lang="en-GB" b="1" dirty="0"/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kommandoer (</a:t>
            </a:r>
            <a:r>
              <a:rPr lang="en-DK" u="sng" dirty="0"/>
              <a:t>imperative</a:t>
            </a:r>
            <a:r>
              <a:rPr lang="en-DK" dirty="0"/>
              <a:t>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</a:t>
            </a:r>
            <a:r>
              <a:rPr lang="en-DK" u="sng" dirty="0"/>
              <a:t>declarative</a:t>
            </a:r>
            <a:r>
              <a:rPr lang="en-DK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800" dirty="0"/>
              <a:t>Hvad lærte vi?</a:t>
            </a:r>
          </a:p>
          <a:p>
            <a:endParaRPr lang="en-DK" sz="2800" dirty="0"/>
          </a:p>
          <a:p>
            <a:r>
              <a:rPr lang="en-DK" sz="2800" dirty="0"/>
              <a:t>Hvad var svært?</a:t>
            </a:r>
          </a:p>
          <a:p>
            <a:endParaRPr lang="en-DK" sz="2800" dirty="0"/>
          </a:p>
          <a:p>
            <a:r>
              <a:rPr lang="en-DK" sz="2800" dirty="0"/>
              <a:t>Se på løsninger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andre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specifikke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 matching af Pods, som den sender trafik til.</a:t>
            </a:r>
            <a:br>
              <a:rPr lang="en-DK" dirty="0">
                <a:solidFill>
                  <a:schemeClr val="tx1"/>
                </a:solidFill>
              </a:rPr>
            </a:br>
            <a:endParaRPr lang="en-DK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E.g. my-service:80 </a:t>
            </a:r>
            <a:r>
              <a:rPr lang="en-DK" dirty="0">
                <a:solidFill>
                  <a:schemeClr val="tx1"/>
                </a:solidFill>
                <a:sym typeface="Wingdings" pitchFamily="2" charset="2"/>
              </a:rPr>
              <a:t> pod/MyApp:9376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721599" y="1790700"/>
            <a:ext cx="3797301" cy="3225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732" y="1027906"/>
            <a:ext cx="7036268" cy="464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8E8B5-ED64-BCFE-0BC5-3C9338B7376B}"/>
              </a:ext>
            </a:extLst>
          </p:cNvPr>
          <p:cNvSpPr txBox="1"/>
          <p:nvPr/>
        </p:nvSpPr>
        <p:spPr>
          <a:xfrm>
            <a:off x="838064" y="5733095"/>
            <a:ext cx="36328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5DE0"/>
                </a:solidFill>
              </a:rPr>
              <a:t>Real-life eksempel fra DIT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linkClick r:id="rId2"/>
              </a:rPr>
              <a:t>https://kubernetes.io/docs/tutorials/services/connect-applications-service/#creating-a-service</a:t>
            </a:r>
            <a:endParaRPr lang="en-GB" dirty="0"/>
          </a:p>
          <a:p>
            <a:endParaRPr lang="en-GB" dirty="0"/>
          </a:p>
          <a:p>
            <a:r>
              <a:rPr lang="en-GB" dirty="0"/>
              <a:t>First install an Ingress controller!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Service resource called “test”.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[--class=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877B-8F1C-9E1A-3594-6B0FC6D7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7A03A756-B146-97FF-DE4D-2A1F33610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9AB74AF-CCCA-F246-CDD0-C99EFE05624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4-exposing-workloads</a:t>
            </a:r>
          </a:p>
          <a:p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2896083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GB" dirty="0"/>
              <a:t>k</a:t>
            </a:r>
            <a:r>
              <a:rPr lang="en-DK" dirty="0"/>
              <a:t>ubectl, k9s</a:t>
            </a:r>
          </a:p>
          <a:p>
            <a:r>
              <a:rPr lang="da-DK" dirty="0"/>
              <a:t>og </a:t>
            </a:r>
            <a:r>
              <a:rPr lang="en-DK" dirty="0"/>
              <a:t>Rancher UI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sz="3400" b="1" dirty="0"/>
              <a:t>Terminal CLI</a:t>
            </a:r>
            <a:endParaRPr lang="en-GB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800" b="1" dirty="0"/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cs typeface="Consolas" panose="020B0609020204030204" pitchFamily="49" charset="0"/>
              </a:rPr>
              <a:t>Terminal UI, keyboard-styret interaktion med Kubernetes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--help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Use KUBE_EDITOR, or EDITOR to specify editor app</a:t>
            </a:r>
          </a:p>
          <a:p>
            <a:pPr lvl="1"/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Target can also be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pod/my-pod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/>
              <a:t>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2196548" y="4582088"/>
            <a:ext cx="5538538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</a:t>
            </a:r>
            <a:r>
              <a:rPr lang="en-GB" sz="2000" b="1" dirty="0"/>
              <a:t>Rancher Desktop</a:t>
            </a:r>
            <a:r>
              <a:rPr lang="en-GB" sz="2000" dirty="0"/>
              <a:t>,</a:t>
            </a:r>
            <a:br>
              <a:rPr lang="en-GB" sz="2000" dirty="0"/>
            </a:br>
            <a:r>
              <a:rPr lang="en-GB" sz="2000" dirty="0"/>
              <a:t>you already have </a:t>
            </a:r>
            <a:r>
              <a:rPr lang="en-GB" sz="2000" b="1" dirty="0"/>
              <a:t>Rancher UI </a:t>
            </a:r>
            <a:r>
              <a:rPr lang="en-GB" sz="2000" dirty="0"/>
              <a:t>installed!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75FF6-A227-3A69-E6E0-09EA30B46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" t="14921" r="19202"/>
          <a:stretch>
            <a:fillRect/>
          </a:stretch>
        </p:blipFill>
        <p:spPr>
          <a:xfrm>
            <a:off x="8157127" y="4083262"/>
            <a:ext cx="3676650" cy="17808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Goal: Be portable and scalable! </a:t>
            </a:r>
            <a:r>
              <a:rPr lang="en-GB" dirty="0">
                <a:sym typeface="Wingdings" pitchFamily="2" charset="2"/>
              </a:rPr>
              <a:t> Be a ”Cloud-native” app.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 (</a:t>
            </a:r>
            <a:r>
              <a:rPr lang="en-GB" dirty="0" err="1"/>
              <a:t>udsnit</a:t>
            </a:r>
            <a:r>
              <a:rPr lang="en-GB" dirty="0"/>
              <a:t>):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Og </a:t>
            </a:r>
            <a:r>
              <a:rPr lang="en-GB" dirty="0" err="1"/>
              <a:t>flere</a:t>
            </a:r>
            <a:r>
              <a:rPr lang="en-GB" dirty="0"/>
              <a:t>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17522" y="2594920"/>
            <a:ext cx="2483632" cy="248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8817522" y="5167312"/>
            <a:ext cx="2712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Scan QR or open:</a:t>
            </a:r>
            <a:br>
              <a:rPr lang="en-GB" dirty="0"/>
            </a:br>
            <a:r>
              <a:rPr lang="en-GB" dirty="0">
                <a:hlinkClick r:id="rId3"/>
              </a:rPr>
              <a:t>12factor.net</a:t>
            </a:r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FE460E-975F-8004-6394-5583125C0D61}"/>
              </a:ext>
            </a:extLst>
          </p:cNvPr>
          <p:cNvSpPr txBox="1"/>
          <p:nvPr/>
        </p:nvSpPr>
        <p:spPr>
          <a:xfrm>
            <a:off x="666750" y="360997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Volume mount = directory or file injected into a container’s filesystem.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GB" sz="2200" dirty="0"/>
              <a:t>Data coming from outside the container, to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GB" sz="2200" u="sng" dirty="0"/>
              <a:t>share or externalize data</a:t>
            </a:r>
            <a:r>
              <a:rPr lang="en-GB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E.g. configuration files, credentials, shared files between containers in a Pod,</a:t>
            </a:r>
            <a:br>
              <a:rPr lang="en-GB" dirty="0"/>
            </a:br>
            <a:r>
              <a:rPr lang="en-GB" dirty="0"/>
              <a:t>or </a:t>
            </a:r>
            <a:r>
              <a:rPr lang="en-GB" u="sng" dirty="0"/>
              <a:t>data that must survive container restarts </a:t>
            </a:r>
            <a:r>
              <a:rPr lang="en-GB" dirty="0"/>
              <a:t>(persistence).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Can be: </a:t>
            </a:r>
            <a:r>
              <a:rPr lang="en-GB" dirty="0" err="1">
                <a:solidFill>
                  <a:srgbClr val="005DE0"/>
                </a:solidFill>
              </a:rPr>
              <a:t>ConfigMap</a:t>
            </a:r>
            <a:r>
              <a:rPr lang="en-GB" dirty="0"/>
              <a:t>, </a:t>
            </a:r>
            <a:r>
              <a:rPr lang="en-GB" dirty="0">
                <a:solidFill>
                  <a:srgbClr val="C54D02"/>
                </a:solidFill>
              </a:rPr>
              <a:t>Secret</a:t>
            </a:r>
            <a:r>
              <a:rPr lang="en-GB" dirty="0"/>
              <a:t>, PVC, </a:t>
            </a:r>
            <a:r>
              <a:rPr lang="en-GB" dirty="0" err="1"/>
              <a:t>emptyDir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1208608" y="3821798"/>
            <a:ext cx="3523806" cy="203132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foo: bar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DB_HOSTNAME: my-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db.kb.dk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5187708" y="3821797"/>
            <a:ext cx="3412595" cy="203132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key1: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dmFsdWUxCg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DB_PASSWORD: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YWJjCg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66EAE-5F61-C270-AB05-E3F840190D7B}"/>
              </a:ext>
            </a:extLst>
          </p:cNvPr>
          <p:cNvSpPr txBox="1"/>
          <p:nvPr/>
        </p:nvSpPr>
        <p:spPr>
          <a:xfrm>
            <a:off x="8909220" y="3821797"/>
            <a:ext cx="328278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400" dirty="0"/>
              <a:t>Secrets are only secured by access controls</a:t>
            </a:r>
            <a:br>
              <a:rPr lang="en-DK" sz="2800" dirty="0"/>
            </a:br>
            <a:endParaRPr lang="en-DK" sz="2000" dirty="0"/>
          </a:p>
          <a:p>
            <a:br>
              <a:rPr lang="en-DK" sz="2000" dirty="0"/>
            </a:br>
            <a:r>
              <a:rPr lang="en-DK" dirty="0"/>
              <a:t>Value is base64 encoded,</a:t>
            </a:r>
            <a:br>
              <a:rPr lang="en-DK" dirty="0"/>
            </a:br>
            <a:r>
              <a:rPr lang="en-DK" b="1" dirty="0"/>
              <a:t>not encrypted</a:t>
            </a:r>
            <a:r>
              <a:rPr lang="en-DK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5020961" y="1903874"/>
            <a:ext cx="6693244" cy="4247317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GB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b="1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4909750" y="1493665"/>
            <a:ext cx="29910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Use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3" y="1903874"/>
            <a:ext cx="3738743" cy="4247317"/>
          </a:xfrm>
          <a:prstGeom prst="rect">
            <a:avLst/>
          </a:prstGeom>
          <a:ln>
            <a:solidFill>
              <a:srgbClr val="C54D0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b="1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”Sorry";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485114"/>
            <a:ext cx="2164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ConfigMap: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Standard way to configure a cloud-ready app.</a:t>
            </a:r>
          </a:p>
          <a:p>
            <a:endParaRPr lang="en-DK" dirty="0"/>
          </a:p>
          <a:p>
            <a:r>
              <a:rPr lang="en-DK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Define directly on Deployment with </a:t>
            </a:r>
            <a:r>
              <a:rPr lang="en-DK" b="1" dirty="0"/>
              <a:t>env: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Import from volume with </a:t>
            </a:r>
            <a:r>
              <a:rPr lang="en-DK" b="1" dirty="0"/>
              <a:t>envFrom: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400" dirty="0"/>
              <a:t>Secret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FD67E-9116-337E-4439-D1B2B9A0425A}"/>
              </a:ext>
            </a:extLst>
          </p:cNvPr>
          <p:cNvSpPr txBox="1"/>
          <p:nvPr/>
        </p:nvSpPr>
        <p:spPr>
          <a:xfrm>
            <a:off x="6731137" y="777893"/>
            <a:ext cx="5081922" cy="507831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containers: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my-app:</a:t>
            </a:r>
          </a:p>
          <a:p>
            <a:r>
              <a:rPr lang="en-GB" b="1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Manual</a:t>
            </a:r>
            <a:b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env: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"Workshop”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DB_HOSTNAME</a:t>
            </a:r>
          </a:p>
          <a:p>
            <a:r>
              <a:rPr lang="en-GB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value: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postgres.kb.dk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”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From </a:t>
            </a:r>
            <a:r>
              <a:rPr lang="en-GB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or 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envFrom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</a:t>
            </a:r>
            <a:r>
              <a:rPr lang="en-GB" dirty="0" err="1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secretRef</a:t>
            </a: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name: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my-app-env-secrets</a:t>
            </a:r>
          </a:p>
          <a:p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key: </a:t>
            </a:r>
            <a:r>
              <a:rPr lang="en-GB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DB_PASSWORD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6EF8-E01F-8274-8796-6AB8A7B4D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0727C89-C450-2D47-2B8E-BCF3ECBEEA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9DBF7BFE-4372-6038-BB70-6A63D55934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159755" cy="2884543"/>
          </a:xfrm>
        </p:spPr>
        <p:txBody>
          <a:bodyPr>
            <a:normAutofit/>
          </a:bodyPr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 err="1"/>
              <a:t>Config</a:t>
            </a:r>
            <a:r>
              <a:rPr lang="da-DK" dirty="0"/>
              <a:t> &amp; Environment</a:t>
            </a:r>
          </a:p>
          <a:p>
            <a:endParaRPr lang="da-DK" sz="2400" dirty="0"/>
          </a:p>
          <a:p>
            <a:r>
              <a:rPr lang="en-DK" sz="2400" dirty="0"/>
              <a:t>Følg instrukser i </a:t>
            </a:r>
            <a:r>
              <a:rPr lang="en-DK" sz="2400" b="1" dirty="0"/>
              <a:t>2-config-and-env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0833533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dirty="0"/>
              <a:t>Typer af storage</a:t>
            </a:r>
          </a:p>
          <a:p>
            <a:pPr marL="1028700" lvl="1" indent="-342900"/>
            <a:r>
              <a:rPr lang="en-DK" dirty="0"/>
              <a:t>E.g. Local-path, NFS, SMB, Longhorn, S3.</a:t>
            </a:r>
          </a:p>
          <a:p>
            <a:pPr marL="1028700" lvl="1" indent="-342900"/>
            <a:r>
              <a:rPr lang="en-DK" dirty="0"/>
              <a:t>Each class has a storage-controller that handles PVC -&gt; PV binding (bestykning).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dirty="0"/>
              <a:t>Et ønske om en mængde storage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485900" lvl="2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485900" lvl="2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give me 10 GB storage of class NFS (distributed) supporting RWX (multi-node writable) mode.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dirty="0"/>
              <a:t>An actual "piece” of dedicated persistent storage on the cluster.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b="1" i="1" dirty="0"/>
              <a:t>bound</a:t>
            </a:r>
            <a:r>
              <a:rPr lang="en-DK" b="1" dirty="0"/>
              <a:t> </a:t>
            </a:r>
            <a:r>
              <a:rPr lang="en-DK" dirty="0"/>
              <a:t>by a PVC or </a:t>
            </a:r>
            <a:r>
              <a:rPr lang="en-DK" b="1" i="1" dirty="0"/>
              <a:t>released </a:t>
            </a:r>
            <a:r>
              <a:rPr lang="en-DK" i="1" dirty="0"/>
              <a:t>if no longer used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  <a:p>
            <a:pPr marL="1028700" lvl="1" indent="-342900"/>
            <a:endParaRPr lang="en-DK" dirty="0"/>
          </a:p>
          <a:p>
            <a:pPr marL="342900" indent="-342900"/>
            <a:r>
              <a:rPr lang="en-GB" dirty="0">
                <a:effectLst/>
                <a:latin typeface="inherit"/>
              </a:rPr>
              <a:t>Pod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PVC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Storage (Local, NFS, SMB)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56E82-82C3-A3E0-8D2F-DAC89FC54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2" t="13327" r="2239" b="4120"/>
          <a:stretch>
            <a:fillRect/>
          </a:stretch>
        </p:blipFill>
        <p:spPr>
          <a:xfrm>
            <a:off x="537004" y="247318"/>
            <a:ext cx="11117991" cy="636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0599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2F2-7996-0951-BA31-BA03DA2BD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8B74632-D966-089D-BF4B-01BF763B26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5F74642-EA7D-63CC-DE75-65B403D88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922011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r>
              <a:rPr lang="da-DK" b="1" dirty="0"/>
              <a:t> for</a:t>
            </a:r>
            <a:br>
              <a:rPr lang="da-DK" dirty="0"/>
            </a:br>
            <a:r>
              <a:rPr lang="da-DK" dirty="0"/>
              <a:t>Volume Mounts</a:t>
            </a:r>
          </a:p>
          <a:p>
            <a:endParaRPr lang="da-DK" sz="2400" dirty="0"/>
          </a:p>
          <a:p>
            <a:r>
              <a:rPr lang="en-DK" sz="2400" dirty="0">
                <a:solidFill>
                  <a:srgbClr val="C54D02"/>
                </a:solidFill>
              </a:rPr>
              <a:t>Show &amp; Copy </a:t>
            </a:r>
            <a:r>
              <a:rPr lang="en-DK" sz="2400" dirty="0"/>
              <a:t>af </a:t>
            </a:r>
            <a:r>
              <a:rPr lang="en-DK" sz="2400" b="1" dirty="0"/>
              <a:t>3-volumes-and-persistence</a:t>
            </a:r>
          </a:p>
        </p:txBody>
      </p:sp>
    </p:spTree>
    <p:extLst>
      <p:ext uri="{BB962C8B-B14F-4D97-AF65-F5344CB8AC3E}">
        <p14:creationId xmlns:p14="http://schemas.microsoft.com/office/powerpoint/2010/main" val="12157954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8.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Orchestration</a:t>
            </a:r>
            <a:br>
              <a:rPr lang="en-DK" dirty="0"/>
            </a:br>
            <a:r>
              <a:rPr lang="en-DK" sz="3200" dirty="0">
                <a:solidFill>
                  <a:srgbClr val="005DE0"/>
                </a:solidFill>
              </a:rPr>
              <a:t>Health &amp; Resources</a:t>
            </a:r>
            <a:endParaRPr lang="en-DK" dirty="0">
              <a:solidFill>
                <a:srgbClr val="005DE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D72A1-C579-C7DD-236B-2A359C2FD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466C-7FA2-743D-7D86-1E0B171A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9E5B-B9FD-CED2-3A2D-B971F81E41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5272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DK" dirty="0"/>
              <a:t>Kubernetes’ health probes kan svare på følgende spørgsmål om en container: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r>
              <a:rPr lang="en-DK" sz="1900" dirty="0"/>
              <a:t>Probe mechanisms (same for all three):</a:t>
            </a:r>
          </a:p>
          <a:p>
            <a:r>
              <a:rPr lang="en-DK" sz="1900" b="1" dirty="0"/>
              <a:t>httpGet</a:t>
            </a:r>
            <a:r>
              <a:rPr lang="en-DK" sz="1900" dirty="0"/>
              <a:t> (most common),</a:t>
            </a:r>
          </a:p>
          <a:p>
            <a:r>
              <a:rPr lang="en-DK" sz="1900" b="1" dirty="0"/>
              <a:t>exec</a:t>
            </a:r>
            <a:r>
              <a:rPr lang="en-DK" sz="1900" dirty="0"/>
              <a:t> (run a command, exit 0 = healthy)</a:t>
            </a:r>
          </a:p>
          <a:p>
            <a:r>
              <a:rPr lang="en-DK" sz="1900" b="1" dirty="0"/>
              <a:t>tcpSocket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5FF4B-BCC4-08AD-85A4-99AF6A1B0D40}"/>
              </a:ext>
            </a:extLst>
          </p:cNvPr>
          <p:cNvSpPr txBox="1"/>
          <p:nvPr/>
        </p:nvSpPr>
        <p:spPr>
          <a:xfrm>
            <a:off x="5412259" y="4318053"/>
            <a:ext cx="6425513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"Running" is not the same as "ready”</a:t>
            </a:r>
            <a:br>
              <a:rPr lang="en-GB" sz="2000" dirty="0"/>
            </a:br>
            <a:r>
              <a:rPr lang="en-GB" sz="2000" dirty="0"/>
              <a:t>A container can be up while the app inside is still booting, deadlocked, or cut off from its database. Probes let Kubernetes tell the difference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6B89F9-47BE-FE20-13AE-A0CD10FBA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771567"/>
              </p:ext>
            </p:extLst>
          </p:nvPr>
        </p:nvGraphicFramePr>
        <p:xfrm>
          <a:off x="838132" y="2297680"/>
          <a:ext cx="10838757" cy="1554480"/>
        </p:xfrm>
        <a:graphic>
          <a:graphicData uri="http://schemas.openxmlformats.org/drawingml/2006/table">
            <a:tbl>
              <a:tblPr/>
              <a:tblGrid>
                <a:gridCol w="2261684">
                  <a:extLst>
                    <a:ext uri="{9D8B030D-6E8A-4147-A177-3AD203B41FA5}">
                      <a16:colId xmlns:a16="http://schemas.microsoft.com/office/drawing/2014/main" val="2666288890"/>
                    </a:ext>
                  </a:extLst>
                </a:gridCol>
                <a:gridCol w="3236976">
                  <a:extLst>
                    <a:ext uri="{9D8B030D-6E8A-4147-A177-3AD203B41FA5}">
                      <a16:colId xmlns:a16="http://schemas.microsoft.com/office/drawing/2014/main" val="1317145243"/>
                    </a:ext>
                  </a:extLst>
                </a:gridCol>
                <a:gridCol w="5340097">
                  <a:extLst>
                    <a:ext uri="{9D8B030D-6E8A-4147-A177-3AD203B41FA5}">
                      <a16:colId xmlns:a16="http://schemas.microsoft.com/office/drawing/2014/main" val="38169464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On failure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012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livenessProbe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Is the process alive?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>
                          <a:effectLst/>
                        </a:rPr>
                        <a:t>Restart</a:t>
                      </a:r>
                      <a:r>
                        <a:rPr lang="en-DK">
                          <a:effectLst/>
                        </a:rPr>
                        <a:t> the container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62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readinessProbe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Can it serve traffic </a:t>
                      </a:r>
                      <a:r>
                        <a:rPr lang="en-DK" i="1" dirty="0">
                          <a:effectLst/>
                        </a:rPr>
                        <a:t>right now</a:t>
                      </a:r>
                      <a:r>
                        <a:rPr lang="en-DK" dirty="0">
                          <a:effectLst/>
                        </a:rPr>
                        <a:t>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Remove</a:t>
                      </a:r>
                      <a:r>
                        <a:rPr lang="en-DK" dirty="0">
                          <a:effectLst/>
                        </a:rPr>
                        <a:t> Pod from the Service's endpoints (no restart)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607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b="1" dirty="0">
                          <a:effectLst/>
                        </a:rPr>
                        <a:t>startupProbe</a:t>
                      </a:r>
                      <a:endParaRPr lang="en-DK" dirty="0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Has the app finished booting?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Hold off other probes until OK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60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197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67641-7707-1544-5A01-090E8A51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Health Probes for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089C4-2822-00FD-0EF6-F0CDF15297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It’s best-practice for API-based containers to have health-probe endpoints:</a:t>
            </a:r>
          </a:p>
          <a:p>
            <a:endParaRPr lang="en-DK" dirty="0"/>
          </a:p>
          <a:p>
            <a:endParaRPr lang="en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F3D08C-9674-9AB3-1DCD-BA2F07EDD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05399"/>
              </p:ext>
            </p:extLst>
          </p:nvPr>
        </p:nvGraphicFramePr>
        <p:xfrm>
          <a:off x="1139884" y="2202212"/>
          <a:ext cx="10015796" cy="1440180"/>
        </p:xfrm>
        <a:graphic>
          <a:graphicData uri="http://schemas.openxmlformats.org/drawingml/2006/table">
            <a:tbl>
              <a:tblPr/>
              <a:tblGrid>
                <a:gridCol w="2255618">
                  <a:extLst>
                    <a:ext uri="{9D8B030D-6E8A-4147-A177-3AD203B41FA5}">
                      <a16:colId xmlns:a16="http://schemas.microsoft.com/office/drawing/2014/main" val="2220533658"/>
                    </a:ext>
                  </a:extLst>
                </a:gridCol>
                <a:gridCol w="1926306">
                  <a:extLst>
                    <a:ext uri="{9D8B030D-6E8A-4147-A177-3AD203B41FA5}">
                      <a16:colId xmlns:a16="http://schemas.microsoft.com/office/drawing/2014/main" val="1720144918"/>
                    </a:ext>
                  </a:extLst>
                </a:gridCol>
                <a:gridCol w="5833872">
                  <a:extLst>
                    <a:ext uri="{9D8B030D-6E8A-4147-A177-3AD203B41FA5}">
                      <a16:colId xmlns:a16="http://schemas.microsoft.com/office/drawing/2014/main" val="9575016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Endpoint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>
                          <a:effectLst/>
                        </a:rPr>
                        <a:t>Probe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DK" b="1" dirty="0">
                          <a:effectLst/>
                        </a:rPr>
                        <a:t>Should check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314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/healthz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liveness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effectLst/>
                        </a:rPr>
                        <a:t>P</a:t>
                      </a:r>
                      <a:r>
                        <a:rPr lang="en-DK" dirty="0">
                          <a:effectLst/>
                        </a:rPr>
                        <a:t>rocess is alive and API service is running.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507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  <a:latin typeface="ui-monospace"/>
                        </a:rPr>
                        <a:t>/readyz</a:t>
                      </a:r>
                      <a:endParaRPr lang="en-DK"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>
                          <a:effectLst/>
                        </a:rPr>
                        <a:t>readiness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dirty="0">
                          <a:effectLst/>
                        </a:rPr>
                        <a:t>Operational dependencies are up &amp; we’re ready for traffic.</a:t>
                      </a:r>
                      <a:br>
                        <a:rPr lang="en-DK" dirty="0">
                          <a:effectLst/>
                        </a:rPr>
                      </a:br>
                      <a:r>
                        <a:rPr lang="en-DK" dirty="0">
                          <a:effectLst/>
                        </a:rPr>
                        <a:t>e.g. DB connection is up and migrations applied.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93601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29655EE-BB6D-53EA-5E40-04A2317B3336}"/>
              </a:ext>
            </a:extLst>
          </p:cNvPr>
          <p:cNvSpPr txBox="1"/>
          <p:nvPr/>
        </p:nvSpPr>
        <p:spPr>
          <a:xfrm>
            <a:off x="5803358" y="4528254"/>
            <a:ext cx="5550408" cy="146423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TRAP: Liveness should NOT check dependencies</a:t>
            </a:r>
            <a:r>
              <a:rPr lang="en-GB" sz="2000" dirty="0"/>
              <a:t> If liveness depends on the DB and the DB is flaky, every replica would fail liveness and restart — a self-inflicted outage.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1339C-F6E9-E19F-0D3E-8E7FA38DA83B}"/>
              </a:ext>
            </a:extLst>
          </p:cNvPr>
          <p:cNvSpPr txBox="1"/>
          <p:nvPr/>
        </p:nvSpPr>
        <p:spPr>
          <a:xfrm>
            <a:off x="987552" y="3803904"/>
            <a:ext cx="67893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readinessProbe: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httpGet: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path: /readyz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port: 8080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initialDelaySeconds: 5</a:t>
            </a: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periodSeconds: 5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203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  <p:bldP spid="8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1EC3-E2F2-1914-7C51-45BAF37B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Orchestration – Resource limits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9A173-EDA6-B17E-A116-AFB0DDA331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K" dirty="0"/>
              <a:t>Kubernetes distributes and monitors Pods based on resource requests &amp; limits.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Request</a:t>
            </a:r>
            <a:r>
              <a:rPr lang="en-DK" dirty="0"/>
              <a:t>: Minimum ressourcer Kubernetes lover din Pod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Garanterede ressourcer en Pod har til rådighed.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Afgør hvilken “node” din Pod startes på.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ingen node har nødvendige ressource </a:t>
            </a:r>
            <a:r>
              <a:rPr lang="en-DK" dirty="0">
                <a:sym typeface="Wingdings" pitchFamily="2" charset="2"/>
              </a:rPr>
              <a:t> Ingen Pod</a:t>
            </a:r>
            <a:br>
              <a:rPr lang="en-DK" dirty="0">
                <a:sym typeface="Wingdings" pitchFamily="2" charset="2"/>
              </a:rPr>
            </a:br>
            <a:endParaRPr lang="en-DK" dirty="0">
              <a:sym typeface="Wingdings" pitchFamily="2" charset="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en-DK" b="1" dirty="0">
                <a:sym typeface="Wingdings" pitchFamily="2" charset="2"/>
              </a:rPr>
              <a:t>Limits:</a:t>
            </a:r>
            <a:r>
              <a:rPr lang="en-DK" dirty="0">
                <a:sym typeface="Wingdings" pitchFamily="2" charset="2"/>
              </a:rPr>
              <a:t> Regulering af din Pods ressourcer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ym typeface="Wingdings" pitchFamily="2" charset="2"/>
              </a:rPr>
              <a:t>Loft for ressourcer din Container </a:t>
            </a:r>
            <a:r>
              <a:rPr lang="en-DK" u="sng" dirty="0">
                <a:sym typeface="Wingdings" pitchFamily="2" charset="2"/>
              </a:rPr>
              <a:t>ikke må eller kan overskride</a:t>
            </a:r>
            <a:r>
              <a:rPr lang="en-DK" dirty="0">
                <a:sym typeface="Wingdings" pitchFamily="2" charset="2"/>
              </a:rPr>
              <a:t>.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Beskyttelse imod “noisy neighbor” problemer.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Consequence: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CPU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Throttled execution.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Reach RAM limit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</a:t>
            </a:r>
            <a:r>
              <a:rPr lang="en-DK" b="1" dirty="0"/>
              <a:t>OOM killed </a:t>
            </a:r>
            <a:r>
              <a:rPr lang="en-DK" dirty="0"/>
              <a:t>if exceed.</a:t>
            </a:r>
          </a:p>
        </p:txBody>
      </p:sp>
    </p:spTree>
    <p:extLst>
      <p:ext uri="{BB962C8B-B14F-4D97-AF65-F5344CB8AC3E}">
        <p14:creationId xmlns:p14="http://schemas.microsoft.com/office/powerpoint/2010/main" val="1710603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54EC9F4-CCBC-05D3-EE68-D1BAEFDED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6" t="8151" r="13557" b="2683"/>
          <a:stretch>
            <a:fillRect/>
          </a:stretch>
        </p:blipFill>
        <p:spPr>
          <a:xfrm>
            <a:off x="2180967" y="242608"/>
            <a:ext cx="7830066" cy="637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54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E4646-62C6-7358-7868-DEDF9B4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757134-F624-0AA3-FDC5-876BA7D335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6A57-BCD4-038D-6AB4-A0EFCA9C503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Complex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Deployments,</a:t>
            </a:r>
            <a:br>
              <a:rPr lang="en-DK" sz="2400" dirty="0"/>
            </a:br>
            <a:r>
              <a:rPr lang="en-DK" sz="2400" dirty="0"/>
              <a:t>som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9853004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614862"/>
          </a:xfrm>
        </p:spPr>
        <p:txBody>
          <a:bodyPr>
            <a:normAutofit/>
          </a:bodyPr>
          <a:lstStyle/>
          <a:p>
            <a:r>
              <a:rPr lang="en-DK" dirty="0"/>
              <a:t>Et system består som regel af flere separate komponenter</a:t>
            </a:r>
          </a:p>
          <a:p>
            <a:pPr lvl="1"/>
            <a:r>
              <a:rPr lang="en-DK" dirty="0"/>
              <a:t>Backend og Database skal kunne skalere forskelligt </a:t>
            </a:r>
            <a:r>
              <a:rPr lang="en-DK" dirty="0">
                <a:sym typeface="Wingdings" pitchFamily="2" charset="2"/>
              </a:rPr>
              <a:t> Derfor hver sin Deployment</a:t>
            </a:r>
          </a:p>
          <a:p>
            <a:pPr lvl="1"/>
            <a:endParaRPr lang="en-DK" dirty="0"/>
          </a:p>
          <a:p>
            <a:r>
              <a:rPr lang="en-DK" dirty="0"/>
              <a:t>Hvordan får man flere Pods/komponenter til at snakke sammen?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Services (intern DNS)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Konfiguration af apps (backing services)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DB_HOSTNAME=database.svc.cluster.local</a:t>
            </a:r>
          </a:p>
          <a:p>
            <a:pPr marL="914400" lvl="2" indent="0">
              <a:buNone/>
            </a:pPr>
            <a:endParaRPr lang="en-DK" dirty="0"/>
          </a:p>
          <a:p>
            <a:r>
              <a:rPr lang="en-DK" dirty="0"/>
              <a:t>Systemarkitektur - Hvorfor micro-services fungerer godt i Kubernetes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Show &amp; Copy: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med og kopier, når jeg løser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-spring-boot</a:t>
            </a: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fagsystemer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u="sng" dirty="0"/>
              <a:t>Packages all manifests for a complex system into a .zip file</a:t>
            </a:r>
          </a:p>
          <a:p>
            <a:pPr lvl="1"/>
            <a:r>
              <a:rPr lang="en-DK" dirty="0"/>
              <a:t>Exposes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br>
              <a:rPr lang="en-DK" dirty="0">
                <a:solidFill>
                  <a:srgbClr val="005DE0"/>
                </a:solidFill>
              </a:rPr>
            </a:br>
            <a:r>
              <a:rPr lang="en-DK" dirty="0">
                <a:solidFill>
                  <a:srgbClr val="005DE0"/>
                </a:solidFill>
              </a:rPr>
              <a:t>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45248</TotalTime>
  <Words>3906</Words>
  <Application>Microsoft Macintosh PowerPoint</Application>
  <PresentationFormat>Widescreen</PresentationFormat>
  <Paragraphs>637</Paragraphs>
  <Slides>68</Slides>
  <Notes>25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68</vt:i4>
      </vt:variant>
    </vt:vector>
  </HeadingPairs>
  <TitlesOfParts>
    <vt:vector size="80" baseType="lpstr">
      <vt:lpstr>Arial</vt:lpstr>
      <vt:lpstr>Calibri</vt:lpstr>
      <vt:lpstr>Calibri Light</vt:lpstr>
      <vt:lpstr>Consolas</vt:lpstr>
      <vt:lpstr>Courier New</vt:lpstr>
      <vt:lpstr>inherit</vt:lpstr>
      <vt:lpstr>SFMono-Regular</vt:lpstr>
      <vt:lpstr>Times New Roman</vt:lpstr>
      <vt:lpstr>ui-monospace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Kubernetes Cluster</vt:lpstr>
      <vt:lpstr>Control Plane (“The Brain”) </vt:lpstr>
      <vt:lpstr>Worker Nodes (“The Muscle”)</vt:lpstr>
      <vt:lpstr>Kubernetes API</vt:lpstr>
      <vt:lpstr>Hvordan bruger man så Kubernetes?</vt:lpstr>
      <vt:lpstr>PowerPoint Presentation</vt:lpstr>
      <vt:lpstr>2. Demo – Smagsprøve på k8s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PowerPoint Presentation</vt:lpstr>
      <vt:lpstr>Setup a local Kubernetes cluster</vt:lpstr>
      <vt:lpstr>Workshop Repo</vt:lpstr>
      <vt:lpstr>Exercise recap</vt:lpstr>
      <vt:lpstr>PowerPoint Presentation</vt:lpstr>
      <vt:lpstr>Services</vt:lpstr>
      <vt:lpstr>Service - Manifest</vt:lpstr>
      <vt:lpstr>Services &amp; Ingress</vt:lpstr>
      <vt:lpstr>Expose a service</vt:lpstr>
      <vt:lpstr>PowerPoint Presentation</vt:lpstr>
      <vt:lpstr>PowerPoint Presentation</vt:lpstr>
      <vt:lpstr>Manifest vs. Controller</vt:lpstr>
      <vt:lpstr>Core Kubernetes loop</vt:lpstr>
      <vt:lpstr>PowerPoint Presentation</vt:lpstr>
      <vt:lpstr>Kubernetes Tools</vt:lpstr>
      <vt:lpstr>Kubectl commands</vt:lpstr>
      <vt:lpstr>Kubectl commands</vt:lpstr>
      <vt:lpstr>Kubectl commands</vt:lpstr>
      <vt:lpstr>Exec &amp; Logs</vt:lpstr>
      <vt:lpstr>Kubectl apply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Environment variables</vt:lpstr>
      <vt:lpstr>PowerPoint Presentation</vt:lpstr>
      <vt:lpstr>Volume Mounts - Persistence</vt:lpstr>
      <vt:lpstr>PowerPoint Presentation</vt:lpstr>
      <vt:lpstr>PowerPoint Presentation</vt:lpstr>
      <vt:lpstr>PowerPoint Presentation</vt:lpstr>
      <vt:lpstr>Orchestration – Health Probes</vt:lpstr>
      <vt:lpstr>Orchestration – Health Probes for API</vt:lpstr>
      <vt:lpstr>Orchestration – Resource limits</vt:lpstr>
      <vt:lpstr>PowerPoint Presentation</vt:lpstr>
      <vt:lpstr>PowerPoint Presentation</vt:lpstr>
      <vt:lpstr>Komplekse systemer</vt:lpstr>
      <vt:lpstr>Show &amp; Copy: Composite Systems</vt:lpstr>
      <vt:lpstr>Komplekse systemer – Helm</vt:lpstr>
      <vt:lpstr>PowerPoint Presentation</vt:lpstr>
      <vt:lpstr>Debugging Pods</vt:lpstr>
      <vt:lpstr>StatefulSet &amp; DaemonSet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325</cp:revision>
  <dcterms:created xsi:type="dcterms:W3CDTF">2021-06-21T11:45:03Z</dcterms:created>
  <dcterms:modified xsi:type="dcterms:W3CDTF">2026-06-15T21:18:37Z</dcterms:modified>
</cp:coreProperties>
</file>