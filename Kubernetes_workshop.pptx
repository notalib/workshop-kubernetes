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4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361" r:id="rId14"/>
    <p:sldId id="455" r:id="rId15"/>
    <p:sldId id="456" r:id="rId16"/>
    <p:sldId id="355" r:id="rId17"/>
    <p:sldId id="454" r:id="rId18"/>
    <p:sldId id="348" r:id="rId19"/>
    <p:sldId id="426" r:id="rId20"/>
    <p:sldId id="486" r:id="rId21"/>
    <p:sldId id="459" r:id="rId22"/>
    <p:sldId id="474" r:id="rId23"/>
    <p:sldId id="349" r:id="rId24"/>
    <p:sldId id="443" r:id="rId25"/>
    <p:sldId id="444" r:id="rId26"/>
    <p:sldId id="357" r:id="rId27"/>
    <p:sldId id="445" r:id="rId28"/>
    <p:sldId id="466" r:id="rId29"/>
    <p:sldId id="363" r:id="rId30"/>
    <p:sldId id="460" r:id="rId31"/>
    <p:sldId id="473" r:id="rId32"/>
    <p:sldId id="362" r:id="rId33"/>
    <p:sldId id="446" r:id="rId34"/>
    <p:sldId id="447" r:id="rId35"/>
    <p:sldId id="352" r:id="rId36"/>
    <p:sldId id="375" r:id="rId37"/>
    <p:sldId id="478" r:id="rId38"/>
    <p:sldId id="485" r:id="rId39"/>
    <p:sldId id="462" r:id="rId40"/>
    <p:sldId id="393" r:id="rId41"/>
    <p:sldId id="457" r:id="rId42"/>
    <p:sldId id="463" r:id="rId43"/>
    <p:sldId id="376" r:id="rId44"/>
    <p:sldId id="358" r:id="rId45"/>
    <p:sldId id="374" r:id="rId46"/>
    <p:sldId id="370" r:id="rId47"/>
    <p:sldId id="384" r:id="rId48"/>
    <p:sldId id="364" r:id="rId49"/>
    <p:sldId id="464" r:id="rId50"/>
    <p:sldId id="465" r:id="rId51"/>
    <p:sldId id="415" r:id="rId52"/>
    <p:sldId id="367" r:id="rId53"/>
    <p:sldId id="448" r:id="rId54"/>
    <p:sldId id="368" r:id="rId55"/>
    <p:sldId id="477" r:id="rId56"/>
    <p:sldId id="369" r:id="rId57"/>
    <p:sldId id="487" r:id="rId58"/>
    <p:sldId id="484" r:id="rId59"/>
    <p:sldId id="479" r:id="rId60"/>
    <p:sldId id="468" r:id="rId61"/>
    <p:sldId id="483" r:id="rId62"/>
    <p:sldId id="476" r:id="rId63"/>
    <p:sldId id="480" r:id="rId64"/>
    <p:sldId id="481" r:id="rId65"/>
    <p:sldId id="482" r:id="rId66"/>
    <p:sldId id="380" r:id="rId67"/>
    <p:sldId id="469" r:id="rId68"/>
    <p:sldId id="458" r:id="rId69"/>
    <p:sldId id="472" r:id="rId70"/>
    <p:sldId id="350" r:id="rId71"/>
    <p:sldId id="450" r:id="rId72"/>
    <p:sldId id="372" r:id="rId7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C54D02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33" autoAdjust="0"/>
    <p:restoredTop sz="83145"/>
  </p:normalViewPr>
  <p:slideViewPr>
    <p:cSldViewPr snapToGrid="0">
      <p:cViewPr varScale="1">
        <p:scale>
          <a:sx n="128" d="100"/>
          <a:sy n="128" d="100"/>
        </p:scale>
        <p:origin x="13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23/06/2026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kubectl create deployment nginx --image=nginx:latest</a:t>
            </a:r>
          </a:p>
          <a:p>
            <a:endParaRPr lang="en-DK" dirty="0"/>
          </a:p>
          <a:p>
            <a:r>
              <a:rPr lang="en-DK" dirty="0"/>
              <a:t>kubectl get deploy/nginx -o yaml my-deployment.yml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delete nginx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apply my-deployment.yml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9056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Undlad app labels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771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71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23.06.2026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overview/components/#kube-apiserv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kubernet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9308806" cy="46490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Deployments &amp; Pods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ubectl, k9s og Rancher UI</a:t>
            </a:r>
            <a:endParaRPr lang="en-DK" sz="3600" dirty="0">
              <a:solidFill>
                <a:srgbClr val="C54D02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Orchestration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6283186" y="3121715"/>
            <a:ext cx="4730640" cy="247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662052" y="463315"/>
            <a:ext cx="8867895" cy="5261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F67729-13D4-50C5-1BDB-C0A6DC54EBED}"/>
              </a:ext>
            </a:extLst>
          </p:cNvPr>
          <p:cNvSpPr txBox="1"/>
          <p:nvPr/>
        </p:nvSpPr>
        <p:spPr>
          <a:xfrm>
            <a:off x="3180838" y="5925727"/>
            <a:ext cx="455498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Aka. </a:t>
            </a:r>
            <a:r>
              <a:rPr lang="en-GB" sz="2000" b="1" dirty="0"/>
              <a:t>Infrastructure as Code</a:t>
            </a:r>
            <a:r>
              <a:rPr lang="en-GB" sz="2000" dirty="0"/>
              <a:t> (</a:t>
            </a:r>
            <a:r>
              <a:rPr lang="en-GB" sz="2000" dirty="0" err="1"/>
              <a:t>IaC</a:t>
            </a:r>
            <a:r>
              <a:rPr lang="en-GB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Platformen forsøger at gøre den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my-network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594695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 control plane is the </a:t>
            </a:r>
            <a:r>
              <a:rPr lang="en-GB" dirty="0">
                <a:hlinkClick r:id="rId2"/>
              </a:rPr>
              <a:t>API server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is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 from our browser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5ECD7-F04F-2B34-9AEB-589F9D56A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3B0B8-D137-6EF2-DBAC-00DEF395B0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24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10981691" cy="4442516"/>
          </a:xfrm>
        </p:spPr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 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-f deploy.yml</a:t>
            </a:r>
            <a:endParaRPr lang="en-DK" sz="22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46991" y="2363384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A8FB90F8-23B0-55FD-D3DF-C32CBB93A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696" y="1986448"/>
            <a:ext cx="3304892" cy="27615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80218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A </a:t>
            </a:r>
            <a:r>
              <a:rPr lang="en-DK" b="1" dirty="0"/>
              <a:t>Pod</a:t>
            </a:r>
            <a:r>
              <a:rPr lang="en-DK" dirty="0"/>
              <a:t> should exist</a:t>
            </a:r>
            <a:br>
              <a:rPr lang="en-DK" dirty="0"/>
            </a:br>
            <a:endParaRPr lang="en-DK" dirty="0"/>
          </a:p>
          <a:p>
            <a:r>
              <a:rPr lang="en-DK" dirty="0"/>
              <a:t>It should be named </a:t>
            </a:r>
            <a:r>
              <a:rPr lang="en-DK" b="1" dirty="0"/>
              <a:t>nginx</a:t>
            </a:r>
            <a:br>
              <a:rPr lang="en-DK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It should have a container </a:t>
            </a:r>
            <a:r>
              <a:rPr lang="en-DK" b="1" dirty="0"/>
              <a:t>also named nginx</a:t>
            </a:r>
            <a:br>
              <a:rPr lang="en-DK" b="1" dirty="0"/>
            </a:br>
            <a:endParaRPr lang="en-DK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This container should use the</a:t>
            </a:r>
            <a:br>
              <a:rPr lang="en-DK" dirty="0"/>
            </a:br>
            <a:r>
              <a:rPr lang="en-DK" dirty="0"/>
              <a:t>Container image </a:t>
            </a:r>
            <a:r>
              <a:rPr lang="en-DK" b="1" dirty="0"/>
              <a:t>nginx </a:t>
            </a:r>
            <a:r>
              <a:rPr lang="en-DK" dirty="0"/>
              <a:t>tag</a:t>
            </a:r>
            <a:r>
              <a:rPr lang="en-DK" b="1" dirty="0"/>
              <a:t> “1.14.2”</a:t>
            </a:r>
            <a:br>
              <a:rPr lang="en-DK" b="1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3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DB08FAB7-ED56-8596-CBB9-9F0EA545151C}"/>
              </a:ext>
            </a:extLst>
          </p:cNvPr>
          <p:cNvCxnSpPr>
            <a:cxnSpLocks/>
          </p:cNvCxnSpPr>
          <p:nvPr/>
        </p:nvCxnSpPr>
        <p:spPr>
          <a:xfrm flipV="1">
            <a:off x="3496962" y="2533135"/>
            <a:ext cx="4732638" cy="46955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52FD938-CFB8-88CC-A153-72B8A552AC6E}"/>
              </a:ext>
            </a:extLst>
          </p:cNvPr>
          <p:cNvCxnSpPr>
            <a:cxnSpLocks/>
          </p:cNvCxnSpPr>
          <p:nvPr/>
        </p:nvCxnSpPr>
        <p:spPr>
          <a:xfrm flipV="1">
            <a:off x="4374292" y="3225114"/>
            <a:ext cx="4040659" cy="481913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6F59067E-885E-4266-ED6E-D05491477E25}"/>
              </a:ext>
            </a:extLst>
          </p:cNvPr>
          <p:cNvCxnSpPr>
            <a:cxnSpLocks/>
          </p:cNvCxnSpPr>
          <p:nvPr/>
        </p:nvCxnSpPr>
        <p:spPr>
          <a:xfrm flipV="1">
            <a:off x="6709719" y="4250724"/>
            <a:ext cx="1717589" cy="444844"/>
          </a:xfrm>
          <a:prstGeom prst="bentConnector3">
            <a:avLst>
              <a:gd name="adj1" fmla="val 50000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6747A4A4-668B-D68F-58A8-EE632ACF2A37}"/>
              </a:ext>
            </a:extLst>
          </p:cNvPr>
          <p:cNvCxnSpPr>
            <a:cxnSpLocks/>
          </p:cNvCxnSpPr>
          <p:nvPr/>
        </p:nvCxnSpPr>
        <p:spPr>
          <a:xfrm flipV="1">
            <a:off x="5313405" y="4584700"/>
            <a:ext cx="3422822" cy="988197"/>
          </a:xfrm>
          <a:prstGeom prst="bentConnector3">
            <a:avLst>
              <a:gd name="adj1" fmla="val 72383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The </a:t>
            </a:r>
            <a:r>
              <a:rPr lang="en-DK" b="1" dirty="0"/>
              <a:t>Deployment </a:t>
            </a:r>
            <a:r>
              <a:rPr lang="en-DK" dirty="0"/>
              <a:t>is called "nginx-deployment"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1"/>
            <a:r>
              <a:rPr lang="en-GB" dirty="0"/>
              <a:t>It identifies its “owned” Pods</a:t>
            </a:r>
            <a:br>
              <a:rPr lang="en-GB" dirty="0"/>
            </a:br>
            <a:r>
              <a:rPr lang="en-GB" dirty="0"/>
              <a:t>by matching the label </a:t>
            </a:r>
            <a:r>
              <a:rPr lang="en-GB" b="1" dirty="0"/>
              <a:t>app = nginx</a:t>
            </a:r>
            <a:br>
              <a:rPr lang="en-GB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All 3 Pods should be created from the same template</a:t>
            </a:r>
          </a:p>
          <a:p>
            <a:pPr lvl="1"/>
            <a:r>
              <a:rPr lang="en-DK" dirty="0"/>
              <a:t>Each Pod has the label </a:t>
            </a:r>
            <a:r>
              <a:rPr lang="en-DK" b="1" dirty="0"/>
              <a:t>app = nginx</a:t>
            </a:r>
            <a:endParaRPr lang="en-DK" dirty="0"/>
          </a:p>
          <a:p>
            <a:pPr lvl="1"/>
            <a:r>
              <a:rPr lang="en-DK" dirty="0"/>
              <a:t>Template says each Pod has 1 container</a:t>
            </a:r>
            <a:br>
              <a:rPr lang="en-DK" dirty="0"/>
            </a:br>
            <a:r>
              <a:rPr lang="en-DK" dirty="0"/>
              <a:t>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267632" y="947293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28F07ED-B4E2-9FA4-C9AC-3D615C3EDF1E}"/>
              </a:ext>
            </a:extLst>
          </p:cNvPr>
          <p:cNvCxnSpPr>
            <a:cxnSpLocks/>
          </p:cNvCxnSpPr>
          <p:nvPr/>
        </p:nvCxnSpPr>
        <p:spPr>
          <a:xfrm>
            <a:off x="5105400" y="2714625"/>
            <a:ext cx="3429000" cy="375790"/>
          </a:xfrm>
          <a:prstGeom prst="bentConnector3">
            <a:avLst>
              <a:gd name="adj1" fmla="val 76944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0D21C8AA-4490-622C-E399-2CB36D62B5AE}"/>
              </a:ext>
            </a:extLst>
          </p:cNvPr>
          <p:cNvCxnSpPr>
            <a:cxnSpLocks/>
          </p:cNvCxnSpPr>
          <p:nvPr/>
        </p:nvCxnSpPr>
        <p:spPr>
          <a:xfrm flipV="1">
            <a:off x="6948487" y="1981200"/>
            <a:ext cx="1585913" cy="37493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1F9F4C3-7685-7F3A-E335-14B164CA9F76}"/>
              </a:ext>
            </a:extLst>
          </p:cNvPr>
          <p:cNvCxnSpPr>
            <a:cxnSpLocks/>
          </p:cNvCxnSpPr>
          <p:nvPr/>
        </p:nvCxnSpPr>
        <p:spPr>
          <a:xfrm>
            <a:off x="5276850" y="4676775"/>
            <a:ext cx="3886200" cy="266700"/>
          </a:xfrm>
          <a:prstGeom prst="bentConnector3">
            <a:avLst>
              <a:gd name="adj1" fmla="val 686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515C8399-6A04-A797-8D8A-191C97138668}"/>
              </a:ext>
            </a:extLst>
          </p:cNvPr>
          <p:cNvCxnSpPr>
            <a:cxnSpLocks/>
          </p:cNvCxnSpPr>
          <p:nvPr/>
        </p:nvCxnSpPr>
        <p:spPr>
          <a:xfrm>
            <a:off x="4267200" y="5286375"/>
            <a:ext cx="4933950" cy="752475"/>
          </a:xfrm>
          <a:prstGeom prst="bentConnector3">
            <a:avLst>
              <a:gd name="adj1" fmla="val 770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D30CC61-9085-726A-2FB6-12177645E297}"/>
              </a:ext>
            </a:extLst>
          </p:cNvPr>
          <p:cNvCxnSpPr>
            <a:cxnSpLocks/>
          </p:cNvCxnSpPr>
          <p:nvPr/>
        </p:nvCxnSpPr>
        <p:spPr>
          <a:xfrm>
            <a:off x="5162550" y="3333750"/>
            <a:ext cx="3590925" cy="276225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/>
              <a:t>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repo: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clone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https://github.com/notalib/workshop-kubernetes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kommandoer (</a:t>
            </a:r>
            <a:r>
              <a:rPr lang="en-DK" u="sng" dirty="0"/>
              <a:t>imperative</a:t>
            </a:r>
            <a:r>
              <a:rPr lang="en-DK" dirty="0"/>
              <a:t>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</a:t>
            </a:r>
            <a:r>
              <a:rPr lang="en-DK" u="sng" dirty="0"/>
              <a:t>declarative</a:t>
            </a:r>
            <a:r>
              <a:rPr lang="en-DK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pPr lvl="1"/>
            <a:r>
              <a:rPr lang="en-GB" dirty="0" err="1">
                <a:solidFill>
                  <a:schemeClr val="tx1"/>
                </a:solidFill>
              </a:rPr>
              <a:t>Servicens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er: </a:t>
            </a:r>
            <a:r>
              <a:rPr lang="en-GB" b="1" dirty="0">
                <a:solidFill>
                  <a:schemeClr val="tx1"/>
                </a:solidFill>
              </a:rPr>
              <a:t>my-service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Labels der matcher med Pods, som den sender trafik til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Send trafik til Pods med </a:t>
            </a:r>
            <a:r>
              <a:rPr lang="en-DK" b="1" dirty="0">
                <a:solidFill>
                  <a:schemeClr val="tx1"/>
                </a:solidFill>
              </a:rPr>
              <a:t>name=MyApp</a:t>
            </a:r>
            <a:br>
              <a:rPr lang="en-DK" b="1" dirty="0">
                <a:solidFill>
                  <a:schemeClr val="tx1"/>
                </a:solidFill>
              </a:rPr>
            </a:br>
            <a:endParaRPr lang="en-DK" b="1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Send trafik som skal til </a:t>
            </a:r>
            <a:r>
              <a:rPr lang="en-DK" b="1" dirty="0">
                <a:solidFill>
                  <a:schemeClr val="tx1"/>
                </a:solidFill>
              </a:rPr>
              <a:t>my-service:80</a:t>
            </a:r>
            <a:br>
              <a:rPr lang="en-DK" dirty="0">
                <a:solidFill>
                  <a:schemeClr val="tx1"/>
                </a:solidFill>
              </a:rPr>
            </a:br>
            <a:r>
              <a:rPr lang="en-DK" dirty="0">
                <a:solidFill>
                  <a:schemeClr val="tx1"/>
                </a:solidFill>
              </a:rPr>
              <a:t>videre til matchende </a:t>
            </a:r>
            <a:r>
              <a:rPr lang="en-DK" b="1" dirty="0">
                <a:solidFill>
                  <a:schemeClr val="tx1"/>
                </a:solidFill>
                <a:sym typeface="Wingdings" pitchFamily="2" charset="2"/>
              </a:rPr>
              <a:t>Pod’s port 9376</a:t>
            </a:r>
            <a:endParaRPr lang="en-DK" b="1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509076" y="1506100"/>
            <a:ext cx="4470401" cy="379759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DDB2AC6-A606-5D19-9B16-49644F9638E4}"/>
              </a:ext>
            </a:extLst>
          </p:cNvPr>
          <p:cNvCxnSpPr>
            <a:cxnSpLocks/>
          </p:cNvCxnSpPr>
          <p:nvPr/>
        </p:nvCxnSpPr>
        <p:spPr>
          <a:xfrm flipV="1">
            <a:off x="5669280" y="3744097"/>
            <a:ext cx="2387325" cy="437759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3632C1E5-85FD-6884-0D87-F087C54D39E3}"/>
              </a:ext>
            </a:extLst>
          </p:cNvPr>
          <p:cNvCxnSpPr>
            <a:cxnSpLocks/>
          </p:cNvCxnSpPr>
          <p:nvPr/>
        </p:nvCxnSpPr>
        <p:spPr>
          <a:xfrm flipV="1">
            <a:off x="5669280" y="4436076"/>
            <a:ext cx="2387325" cy="1074708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8C78831C-67AE-3F10-AB21-35BA6E2F0448}"/>
              </a:ext>
            </a:extLst>
          </p:cNvPr>
          <p:cNvCxnSpPr>
            <a:cxnSpLocks/>
          </p:cNvCxnSpPr>
          <p:nvPr/>
        </p:nvCxnSpPr>
        <p:spPr>
          <a:xfrm>
            <a:off x="4730496" y="2584704"/>
            <a:ext cx="3078974" cy="146139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732" y="1027906"/>
            <a:ext cx="7036268" cy="464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E8B5-ED64-BCFE-0BC5-3C9338B7376B}"/>
              </a:ext>
            </a:extLst>
          </p:cNvPr>
          <p:cNvSpPr txBox="1"/>
          <p:nvPr/>
        </p:nvSpPr>
        <p:spPr>
          <a:xfrm>
            <a:off x="838064" y="5733095"/>
            <a:ext cx="3632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5DE0"/>
                </a:solidFill>
              </a:rPr>
              <a:t>Real-life eksempel fra DIT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linkClick r:id="rId2"/>
              </a:rPr>
              <a:t>kubernetes.io/docs/tutorials/services/connect-applications-service</a:t>
            </a:r>
            <a:endParaRPr lang="en-GB" dirty="0"/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Service manifest with name </a:t>
            </a:r>
            <a:r>
              <a:rPr lang="en-GB" b="1" dirty="0">
                <a:solidFill>
                  <a:srgbClr val="222222"/>
                </a:solidFill>
                <a:latin typeface="SFMono-Regular"/>
              </a:rPr>
              <a:t>test</a:t>
            </a:r>
            <a:endParaRPr lang="en-GB" dirty="0">
              <a:solidFill>
                <a:srgbClr val="222222"/>
              </a:solidFill>
              <a:latin typeface="SFMono-Regular"/>
            </a:endParaRP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[--class=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  <p:transition spd="slow">
    <p:wip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25C38-1F7C-04E9-D097-DEEC83E5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46FA0-B372-C002-FCCA-4F17CAD70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61B94-CB95-F9C2-7C1F-569E01BBAE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22093464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GB" dirty="0"/>
              <a:t>k</a:t>
            </a:r>
            <a:r>
              <a:rPr lang="en-DK" dirty="0"/>
              <a:t>ubectl, k9s</a:t>
            </a:r>
          </a:p>
          <a:p>
            <a:r>
              <a:rPr lang="da-DK" dirty="0"/>
              <a:t>og </a:t>
            </a:r>
            <a:r>
              <a:rPr lang="en-DK" dirty="0"/>
              <a:t>Rancher UI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sz="3400" b="1" dirty="0"/>
              <a:t>Terminal CLI</a:t>
            </a:r>
            <a:endParaRPr lang="en-GB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800" b="1" dirty="0"/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cs typeface="Consolas" panose="020B0609020204030204" pitchFamily="49" charset="0"/>
              </a:rPr>
              <a:t>Terminal UI, keyboard-styret interaktion med Kubernetes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 🤠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manifests are in my cluster?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all/deployment(s)/configmap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--help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deployment/my-app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/my-config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KUBE_EDITOR, or EDITOR to specify editor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cs typeface="Consolas" panose="020B0609020204030204" pitchFamily="49" charset="0"/>
              </a:rPr>
              <a:t>Target can also be </a:t>
            </a:r>
            <a:r>
              <a:rPr lang="en-GB" b="1" dirty="0">
                <a:cs typeface="Consolas" panose="020B0609020204030204" pitchFamily="49" charset="0"/>
              </a:rPr>
              <a:t>pod/my-pod </a:t>
            </a:r>
            <a:r>
              <a:rPr lang="en-GB" dirty="0">
                <a:cs typeface="Consolas" panose="020B0609020204030204" pitchFamily="49" charset="0"/>
              </a:rPr>
              <a:t>or </a:t>
            </a:r>
            <a:r>
              <a:rPr lang="en-GB" b="1" dirty="0"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i="1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i="1" dirty="0">
                <a:latin typeface="Calibri" panose="020F0502020204030204" pitchFamily="34" charset="0"/>
                <a:cs typeface="Calibri" panose="020F0502020204030204" pitchFamily="34" charset="0"/>
              </a:rPr>
              <a:t>stderr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command)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/>
              <a:t>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2196548" y="4582088"/>
            <a:ext cx="5538538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</a:t>
            </a:r>
            <a:r>
              <a:rPr lang="en-GB" sz="2000" b="1" dirty="0"/>
              <a:t>Rancher Desktop</a:t>
            </a:r>
            <a:r>
              <a:rPr lang="en-GB" sz="2000" dirty="0"/>
              <a:t>,</a:t>
            </a:r>
            <a:br>
              <a:rPr lang="en-GB" sz="2000" dirty="0"/>
            </a:br>
            <a:r>
              <a:rPr lang="en-GB" sz="2000" dirty="0"/>
              <a:t>you already have </a:t>
            </a:r>
            <a:r>
              <a:rPr lang="en-GB" sz="2000" b="1" dirty="0"/>
              <a:t>Rancher UI </a:t>
            </a:r>
            <a:r>
              <a:rPr lang="en-GB" sz="2000" dirty="0"/>
              <a:t>installed!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75FF6-A227-3A69-E6E0-09EA30B4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" t="14921" r="19202"/>
          <a:stretch>
            <a:fillRect/>
          </a:stretch>
        </p:blipFill>
        <p:spPr>
          <a:xfrm>
            <a:off x="8157127" y="4083262"/>
            <a:ext cx="3676650" cy="17808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Goal: Be portable and scalable! </a:t>
            </a:r>
            <a:r>
              <a:rPr lang="en-GB" dirty="0">
                <a:sym typeface="Wingdings" pitchFamily="2" charset="2"/>
              </a:rPr>
              <a:t> Be a ”Cloud-native” app.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 (</a:t>
            </a:r>
            <a:r>
              <a:rPr lang="en-GB" dirty="0" err="1"/>
              <a:t>udsnit</a:t>
            </a:r>
            <a:r>
              <a:rPr lang="en-GB" dirty="0"/>
              <a:t>):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Og </a:t>
            </a:r>
            <a:r>
              <a:rPr lang="en-GB" dirty="0" err="1"/>
              <a:t>flere</a:t>
            </a:r>
            <a:r>
              <a:rPr lang="en-GB" dirty="0"/>
              <a:t>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17522" y="2594920"/>
            <a:ext cx="2483632" cy="248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8817522" y="5167312"/>
            <a:ext cx="2712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Scan QR or open:</a:t>
            </a:r>
            <a:br>
              <a:rPr lang="en-GB" dirty="0"/>
            </a:br>
            <a:r>
              <a:rPr lang="en-GB" dirty="0">
                <a:hlinkClick r:id="rId3"/>
              </a:rPr>
              <a:t>12factor.net</a:t>
            </a: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E460E-975F-8004-6394-5583125C0D61}"/>
              </a:ext>
            </a:extLst>
          </p:cNvPr>
          <p:cNvSpPr txBox="1"/>
          <p:nvPr/>
        </p:nvSpPr>
        <p:spPr>
          <a:xfrm>
            <a:off x="666750" y="3609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Volume mount = directory or file injected into a container’s filesystem.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GB" sz="2200" dirty="0"/>
              <a:t>Data coming from outside the container, to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GB" sz="2200" u="sng" dirty="0"/>
              <a:t>share or externalize data</a:t>
            </a:r>
            <a:r>
              <a:rPr lang="en-GB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E.g. configuration files, credentials, shared files between containers in a Pod,</a:t>
            </a:r>
            <a:br>
              <a:rPr lang="en-GB" dirty="0"/>
            </a:br>
            <a:r>
              <a:rPr lang="en-GB" dirty="0"/>
              <a:t>or </a:t>
            </a:r>
            <a:r>
              <a:rPr lang="en-GB" u="sng" dirty="0"/>
              <a:t>data that must survive container restarts </a:t>
            </a:r>
            <a:r>
              <a:rPr lang="en-GB" dirty="0"/>
              <a:t>(persistence).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Can be: </a:t>
            </a:r>
            <a:r>
              <a:rPr lang="en-GB" dirty="0" err="1">
                <a:solidFill>
                  <a:srgbClr val="005DE0"/>
                </a:solidFill>
              </a:rPr>
              <a:t>ConfigMap</a:t>
            </a:r>
            <a:r>
              <a:rPr lang="en-GB" dirty="0"/>
              <a:t>, </a:t>
            </a:r>
            <a:r>
              <a:rPr lang="en-GB" dirty="0">
                <a:solidFill>
                  <a:srgbClr val="C54D02"/>
                </a:solidFill>
              </a:rPr>
              <a:t>Secret</a:t>
            </a:r>
            <a:r>
              <a:rPr lang="en-GB" dirty="0"/>
              <a:t>, PVC, </a:t>
            </a:r>
            <a:r>
              <a:rPr lang="en-GB" dirty="0" err="1"/>
              <a:t>emptyDir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936758" y="3821797"/>
            <a:ext cx="3832949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bar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db.kb.dk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5007539" y="3816559"/>
            <a:ext cx="3696800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dmFsdWUxCg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YWJjCg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6EAE-5F61-C270-AB05-E3F840190D7B}"/>
              </a:ext>
            </a:extLst>
          </p:cNvPr>
          <p:cNvSpPr txBox="1"/>
          <p:nvPr/>
        </p:nvSpPr>
        <p:spPr>
          <a:xfrm>
            <a:off x="8909220" y="3821797"/>
            <a:ext cx="328278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Secrets are only secured by access controls</a:t>
            </a:r>
            <a:br>
              <a:rPr lang="en-DK" sz="2800" dirty="0"/>
            </a:br>
            <a:endParaRPr lang="en-DK" sz="2000" dirty="0"/>
          </a:p>
          <a:p>
            <a:br>
              <a:rPr lang="en-DK" sz="2000" dirty="0"/>
            </a:br>
            <a:r>
              <a:rPr lang="en-DK" dirty="0"/>
              <a:t>Value is base64 encoded,</a:t>
            </a:r>
            <a:br>
              <a:rPr lang="en-DK" dirty="0"/>
            </a:br>
            <a:r>
              <a:rPr lang="en-DK" b="1" dirty="0"/>
              <a:t>not encrypted</a:t>
            </a:r>
            <a:r>
              <a:rPr lang="en-DK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5020961" y="1903874"/>
            <a:ext cx="6693244" cy="424731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4909750" y="1493665"/>
            <a:ext cx="2991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3738743" cy="4247317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”Sorry";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485114"/>
            <a:ext cx="2164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Standard way to configure a cloud-ready app.</a:t>
            </a:r>
          </a:p>
          <a:p>
            <a:endParaRPr lang="en-DK" dirty="0"/>
          </a:p>
          <a:p>
            <a:r>
              <a:rPr lang="en-DK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Define directly on Deployment with </a:t>
            </a:r>
            <a:r>
              <a:rPr lang="en-DK" b="1" dirty="0"/>
              <a:t>env: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Import from volume with </a:t>
            </a:r>
            <a:r>
              <a:rPr lang="en-DK" b="1" dirty="0"/>
              <a:t>envFrom: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Secret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731137" y="777893"/>
            <a:ext cx="5081922" cy="507831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</a:p>
          <a:p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 key/values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postgres.kb.dk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3-config-and-env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802186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u="sng" dirty="0"/>
              <a:t>En type af storage</a:t>
            </a:r>
          </a:p>
          <a:p>
            <a:pPr marL="1485900" lvl="2" indent="-342900"/>
            <a:r>
              <a:rPr lang="en-DK" dirty="0"/>
              <a:t>Fx. Local-path, NFS, SMB, Longhorn, S3.</a:t>
            </a:r>
          </a:p>
          <a:p>
            <a:pPr marL="1028700" lvl="1" indent="-342900"/>
            <a:r>
              <a:rPr lang="en-DK" dirty="0"/>
              <a:t>Each class has a storage-controller that handles PVC -&gt; PV binding (bestykning).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u="sng" dirty="0"/>
              <a:t>Et ønske om en mængde storage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485900" lvl="2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485900" lvl="2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 mig 10 GB storage af NFS (distributed) klassen, i RWX mode (multi-node writable).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u="sng" dirty="0"/>
              <a:t>Et konkret stykke dedikeret storage på clusteren.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b="1" i="1" dirty="0"/>
              <a:t>bound</a:t>
            </a:r>
            <a:r>
              <a:rPr lang="en-DK" b="1" dirty="0"/>
              <a:t> </a:t>
            </a:r>
            <a:r>
              <a:rPr lang="en-DK" dirty="0"/>
              <a:t>by a PVC or </a:t>
            </a:r>
            <a:r>
              <a:rPr lang="en-DK" b="1" i="1" dirty="0"/>
              <a:t>released </a:t>
            </a:r>
            <a:r>
              <a:rPr lang="en-DK" i="1" dirty="0"/>
              <a:t>if no longer used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55EA-445D-E66C-D5E8-0C63321E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– PVC eksempel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D3B18-5871-4453-A748-5508C81362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An app has requested this storage: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Name:</a:t>
            </a:r>
            <a:r>
              <a:rPr lang="en-DK" dirty="0"/>
              <a:t> my-data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Mode:</a:t>
            </a:r>
            <a:r>
              <a:rPr lang="en-DK" dirty="0"/>
              <a:t> read+write on 1 node</a:t>
            </a:r>
          </a:p>
          <a:p>
            <a:pPr marL="1028700" lvl="1" indent="-342900"/>
            <a:r>
              <a:rPr lang="en-DK" dirty="0"/>
              <a:t>Once = One simultanous node</a:t>
            </a:r>
          </a:p>
          <a:p>
            <a:pPr marL="1028700" lvl="1" indent="-342900"/>
            <a:r>
              <a:rPr lang="en-DK"/>
              <a:t>Many = Many nodes</a:t>
            </a: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Class:</a:t>
            </a:r>
            <a:r>
              <a:rPr lang="en-DK" dirty="0"/>
              <a:t> local-path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b="1" dirty="0"/>
              <a:t>Size:</a:t>
            </a:r>
            <a:r>
              <a:rPr lang="en-DK" dirty="0"/>
              <a:t> 5 Gigabytes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B8847F-2AF6-71DB-218F-0C0A2D7FD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23" t="405" r="10382" b="7110"/>
          <a:stretch>
            <a:fillRect/>
          </a:stretch>
        </p:blipFill>
        <p:spPr>
          <a:xfrm>
            <a:off x="6492138" y="1690688"/>
            <a:ext cx="4861628" cy="3582229"/>
          </a:xfrm>
          <a:prstGeom prst="rect">
            <a:avLst/>
          </a:prstGeom>
          <a:ln>
            <a:solidFill>
              <a:srgbClr val="C54D02"/>
            </a:solidFill>
          </a:ln>
        </p:spPr>
      </p:pic>
    </p:spTree>
    <p:extLst>
      <p:ext uri="{BB962C8B-B14F-4D97-AF65-F5344CB8AC3E}">
        <p14:creationId xmlns:p14="http://schemas.microsoft.com/office/powerpoint/2010/main" val="32372953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56E82-82C3-A3E0-8D2F-DAC89FC5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2" t="13327" r="2239" b="4120"/>
          <a:stretch>
            <a:fillRect/>
          </a:stretch>
        </p:blipFill>
        <p:spPr>
          <a:xfrm>
            <a:off x="537004" y="247318"/>
            <a:ext cx="11117991" cy="636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0599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Mounts</a:t>
            </a:r>
          </a:p>
          <a:p>
            <a:endParaRPr lang="da-DK" sz="2400" dirty="0"/>
          </a:p>
          <a:p>
            <a:r>
              <a:rPr lang="en-DK" sz="2400" dirty="0">
                <a:solidFill>
                  <a:srgbClr val="C54D02"/>
                </a:solidFill>
              </a:rPr>
              <a:t>Show &amp; Copy </a:t>
            </a:r>
            <a:r>
              <a:rPr lang="en-DK" sz="2400" dirty="0"/>
              <a:t>af </a:t>
            </a:r>
            <a:r>
              <a:rPr lang="en-DK" sz="2400" b="1" dirty="0"/>
              <a:t>4-volumes-and-persistence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Orchestration</a:t>
            </a:r>
            <a:br>
              <a:rPr lang="en-DK" dirty="0"/>
            </a:br>
            <a:r>
              <a:rPr lang="en-DK" sz="3200" dirty="0">
                <a:solidFill>
                  <a:srgbClr val="005DE0"/>
                </a:solidFill>
              </a:rPr>
              <a:t>Health &amp; Resources</a:t>
            </a:r>
            <a:endParaRPr lang="en-DK" dirty="0">
              <a:solidFill>
                <a:srgbClr val="005D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72A1-C579-C7DD-236B-2A359C2FD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466C-7FA2-743D-7D86-1E0B171A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9E5B-B9FD-CED2-3A2D-B971F81E4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b="1" dirty="0"/>
              <a:t>exec</a:t>
            </a:r>
            <a:r>
              <a:rPr lang="en-DK" sz="1900" dirty="0"/>
              <a:t> (run a command, exit 0 = healthy)</a:t>
            </a:r>
          </a:p>
          <a:p>
            <a:r>
              <a:rPr lang="en-DK" sz="1900" b="1" dirty="0"/>
              <a:t>tcpSocket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5FF4B-BCC4-08AD-85A4-99AF6A1B0D40}"/>
              </a:ext>
            </a:extLst>
          </p:cNvPr>
          <p:cNvSpPr txBox="1"/>
          <p:nvPr/>
        </p:nvSpPr>
        <p:spPr>
          <a:xfrm>
            <a:off x="5412259" y="4318053"/>
            <a:ext cx="6425513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B89F9-47BE-FE20-13AE-A0CD10FB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771567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other probes until OK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197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05399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service is running.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Minimum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ressourcer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</a:t>
            </a:r>
            <a:r>
              <a:rPr lang="en-DK" u="sng" dirty="0">
                <a:sym typeface="Wingdings" pitchFamily="2" charset="2"/>
              </a:rPr>
              <a:t>ikke må eller kan overskride</a:t>
            </a:r>
            <a:r>
              <a:rPr lang="en-DK" dirty="0">
                <a:sym typeface="Wingdings" pitchFamily="2" charset="2"/>
              </a:rPr>
              <a:t>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4EC9F4-CCBC-05D3-EE68-D1BAEFDED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6" t="8151" r="13557" b="2683"/>
          <a:stretch>
            <a:fillRect/>
          </a:stretch>
        </p:blipFill>
        <p:spPr>
          <a:xfrm>
            <a:off x="2180967" y="242608"/>
            <a:ext cx="7830066" cy="637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540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4646-62C6-7358-7868-DEDF9B4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757134-F624-0AA3-FDC5-876BA7D335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6A57-BCD4-038D-6AB4-A0EFCA9C50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Deployments,</a:t>
            </a:r>
            <a:br>
              <a:rPr lang="en-DK" sz="2400" dirty="0"/>
            </a:br>
            <a:r>
              <a:rPr lang="en-DK" sz="2400" dirty="0"/>
              <a:t>som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9853004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4862"/>
          </a:xfrm>
        </p:spPr>
        <p:txBody>
          <a:bodyPr>
            <a:normAutofit/>
          </a:bodyPr>
          <a:lstStyle/>
          <a:p>
            <a:r>
              <a:rPr lang="en-DK" dirty="0"/>
              <a:t>Et system består som regel af flere separate komponenter</a:t>
            </a:r>
          </a:p>
          <a:p>
            <a:pPr lvl="1"/>
            <a:r>
              <a:rPr lang="en-DK" dirty="0"/>
              <a:t>Backend og Database skal kunne skalere forskelligt </a:t>
            </a:r>
            <a:r>
              <a:rPr lang="en-DK" dirty="0">
                <a:sym typeface="Wingdings" pitchFamily="2" charset="2"/>
              </a:rPr>
              <a:t> Derfor hver sin Deployment</a:t>
            </a:r>
          </a:p>
          <a:p>
            <a:pPr lvl="1"/>
            <a:endParaRPr lang="en-DK" dirty="0"/>
          </a:p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DB_HOSTNAME=database.demo.svc.cluster.local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Show &amp; Copy: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med og kopier, når jeg løser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-spring-boot</a:t>
            </a: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u="sng" dirty="0"/>
              <a:t>Packages all manifests for a complex system into a .zip file</a:t>
            </a:r>
          </a:p>
          <a:p>
            <a:pPr lvl="1"/>
            <a:r>
              <a:rPr lang="en-DK" dirty="0"/>
              <a:t>Exposes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br>
              <a:rPr lang="en-DK" dirty="0">
                <a:solidFill>
                  <a:srgbClr val="005DE0"/>
                </a:solidFill>
              </a:rPr>
            </a:br>
            <a:r>
              <a:rPr lang="en-DK" dirty="0">
                <a:solidFill>
                  <a:srgbClr val="005DE0"/>
                </a:solidFill>
              </a:rPr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45667</TotalTime>
  <Words>3935</Words>
  <Application>Microsoft Macintosh PowerPoint</Application>
  <PresentationFormat>Widescreen</PresentationFormat>
  <Paragraphs>649</Paragraphs>
  <Slides>71</Slides>
  <Notes>25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82" baseType="lpstr">
      <vt:lpstr>Arial</vt:lpstr>
      <vt:lpstr>Calibri</vt:lpstr>
      <vt:lpstr>Calibri Light</vt:lpstr>
      <vt:lpstr>Consolas</vt:lpstr>
      <vt:lpstr>Courier New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Kubernetes Cluster</vt:lpstr>
      <vt:lpstr>Control Plane (“The Brain”) </vt:lpstr>
      <vt:lpstr>Worker Nodes (“The Muscle”)</vt:lpstr>
      <vt:lpstr>Kubernetes API</vt:lpstr>
      <vt:lpstr>Hvordan bruger man så Kubernetes?</vt:lpstr>
      <vt:lpstr>PowerPoint Presentation</vt:lpstr>
      <vt:lpstr>2. Demo – Smagsprøve på k8s</vt:lpstr>
      <vt:lpstr>Fra kubectl til kørende Pod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Exercise recap</vt:lpstr>
      <vt:lpstr>PowerPoint Presentation</vt:lpstr>
      <vt:lpstr>Manifest vs. Controller</vt:lpstr>
      <vt:lpstr>Core Kubernetes loop</vt:lpstr>
      <vt:lpstr>PowerPoint Presentation</vt:lpstr>
      <vt:lpstr>Kubernetes Tools</vt:lpstr>
      <vt:lpstr>Kubectl commands</vt:lpstr>
      <vt:lpstr>Kubectl commands</vt:lpstr>
      <vt:lpstr>Kubectl commands</vt:lpstr>
      <vt:lpstr>Exec &amp; Logs</vt:lpstr>
      <vt:lpstr>Kubectl apply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Volume Mounts – PVC eksempel</vt:lpstr>
      <vt:lpstr>PowerPoint Presentation</vt:lpstr>
      <vt:lpstr>PowerPoint Presentation</vt:lpstr>
      <vt:lpstr>PowerPoint Presentation</vt:lpstr>
      <vt:lpstr>Orchestration – Health Probes</vt:lpstr>
      <vt:lpstr>Orchestration – Health Probes for API</vt:lpstr>
      <vt:lpstr>Orchestration – Resource limits</vt:lpstr>
      <vt:lpstr>PowerPoint Presentation</vt:lpstr>
      <vt:lpstr>PowerPoint Presentation</vt:lpstr>
      <vt:lpstr>Komplekse systemer</vt:lpstr>
      <vt:lpstr>Show &amp; Copy: Composite Systems</vt:lpstr>
      <vt:lpstr>Komplekse systemer – Helm</vt:lpstr>
      <vt:lpstr>PowerPoint Presentation</vt:lpstr>
      <vt:lpstr>Debugging Pods</vt:lpstr>
      <vt:lpstr>StatefulSet &amp; DaemonSet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340</cp:revision>
  <dcterms:created xsi:type="dcterms:W3CDTF">2021-06-21T11:45:03Z</dcterms:created>
  <dcterms:modified xsi:type="dcterms:W3CDTF">2026-06-23T11:25:16Z</dcterms:modified>
</cp:coreProperties>
</file>