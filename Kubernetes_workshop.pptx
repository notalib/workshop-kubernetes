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72"/>
  </p:notesMasterIdLst>
  <p:sldIdLst>
    <p:sldId id="280" r:id="rId3"/>
    <p:sldId id="437" r:id="rId4"/>
    <p:sldId id="438" r:id="rId5"/>
    <p:sldId id="439" r:id="rId6"/>
    <p:sldId id="398" r:id="rId7"/>
    <p:sldId id="440" r:id="rId8"/>
    <p:sldId id="354" r:id="rId9"/>
    <p:sldId id="418" r:id="rId10"/>
    <p:sldId id="436" r:id="rId11"/>
    <p:sldId id="452" r:id="rId12"/>
    <p:sldId id="453" r:id="rId13"/>
    <p:sldId id="361" r:id="rId14"/>
    <p:sldId id="455" r:id="rId15"/>
    <p:sldId id="456" r:id="rId16"/>
    <p:sldId id="355" r:id="rId17"/>
    <p:sldId id="454" r:id="rId18"/>
    <p:sldId id="348" r:id="rId19"/>
    <p:sldId id="426" r:id="rId20"/>
    <p:sldId id="459" r:id="rId21"/>
    <p:sldId id="474" r:id="rId22"/>
    <p:sldId id="349" r:id="rId23"/>
    <p:sldId id="443" r:id="rId24"/>
    <p:sldId id="444" r:id="rId25"/>
    <p:sldId id="357" r:id="rId26"/>
    <p:sldId id="445" r:id="rId27"/>
    <p:sldId id="466" r:id="rId28"/>
    <p:sldId id="363" r:id="rId29"/>
    <p:sldId id="460" r:id="rId30"/>
    <p:sldId id="473" r:id="rId31"/>
    <p:sldId id="362" r:id="rId32"/>
    <p:sldId id="446" r:id="rId33"/>
    <p:sldId id="447" r:id="rId34"/>
    <p:sldId id="352" r:id="rId35"/>
    <p:sldId id="375" r:id="rId36"/>
    <p:sldId id="478" r:id="rId37"/>
    <p:sldId id="485" r:id="rId38"/>
    <p:sldId id="462" r:id="rId39"/>
    <p:sldId id="393" r:id="rId40"/>
    <p:sldId id="457" r:id="rId41"/>
    <p:sldId id="463" r:id="rId42"/>
    <p:sldId id="376" r:id="rId43"/>
    <p:sldId id="358" r:id="rId44"/>
    <p:sldId id="374" r:id="rId45"/>
    <p:sldId id="370" r:id="rId46"/>
    <p:sldId id="384" r:id="rId47"/>
    <p:sldId id="364" r:id="rId48"/>
    <p:sldId id="464" r:id="rId49"/>
    <p:sldId id="465" r:id="rId50"/>
    <p:sldId id="415" r:id="rId51"/>
    <p:sldId id="367" r:id="rId52"/>
    <p:sldId id="448" r:id="rId53"/>
    <p:sldId id="368" r:id="rId54"/>
    <p:sldId id="477" r:id="rId55"/>
    <p:sldId id="369" r:id="rId56"/>
    <p:sldId id="484" r:id="rId57"/>
    <p:sldId id="479" r:id="rId58"/>
    <p:sldId id="468" r:id="rId59"/>
    <p:sldId id="483" r:id="rId60"/>
    <p:sldId id="476" r:id="rId61"/>
    <p:sldId id="480" r:id="rId62"/>
    <p:sldId id="481" r:id="rId63"/>
    <p:sldId id="482" r:id="rId64"/>
    <p:sldId id="380" r:id="rId65"/>
    <p:sldId id="469" r:id="rId66"/>
    <p:sldId id="458" r:id="rId67"/>
    <p:sldId id="472" r:id="rId68"/>
    <p:sldId id="350" r:id="rId69"/>
    <p:sldId id="450" r:id="rId70"/>
    <p:sldId id="372" r:id="rId7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4D02"/>
    <a:srgbClr val="005DE0"/>
    <a:srgbClr val="0074D9"/>
    <a:srgbClr val="002E70"/>
    <a:srgbClr val="B8580A"/>
    <a:srgbClr val="F0FBFF"/>
    <a:srgbClr val="CAF0FE"/>
    <a:srgbClr val="FFFDEE"/>
    <a:srgbClr val="EEFBFA"/>
    <a:srgbClr val="0E70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31" autoAdjust="0"/>
    <p:restoredTop sz="83224"/>
  </p:normalViewPr>
  <p:slideViewPr>
    <p:cSldViewPr snapToGrid="0">
      <p:cViewPr varScale="1">
        <p:scale>
          <a:sx n="104" d="100"/>
          <a:sy n="104" d="100"/>
        </p:scale>
        <p:origin x="232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tableStyles" Target="tableStyles.xml"/><Relationship Id="rId7" Type="http://schemas.openxmlformats.org/officeDocument/2006/relationships/slide" Target="slides/slide5.xml"/><Relationship Id="rId71" Type="http://schemas.openxmlformats.org/officeDocument/2006/relationships/slide" Target="slides/slide6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15/06/2026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tutorials/stateless-application/guestbook/" TargetMode="External"/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Resumé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52175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0097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Kubernetes as: “The Great Conductor”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83138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Reminder fra sidste workshop. Imperative vs. Declarative.</a:t>
            </a:r>
          </a:p>
          <a:p>
            <a:endParaRPr lang="en-DK" dirty="0"/>
          </a:p>
          <a:p>
            <a:r>
              <a:rPr lang="en-DK" dirty="0"/>
              <a:t>Både D</a:t>
            </a:r>
            <a:r>
              <a:rPr lang="en-GB" dirty="0"/>
              <a:t>o</a:t>
            </a:r>
            <a:r>
              <a:rPr lang="en-DK" dirty="0"/>
              <a:t>cker Compose og Kubernetes har declarative som fokus.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6772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52191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Lige nu kører alt dette på jeres lokale maskine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agerer hjerne og muskel på én gang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98647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076625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See API calls with -v=8</a:t>
            </a:r>
          </a:p>
          <a:p>
            <a:endParaRPr lang="en-DK" dirty="0"/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kubectl get pods -v=8 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kubectl create namespace test --dry-run=server -v=8 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673071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kubernetes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-workshop/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kubectl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-demo/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README.md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15352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kubectl create deployment nginx --image=nginx:latest</a:t>
            </a:r>
          </a:p>
          <a:p>
            <a:endParaRPr lang="en-DK" dirty="0"/>
          </a:p>
          <a:p>
            <a:r>
              <a:rPr lang="en-DK" dirty="0"/>
              <a:t>kubectl get deploy/nginx -o yaml my-deployment.yml</a:t>
            </a:r>
          </a:p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delete nginx</a:t>
            </a:r>
          </a:p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apply my-deployment.yml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590562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479470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dirty="0"/>
              <a:t>En Pod der indeholder en </a:t>
            </a:r>
            <a:r>
              <a:rPr lang="en-DK" sz="1200" b="1" dirty="0"/>
              <a:t>App</a:t>
            </a:r>
            <a:r>
              <a:rPr lang="en-DK" sz="1200" dirty="0"/>
              <a:t> container, samt en </a:t>
            </a:r>
            <a:r>
              <a:rPr lang="en-DK" sz="1200" b="1" dirty="0"/>
              <a:t>Sidecar</a:t>
            </a:r>
            <a:r>
              <a:rPr lang="en-DK" sz="1200" dirty="0"/>
              <a:t> container.</a:t>
            </a:r>
          </a:p>
          <a:p>
            <a:r>
              <a:rPr lang="en-DK" sz="1200" dirty="0"/>
              <a:t>De har samme interne IP - deler porte &amp; ressourcer, men som udgangspunkt </a:t>
            </a:r>
            <a:r>
              <a:rPr lang="en-DK" sz="1200" b="1" dirty="0"/>
              <a:t>ikke filsystem.</a:t>
            </a:r>
            <a:endParaRPr lang="en-DK" sz="1200" dirty="0"/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482900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TODO: Undlad app labels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537973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892748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17060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200" dirty="0"/>
              <a:t>Se på eksempel i Rancher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K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/>
              <a:t>https://</a:t>
            </a:r>
            <a:r>
              <a:rPr lang="en-GB" sz="1200" dirty="0" err="1"/>
              <a:t>kubernetes.io</a:t>
            </a:r>
            <a:r>
              <a:rPr lang="en-GB" sz="1200" dirty="0"/>
              <a:t>/docs/concepts/services-networking/</a:t>
            </a:r>
            <a:r>
              <a:rPr lang="en-GB" sz="1200" dirty="0" err="1"/>
              <a:t>dns</a:t>
            </a:r>
            <a:r>
              <a:rPr lang="en-GB" sz="1200" dirty="0"/>
              <a:t>-pod-service/#namespaces-of-services</a:t>
            </a:r>
            <a:endParaRPr lang="en-DK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432304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krew install ctx / ns </a:t>
            </a:r>
            <a:r>
              <a:rPr lang="en-DK" dirty="0">
                <a:sym typeface="Wingdings" pitchFamily="2" charset="2"/>
              </a:rPr>
              <a:t> Now you have </a:t>
            </a:r>
            <a:r>
              <a:rPr lang="en-GB" dirty="0">
                <a:sym typeface="Wingdings" pitchFamily="2" charset="2"/>
              </a:rPr>
              <a:t>k</a:t>
            </a:r>
            <a:r>
              <a:rPr lang="en-DK" dirty="0"/>
              <a:t>ubectl ctx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992942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58498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709572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702731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47710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Eksempel:</a:t>
            </a:r>
          </a:p>
          <a:p>
            <a:pPr lvl="1"/>
            <a:r>
              <a:rPr lang="en-GB" dirty="0">
                <a:hlinkClick r:id="rId3"/>
              </a:rPr>
              <a:t>https://kubernetes.io/docs/tutorials/stateless-application/guestbook/</a:t>
            </a:r>
            <a:r>
              <a:rPr lang="en-GB" dirty="0"/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698038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</a:t>
            </a:r>
            <a:r>
              <a:rPr lang="en-DK" dirty="0"/>
              <a:t>orkshop-kubernetes/helm-teaser/README.md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2277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wbitt</a:t>
            </a:r>
            <a:r>
              <a:rPr lang="en-GB" dirty="0"/>
              <a:t>/network-multitool</a:t>
            </a:r>
          </a:p>
          <a:p>
            <a:endParaRPr lang="en-GB" dirty="0"/>
          </a:p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nicolaka</a:t>
            </a:r>
            <a:r>
              <a:rPr lang="en-GB" dirty="0"/>
              <a:t>/</a:t>
            </a:r>
            <a:r>
              <a:rPr lang="en-GB" dirty="0" err="1"/>
              <a:t>netshoot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51892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juni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dsholder til tekst 15">
            <a:extLst>
              <a:ext uri="{FF2B5EF4-FFF2-40B4-BE49-F238E27FC236}">
                <a16:creationId xmlns:a16="http://schemas.microsoft.com/office/drawing/2014/main" id="{79E89324-3C73-5D42-BE9D-B19AC18AF9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4067" y="2164333"/>
            <a:ext cx="7566796" cy="2414552"/>
          </a:xfrm>
        </p:spPr>
        <p:txBody>
          <a:bodyPr anchor="t">
            <a:normAutofit/>
          </a:bodyPr>
          <a:lstStyle>
            <a:lvl1pPr marL="0" indent="0">
              <a:buNone/>
              <a:defRPr sz="6000" b="0" i="0">
                <a:solidFill>
                  <a:srgbClr val="383838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Det her er din præsentationstitel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AACCE956-2A5F-894D-B523-8E004D090C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242" y="5746282"/>
            <a:ext cx="8399876" cy="650879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Mulighed for at skrive navn på konference, dato, kontaktoplysninger eller andet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DC13D55-26AA-194A-A9CC-DAC262E2DE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4067" y="4578885"/>
            <a:ext cx="7566795" cy="546100"/>
          </a:xfrm>
        </p:spPr>
        <p:txBody>
          <a:bodyPr>
            <a:normAutofit/>
          </a:bodyPr>
          <a:lstStyle>
            <a:lvl1pPr marL="0" indent="0">
              <a:buNone/>
              <a:defRPr sz="2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Eventuel undertitel. Juster så placering er lige under titel.</a:t>
            </a:r>
          </a:p>
        </p:txBody>
      </p:sp>
    </p:spTree>
    <p:extLst>
      <p:ext uri="{BB962C8B-B14F-4D97-AF65-F5344CB8AC3E}">
        <p14:creationId xmlns:p14="http://schemas.microsoft.com/office/powerpoint/2010/main" val="12141868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2" r:id="rId13"/>
    <p:sldLayoutId id="214748373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15.06.2026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microsoft.com/office/2007/relationships/hdphoto" Target="../media/hdphoto3.wdp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concepts/overview/components/#kube-apiserver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workloads/controllers/replicaset/" TargetMode="External"/><Relationship Id="rId2" Type="http://schemas.openxmlformats.org/officeDocument/2006/relationships/hyperlink" Target="https://kubernetes.io/docs/concepts/workloads/pods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kubernete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utorials/services/connect-applications-service/#creating-a-service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12factor.net/" TargetMode="External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debug/debug-application/debug-running-pod/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#2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juni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6D4FF87-FD24-074B-AA92-053389FCDD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4067" y="2372808"/>
            <a:ext cx="7566796" cy="1713812"/>
          </a:xfrm>
        </p:spPr>
        <p:txBody>
          <a:bodyPr>
            <a:normAutofit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A52497D8-102A-F34E-8052-7799AF571F3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144068" y="3229714"/>
            <a:ext cx="7566795" cy="546101"/>
          </a:xfrm>
        </p:spPr>
        <p:txBody>
          <a:bodyPr>
            <a:normAutofit/>
          </a:bodyPr>
          <a:lstStyle/>
          <a:p>
            <a:r>
              <a:rPr lang="da-DK" sz="2400" dirty="0"/>
              <a:t>Part #2</a:t>
            </a:r>
          </a:p>
        </p:txBody>
      </p:sp>
    </p:spTree>
    <p:extLst>
      <p:ext uri="{BB962C8B-B14F-4D97-AF65-F5344CB8AC3E}">
        <p14:creationId xmlns:p14="http://schemas.microsoft.com/office/powerpoint/2010/main" val="22525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9365" y="168949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5069" y="1675528"/>
            <a:ext cx="9308806" cy="4649072"/>
          </a:xfrm>
        </p:spPr>
        <p:txBody>
          <a:bodyPr>
            <a:normAutofit fontScale="92500" lnSpcReduction="20000"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3600" dirty="0"/>
              <a:t>Kubernetes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CLI Demo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Deployments &amp; Pods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Exposing containers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Manifests &amp; Reconciliation</a:t>
            </a:r>
          </a:p>
          <a:p>
            <a:pPr marL="914400" indent="-914400">
              <a:buFont typeface="+mj-lt"/>
              <a:buAutoNum type="arabicPeriod"/>
            </a:pPr>
            <a:r>
              <a:rPr lang="en-GB" sz="3600" dirty="0"/>
              <a:t>K</a:t>
            </a:r>
            <a:r>
              <a:rPr lang="en-DK" sz="3600" dirty="0"/>
              <a:t>ubectl, k9s og Rancher UI</a:t>
            </a:r>
            <a:endParaRPr lang="en-DK" sz="3600" dirty="0">
              <a:solidFill>
                <a:srgbClr val="C54D02"/>
              </a:solidFill>
            </a:endParaRP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Environment &amp; Volume Mounts </a:t>
            </a:r>
            <a:r>
              <a:rPr lang="en-DK" sz="3600" dirty="0">
                <a:solidFill>
                  <a:srgbClr val="C54D02"/>
                </a:solidFill>
              </a:rPr>
              <a:t>[+Show &amp; Copy]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Orchestration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Complex systems </a:t>
            </a:r>
            <a:r>
              <a:rPr lang="en-DK" sz="3600" dirty="0">
                <a:solidFill>
                  <a:srgbClr val="C54D02"/>
                </a:solidFill>
              </a:rPr>
              <a:t>[+Show &amp; Copy]</a:t>
            </a:r>
          </a:p>
          <a:p>
            <a:pPr marL="914400" indent="-914400">
              <a:buFont typeface="+mj-lt"/>
              <a:buAutoNum type="arabicPeriod"/>
            </a:pPr>
            <a:endParaRPr lang="en-DK" sz="3600" dirty="0"/>
          </a:p>
        </p:txBody>
      </p:sp>
    </p:spTree>
    <p:extLst>
      <p:ext uri="{BB962C8B-B14F-4D97-AF65-F5344CB8AC3E}">
        <p14:creationId xmlns:p14="http://schemas.microsoft.com/office/powerpoint/2010/main" val="259486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 err="1"/>
              <a:t>Kubernetes</a:t>
            </a:r>
            <a:r>
              <a:rPr lang="da-DK" dirty="0"/>
              <a:t> Basics</a:t>
            </a:r>
          </a:p>
        </p:txBody>
      </p:sp>
    </p:spTree>
    <p:extLst>
      <p:ext uri="{BB962C8B-B14F-4D97-AF65-F5344CB8AC3E}">
        <p14:creationId xmlns:p14="http://schemas.microsoft.com/office/powerpoint/2010/main" val="36206255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/>
          </a:bodyPr>
          <a:lstStyle/>
          <a:p>
            <a:r>
              <a:rPr lang="en-DK" dirty="0"/>
              <a:t>Hvis vi kan bygge hvert komponent</a:t>
            </a:r>
            <a:br>
              <a:rPr lang="en-DK" dirty="0"/>
            </a:br>
            <a:r>
              <a:rPr lang="en-DK" dirty="0"/>
              <a:t>i vores system som selvstændige</a:t>
            </a:r>
            <a:br>
              <a:rPr lang="en-DK" dirty="0"/>
            </a:br>
            <a:r>
              <a:rPr lang="en-DK" dirty="0"/>
              <a:t>isolerede komponenter…</a:t>
            </a: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køre systemet </a:t>
            </a:r>
            <a:r>
              <a:rPr lang="en-DK" u="sng" dirty="0"/>
              <a:t>hvor som helst</a:t>
            </a:r>
            <a:r>
              <a:rPr lang="en-DK" dirty="0"/>
              <a:t>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hurtigt </a:t>
            </a:r>
            <a:r>
              <a:rPr lang="en-DK" u="sng" dirty="0"/>
              <a:t>skalere efter behov</a:t>
            </a:r>
            <a:r>
              <a:rPr lang="en-DK" dirty="0"/>
              <a:t>, ved at sætte flere af de samme legoklodser på pladen.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</a:t>
            </a:r>
            <a:r>
              <a:rPr lang="en-DK" u="sng" dirty="0"/>
              <a:t>opbygge komplekse systemer</a:t>
            </a:r>
            <a:r>
              <a:rPr lang="en-DK" dirty="0"/>
              <a:t> ud af flere lego-klodser, ved at sætte dem sammen.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548" y="1088617"/>
            <a:ext cx="6655483" cy="277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D3D89-9BEF-8D55-1382-2D41438A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Containerization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7DB9C-5433-7909-E2B9-424400D584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DK" sz="2000" dirty="0"/>
          </a:p>
          <a:p>
            <a:r>
              <a:rPr lang="en-DK" sz="2000" b="1" dirty="0"/>
              <a:t>Dockerfile</a:t>
            </a:r>
            <a:r>
              <a:rPr lang="en-DK" sz="2000" dirty="0"/>
              <a:t> = Opskrift på en containerized applikation.</a:t>
            </a:r>
          </a:p>
          <a:p>
            <a:pPr lvl="1"/>
            <a:r>
              <a:rPr lang="en-DK" sz="1800" dirty="0"/>
              <a:t>Udviklernes ansvar – Dependencies håndteret, konfigurerbar opsætning.</a:t>
            </a:r>
          </a:p>
          <a:p>
            <a:endParaRPr lang="en-DK" sz="2000" dirty="0"/>
          </a:p>
          <a:p>
            <a:r>
              <a:rPr lang="en-DK" sz="2000" b="1" dirty="0"/>
              <a:t>Container image</a:t>
            </a:r>
            <a:r>
              <a:rPr lang="en-DK" sz="2000" dirty="0"/>
              <a:t> = Den byggede containerized app, klar til at køre hvor som helst!</a:t>
            </a:r>
          </a:p>
          <a:p>
            <a:pPr lvl="1"/>
            <a:r>
              <a:rPr lang="en-DK" sz="1800" dirty="0"/>
              <a:t>Er artefakt der kan afvikle en app uafhængigt af host maskinen.</a:t>
            </a:r>
          </a:p>
          <a:p>
            <a:endParaRPr lang="en-DK" sz="2000" dirty="0"/>
          </a:p>
          <a:p>
            <a:r>
              <a:rPr lang="en-DK" sz="2000" b="1" dirty="0"/>
              <a:t>Container runtime</a:t>
            </a:r>
            <a:r>
              <a:rPr lang="en-DK" sz="2000" dirty="0"/>
              <a:t> = Der hvor container images/apps afvikles.</a:t>
            </a:r>
          </a:p>
          <a:p>
            <a:pPr lvl="1"/>
            <a:r>
              <a:rPr lang="en-DK" sz="1800" dirty="0"/>
              <a:t>Docker</a:t>
            </a:r>
          </a:p>
          <a:p>
            <a:pPr lvl="1"/>
            <a:r>
              <a:rPr lang="en-DK" sz="1800" dirty="0"/>
              <a:t>Kubernetes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051377-DB27-605A-F6EB-29524A5D141E}"/>
              </a:ext>
            </a:extLst>
          </p:cNvPr>
          <p:cNvSpPr/>
          <p:nvPr/>
        </p:nvSpPr>
        <p:spPr>
          <a:xfrm>
            <a:off x="838132" y="4187952"/>
            <a:ext cx="7217732" cy="12618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168C44-07F9-CD0F-12E8-812DBF74C046}"/>
              </a:ext>
            </a:extLst>
          </p:cNvPr>
          <p:cNvSpPr txBox="1"/>
          <p:nvPr/>
        </p:nvSpPr>
        <p:spPr>
          <a:xfrm>
            <a:off x="774898" y="5449824"/>
            <a:ext cx="2187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FF0000"/>
                </a:solidFill>
              </a:rPr>
              <a:t>Fokus for workshop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E1295E-7BFD-CBE6-6E0D-1DA6A64B081D}"/>
              </a:ext>
            </a:extLst>
          </p:cNvPr>
          <p:cNvGrpSpPr/>
          <p:nvPr/>
        </p:nvGrpSpPr>
        <p:grpSpPr>
          <a:xfrm>
            <a:off x="8968847" y="768561"/>
            <a:ext cx="2857500" cy="1920187"/>
            <a:chOff x="7339440" y="365125"/>
            <a:chExt cx="2857500" cy="192018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2112581-CEBA-F5F7-CEE6-91024BDD0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7339440" y="824710"/>
              <a:ext cx="2857500" cy="146060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E971C68-95C2-D1B8-622B-609A03D8C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6364" b="57276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6360"/>
            <a:stretch>
              <a:fillRect/>
            </a:stretch>
          </p:blipFill>
          <p:spPr>
            <a:xfrm>
              <a:off x="7855300" y="365125"/>
              <a:ext cx="2341640" cy="1261872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DFC7F9-D249-2FE7-627E-980CF77CE697}"/>
              </a:ext>
            </a:extLst>
          </p:cNvPr>
          <p:cNvGrpSpPr/>
          <p:nvPr/>
        </p:nvGrpSpPr>
        <p:grpSpPr>
          <a:xfrm>
            <a:off x="8795157" y="3970545"/>
            <a:ext cx="2857500" cy="1938605"/>
            <a:chOff x="9263638" y="3132872"/>
            <a:chExt cx="2857500" cy="19386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DAECC6A-7C84-E265-251A-D51643218BF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6011" b="57104" l="2667" r="93111">
                          <a14:foregroundMark x1="8889" y1="27869" x2="10667" y2="27322"/>
                          <a14:foregroundMark x1="11556" y1="29781" x2="8667" y2="26503"/>
                          <a14:foregroundMark x1="10000" y1="28142" x2="8222" y2="29235"/>
                          <a14:foregroundMark x1="9556" y1="32240" x2="2667" y2="31148"/>
                          <a14:foregroundMark x1="59778" y1="46721" x2="74667" y2="56557"/>
                          <a14:foregroundMark x1="74667" y1="56557" x2="88444" y2="42350"/>
                          <a14:foregroundMark x1="88444" y1="42350" x2="82222" y2="22678"/>
                          <a14:foregroundMark x1="82222" y1="22678" x2="64000" y2="30601"/>
                          <a14:foregroundMark x1="64000" y1="30601" x2="54444" y2="48361"/>
                          <a14:foregroundMark x1="54444" y1="48361" x2="64000" y2="57104"/>
                          <a14:foregroundMark x1="82889" y1="23224" x2="88222" y2="24863"/>
                          <a14:foregroundMark x1="88667" y1="24317" x2="93111" y2="28962"/>
                          <a14:backgroundMark x1="12889" y1="24044" x2="11556" y2="24590"/>
                          <a14:backgroundMark x1="12222" y1="25683" x2="10667" y2="2623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9263638" y="3610875"/>
              <a:ext cx="2857500" cy="1460602"/>
            </a:xfrm>
            <a:prstGeom prst="rect">
              <a:avLst/>
            </a:prstGeom>
          </p:spPr>
        </p:pic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82F81A2C-1359-A5EC-C89A-F9109B8049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68309" y="3132872"/>
              <a:ext cx="1395538" cy="13562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DB54C7-0CFE-A976-734B-85929372C35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0397597" y="2688748"/>
            <a:ext cx="0" cy="1114626"/>
          </a:xfrm>
          <a:prstGeom prst="straightConnector1">
            <a:avLst/>
          </a:prstGeom>
          <a:ln w="76200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0287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08BC0-E8A5-AFEF-4A65-A0CFDD629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vs Kubernetes (k8s)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CB6A-AE6B-58BA-6E2F-1496A525AA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442517"/>
          </a:xfrm>
        </p:spPr>
        <p:txBody>
          <a:bodyPr>
            <a:normAutofit/>
          </a:bodyPr>
          <a:lstStyle/>
          <a:p>
            <a:r>
              <a:rPr lang="en-GB" sz="2000" dirty="0"/>
              <a:t>Docker is a container runtime used to build, package, and </a:t>
            </a:r>
            <a:r>
              <a:rPr lang="en-GB" sz="2000" b="1" dirty="0"/>
              <a:t>run containers on a single machine.</a:t>
            </a:r>
          </a:p>
          <a:p>
            <a:r>
              <a:rPr lang="en-GB" sz="2000" dirty="0"/>
              <a:t>Docker makes applications portable by packaging code, dependencies, libraries, and configuration into a consistent container image.</a:t>
            </a:r>
          </a:p>
          <a:p>
            <a:endParaRPr lang="en-GB" sz="2000" dirty="0"/>
          </a:p>
          <a:p>
            <a:r>
              <a:rPr lang="en-GB" sz="2000" dirty="0"/>
              <a:t>Kubernetes is a </a:t>
            </a:r>
            <a:r>
              <a:rPr lang="en-GB" sz="2000" b="1" dirty="0"/>
              <a:t>platform</a:t>
            </a:r>
            <a:r>
              <a:rPr lang="en-GB" sz="2000" dirty="0"/>
              <a:t> for deploying, managing, and </a:t>
            </a:r>
            <a:r>
              <a:rPr lang="en-GB" sz="2000" b="1" dirty="0"/>
              <a:t>scaling containers across multiple machines </a:t>
            </a:r>
            <a:r>
              <a:rPr lang="en-GB" sz="2000" dirty="0"/>
              <a:t>(aka. a cluster).</a:t>
            </a:r>
          </a:p>
          <a:p>
            <a:r>
              <a:rPr lang="en-GB" sz="2000" dirty="0"/>
              <a:t>Kubernetes </a:t>
            </a:r>
            <a:r>
              <a:rPr lang="en-GB" sz="2000" b="1" dirty="0"/>
              <a:t>also handles orchestration </a:t>
            </a:r>
            <a:r>
              <a:rPr lang="en-GB" sz="2000" dirty="0"/>
              <a:t>tasks such as scheduling, self-healing, service discovery, rolling updates, and load balancing.</a:t>
            </a:r>
          </a:p>
          <a:p>
            <a:endParaRPr lang="en-GB" sz="20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331C3D-6994-17E1-1030-C1DAFF1D7D66}"/>
              </a:ext>
            </a:extLst>
          </p:cNvPr>
          <p:cNvCxnSpPr/>
          <p:nvPr/>
        </p:nvCxnSpPr>
        <p:spPr>
          <a:xfrm>
            <a:off x="539086" y="2934268"/>
            <a:ext cx="11252580" cy="0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ABEDF49-4DA4-048A-8606-A778D6BA534F}"/>
              </a:ext>
            </a:extLst>
          </p:cNvPr>
          <p:cNvSpPr txBox="1"/>
          <p:nvPr/>
        </p:nvSpPr>
        <p:spPr>
          <a:xfrm>
            <a:off x="2205724" y="5009493"/>
            <a:ext cx="7919303" cy="1123712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Docker</a:t>
            </a:r>
            <a:r>
              <a:rPr lang="en-GB" sz="2000" dirty="0"/>
              <a:t> creates and runs containers,</a:t>
            </a:r>
            <a:br>
              <a:rPr lang="en-GB" sz="2000" dirty="0"/>
            </a:br>
            <a:r>
              <a:rPr lang="en-GB" sz="2000" dirty="0"/>
              <a:t>while </a:t>
            </a:r>
            <a:r>
              <a:rPr lang="en-GB" sz="2000" b="1" dirty="0"/>
              <a:t>Kubernetes</a:t>
            </a:r>
            <a:r>
              <a:rPr lang="en-GB" sz="2000" dirty="0"/>
              <a:t> </a:t>
            </a:r>
            <a:r>
              <a:rPr lang="en-GB" sz="2000" i="1" dirty="0"/>
              <a:t>also</a:t>
            </a:r>
            <a:r>
              <a:rPr lang="en-GB" sz="2000" dirty="0"/>
              <a:t> ensures those containers stay:</a:t>
            </a:r>
            <a:br>
              <a:rPr lang="en-GB" sz="2000" dirty="0"/>
            </a:br>
            <a:r>
              <a:rPr lang="en-GB" sz="2000" b="1" dirty="0"/>
              <a:t>available, scalable, and reliable </a:t>
            </a:r>
            <a:r>
              <a:rPr lang="en-GB" sz="2000" dirty="0"/>
              <a:t>in production</a:t>
            </a:r>
          </a:p>
        </p:txBody>
      </p:sp>
    </p:spTree>
    <p:extLst>
      <p:ext uri="{BB962C8B-B14F-4D97-AF65-F5344CB8AC3E}">
        <p14:creationId xmlns:p14="http://schemas.microsoft.com/office/powerpoint/2010/main" val="2674115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69"/>
          <a:stretch>
            <a:fillRect/>
          </a:stretch>
        </p:blipFill>
        <p:spPr>
          <a:xfrm>
            <a:off x="1276350" y="262730"/>
            <a:ext cx="10510730" cy="638571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41DDA9-7FDF-EAD3-3697-828F515CAE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594" t="40636" r="7346" b="23946"/>
          <a:stretch>
            <a:fillRect/>
          </a:stretch>
        </p:blipFill>
        <p:spPr>
          <a:xfrm>
            <a:off x="6283186" y="3121715"/>
            <a:ext cx="4730640" cy="2478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8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998498-C728-BA30-64E6-A922BCA536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8" b="5887"/>
          <a:stretch>
            <a:fillRect/>
          </a:stretch>
        </p:blipFill>
        <p:spPr>
          <a:xfrm>
            <a:off x="1662052" y="463315"/>
            <a:ext cx="8867895" cy="52613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F67729-13D4-50C5-1BDB-C0A6DC54EBED}"/>
              </a:ext>
            </a:extLst>
          </p:cNvPr>
          <p:cNvSpPr txBox="1"/>
          <p:nvPr/>
        </p:nvSpPr>
        <p:spPr>
          <a:xfrm>
            <a:off x="3180838" y="5925727"/>
            <a:ext cx="4554986" cy="442674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Aka. </a:t>
            </a:r>
            <a:r>
              <a:rPr lang="en-GB" sz="2000" b="1" dirty="0"/>
              <a:t>Infrastructure as Code</a:t>
            </a:r>
            <a:r>
              <a:rPr lang="en-GB" sz="2000" dirty="0"/>
              <a:t> (</a:t>
            </a:r>
            <a:r>
              <a:rPr lang="en-GB" sz="2000" dirty="0" err="1"/>
              <a:t>IaC</a:t>
            </a:r>
            <a:r>
              <a:rPr lang="en-GB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44510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1B53F-9E38-2828-55E8-6BE97AC27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vs. Kubernetes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86EFF4-0F36-BF02-2EB8-E0E087B591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Både Docker Compose og Kubernetes er </a:t>
            </a:r>
            <a:r>
              <a:rPr lang="en-DK" b="1" dirty="0"/>
              <a:t>deklarative</a:t>
            </a:r>
            <a:endParaRPr lang="en-DK" dirty="0"/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Du </a:t>
            </a:r>
            <a:r>
              <a:rPr lang="en-DK" u="sng" dirty="0"/>
              <a:t>beskriver en ønsket tilstand</a:t>
            </a:r>
            <a:r>
              <a:rPr lang="en-DK" dirty="0"/>
              <a:t> for din IT arkitektur.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Platformen forsøger at gøre den til virkelighed.</a:t>
            </a:r>
          </a:p>
          <a:p>
            <a:pPr marL="457200" lvl="1" indent="0">
              <a:buNone/>
            </a:pPr>
            <a:endParaRPr lang="en-DK" dirty="0"/>
          </a:p>
          <a:p>
            <a:r>
              <a:rPr lang="en-DK" dirty="0"/>
              <a:t>Docker Compose er: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Single-host orkestrering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Udvikler-fokuseret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Men… Begrænset scaling, load-balancing og self-healing.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Men… Hvis Docker hosten dør, er dine systemer bare nede.</a:t>
            </a:r>
          </a:p>
          <a:p>
            <a:pPr>
              <a:buFont typeface="Courier New" panose="02070309020205020404" pitchFamily="49" charset="0"/>
              <a:buChar char="o"/>
            </a:pPr>
            <a:endParaRPr lang="en-DK" dirty="0"/>
          </a:p>
          <a:p>
            <a:r>
              <a:rPr lang="en-DK" dirty="0"/>
              <a:t>Compose     = Deklarativ opstart af infrastruktur</a:t>
            </a:r>
          </a:p>
          <a:p>
            <a:r>
              <a:rPr lang="en-DK" dirty="0"/>
              <a:t>Kubernetes = Deklarativ </a:t>
            </a:r>
            <a:r>
              <a:rPr lang="en-DK" u="sng" dirty="0"/>
              <a:t>kontinuerlig drift</a:t>
            </a:r>
            <a:r>
              <a:rPr lang="en-DK" dirty="0"/>
              <a:t> af infrastruktur</a:t>
            </a:r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FA078691-EE60-C647-7410-99B41A490E31}"/>
              </a:ext>
            </a:extLst>
          </p:cNvPr>
          <p:cNvSpPr/>
          <p:nvPr/>
        </p:nvSpPr>
        <p:spPr>
          <a:xfrm>
            <a:off x="9207157" y="42064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09F8AC-F311-0230-2997-68549F7FB2A9}"/>
              </a:ext>
            </a:extLst>
          </p:cNvPr>
          <p:cNvSpPr txBox="1"/>
          <p:nvPr/>
        </p:nvSpPr>
        <p:spPr>
          <a:xfrm>
            <a:off x="7848566" y="2213319"/>
            <a:ext cx="4192859" cy="10772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network create my-network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volume create my-data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ocker run -d --network=mynet my-app</a:t>
            </a:r>
          </a:p>
          <a:p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B47B3F-09E3-65A2-4F8A-5B4F904F034B}"/>
              </a:ext>
            </a:extLst>
          </p:cNvPr>
          <p:cNvSpPr txBox="1"/>
          <p:nvPr/>
        </p:nvSpPr>
        <p:spPr>
          <a:xfrm>
            <a:off x="9319598" y="1876253"/>
            <a:ext cx="1555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Commands:</a:t>
            </a:r>
          </a:p>
        </p:txBody>
      </p:sp>
      <p:sp>
        <p:nvSpPr>
          <p:cNvPr id="7" name="Folded Corner 6">
            <a:extLst>
              <a:ext uri="{FF2B5EF4-FFF2-40B4-BE49-F238E27FC236}">
                <a16:creationId xmlns:a16="http://schemas.microsoft.com/office/drawing/2014/main" id="{16FD2180-D68B-5568-B4C3-8B7785A9C78E}"/>
              </a:ext>
            </a:extLst>
          </p:cNvPr>
          <p:cNvSpPr/>
          <p:nvPr/>
        </p:nvSpPr>
        <p:spPr>
          <a:xfrm>
            <a:off x="9359557" y="43588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8" name="Folded Corner 7">
            <a:extLst>
              <a:ext uri="{FF2B5EF4-FFF2-40B4-BE49-F238E27FC236}">
                <a16:creationId xmlns:a16="http://schemas.microsoft.com/office/drawing/2014/main" id="{A5B032BD-03E2-0909-390B-8D41ABC377E3}"/>
              </a:ext>
            </a:extLst>
          </p:cNvPr>
          <p:cNvSpPr/>
          <p:nvPr/>
        </p:nvSpPr>
        <p:spPr>
          <a:xfrm>
            <a:off x="9511957" y="45112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7B9F2-4A1F-04A1-B888-EBABAB34A96E}"/>
              </a:ext>
            </a:extLst>
          </p:cNvPr>
          <p:cNvSpPr txBox="1"/>
          <p:nvPr/>
        </p:nvSpPr>
        <p:spPr>
          <a:xfrm>
            <a:off x="9381860" y="3628502"/>
            <a:ext cx="990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VERSUS</a:t>
            </a:r>
          </a:p>
        </p:txBody>
      </p:sp>
    </p:spTree>
    <p:extLst>
      <p:ext uri="{BB962C8B-B14F-4D97-AF65-F5344CB8AC3E}">
        <p14:creationId xmlns:p14="http://schemas.microsoft.com/office/powerpoint/2010/main" val="2028106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01616-C8F5-E0FB-517D-7628002A2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er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B69C7-EAD7-6D5F-A326-169044F2CF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4050919"/>
          </a:xfrm>
        </p:spPr>
        <p:txBody>
          <a:bodyPr>
            <a:normAutofit/>
          </a:bodyPr>
          <a:lstStyle/>
          <a:p>
            <a:r>
              <a:rPr lang="en-DK" u="sng" dirty="0"/>
              <a:t>Et multi-node high-availability container runtime.</a:t>
            </a:r>
            <a:br>
              <a:rPr lang="en-DK" u="sng" dirty="0"/>
            </a:br>
            <a:endParaRPr lang="en-DK" u="sng" dirty="0"/>
          </a:p>
          <a:p>
            <a:r>
              <a:rPr lang="en-DK" dirty="0"/>
              <a:t>I forhold til Docker Compose får vi også:</a:t>
            </a:r>
          </a:p>
          <a:p>
            <a:pPr lvl="1"/>
            <a:r>
              <a:rPr lang="en-GB" b="1" dirty="0" err="1"/>
              <a:t>Orkestrering</a:t>
            </a:r>
            <a:r>
              <a:rPr lang="en-GB" dirty="0"/>
              <a:t>: Automatic management of containerized applications across multiple servers</a:t>
            </a:r>
          </a:p>
          <a:p>
            <a:pPr lvl="1"/>
            <a:r>
              <a:rPr lang="en-GB" b="1" dirty="0"/>
              <a:t>Service  &amp; Load Balancing</a:t>
            </a:r>
            <a:r>
              <a:rPr lang="en-GB" dirty="0"/>
              <a:t>: Automatic service detection and internal traffic distribution</a:t>
            </a:r>
          </a:p>
          <a:p>
            <a:pPr lvl="1"/>
            <a:r>
              <a:rPr lang="en-GB" b="1" dirty="0" err="1"/>
              <a:t>Automatiseret</a:t>
            </a:r>
            <a:r>
              <a:rPr lang="en-GB" b="1" dirty="0"/>
              <a:t> </a:t>
            </a:r>
            <a:r>
              <a:rPr lang="en-GB" b="1" dirty="0" err="1"/>
              <a:t>udrulning</a:t>
            </a:r>
            <a:r>
              <a:rPr lang="en-GB" dirty="0"/>
              <a:t>: Streamlined application rollouts, updates, and rollbacks</a:t>
            </a:r>
          </a:p>
          <a:p>
            <a:pPr lvl="1"/>
            <a:r>
              <a:rPr lang="en-GB" b="1" dirty="0"/>
              <a:t>Self-healing features</a:t>
            </a:r>
            <a:r>
              <a:rPr lang="en-GB" dirty="0"/>
              <a:t>: Continuously monitors health to automatically restart, replace, or reschedule failed containers, maintaining service uptime.</a:t>
            </a:r>
          </a:p>
          <a:p>
            <a:pPr lvl="1"/>
            <a:r>
              <a:rPr lang="en-GB" b="1" dirty="0" err="1"/>
              <a:t>Ressource</a:t>
            </a:r>
            <a:r>
              <a:rPr lang="en-GB" b="1" dirty="0"/>
              <a:t> </a:t>
            </a:r>
            <a:r>
              <a:rPr lang="en-GB" b="1" dirty="0" err="1"/>
              <a:t>styring</a:t>
            </a:r>
            <a:r>
              <a:rPr lang="en-GB" dirty="0"/>
              <a:t>: Optimization of CPU, memory, and storage usage through precise configuration and dynamic allocation, maximizing hardware utilization.</a:t>
            </a:r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6A2ABD-1B84-3930-21E4-8732C08D267B}"/>
              </a:ext>
            </a:extLst>
          </p:cNvPr>
          <p:cNvSpPr txBox="1"/>
          <p:nvPr/>
        </p:nvSpPr>
        <p:spPr>
          <a:xfrm>
            <a:off x="3303651" y="5461523"/>
            <a:ext cx="7919303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Kubernetes is a declarative control plane that continuously reconciles desired cluster state against actual runtime state.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18D7F1-B4E5-5B05-AD70-E30492142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392370" y="109668"/>
            <a:ext cx="2350516" cy="12014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F16FBD-60C0-8A1F-0CB6-FDBE5EC1C2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8045588" y="710397"/>
            <a:ext cx="2181455" cy="11150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F87D20-0DBB-A3FC-C466-7EB2E8E35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912348" y="1070537"/>
            <a:ext cx="2181455" cy="1115044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EF99A41-BBD2-3E00-05E1-04961A0D9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42" y="361222"/>
            <a:ext cx="1236223" cy="1201459"/>
          </a:xfrm>
          <a:prstGeom prst="rect">
            <a:avLst/>
          </a:prstGeom>
          <a:noFill/>
          <a:effectLst>
            <a:outerShdw blurRad="71843" dist="89017" dir="2700000" sx="104233" sy="104233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34D549BF-E6D8-164A-D1D2-F0B18B2649EB}"/>
              </a:ext>
            </a:extLst>
          </p:cNvPr>
          <p:cNvSpPr/>
          <p:nvPr/>
        </p:nvSpPr>
        <p:spPr>
          <a:xfrm>
            <a:off x="8720488" y="778801"/>
            <a:ext cx="770021" cy="510984"/>
          </a:xfrm>
          <a:custGeom>
            <a:avLst/>
            <a:gdLst>
              <a:gd name="csX0" fmla="*/ 0 w 770021"/>
              <a:gd name="csY0" fmla="*/ 510984 h 510984"/>
              <a:gd name="csX1" fmla="*/ 404261 w 770021"/>
              <a:gd name="csY1" fmla="*/ 20096 h 510984"/>
              <a:gd name="csX2" fmla="*/ 770021 w 770021"/>
              <a:gd name="csY2" fmla="*/ 125974 h 5109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70021" h="510984">
                <a:moveTo>
                  <a:pt x="0" y="510984"/>
                </a:moveTo>
                <a:cubicBezTo>
                  <a:pt x="137962" y="297624"/>
                  <a:pt x="275924" y="84264"/>
                  <a:pt x="404261" y="20096"/>
                </a:cubicBezTo>
                <a:cubicBezTo>
                  <a:pt x="532598" y="-44072"/>
                  <a:pt x="701040" y="60201"/>
                  <a:pt x="770021" y="125974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DE795248-9093-1144-5FA4-3DE6F70B75EB}"/>
              </a:ext>
            </a:extLst>
          </p:cNvPr>
          <p:cNvSpPr/>
          <p:nvPr/>
        </p:nvSpPr>
        <p:spPr>
          <a:xfrm>
            <a:off x="10616129" y="983710"/>
            <a:ext cx="722431" cy="710336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683F1A9-DD73-FD14-1CE8-78E425736D8C}"/>
              </a:ext>
            </a:extLst>
          </p:cNvPr>
          <p:cNvSpPr/>
          <p:nvPr/>
        </p:nvSpPr>
        <p:spPr>
          <a:xfrm>
            <a:off x="10357980" y="495172"/>
            <a:ext cx="516297" cy="343397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191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AD8-1D55-B56D-CD65-DB1D44CC7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3681"/>
            <a:ext cx="10515600" cy="1325563"/>
          </a:xfrm>
        </p:spPr>
        <p:txBody>
          <a:bodyPr/>
          <a:lstStyle/>
          <a:p>
            <a:r>
              <a:rPr lang="en-DK" dirty="0"/>
              <a:t>Kubernetes Cluster</a:t>
            </a:r>
          </a:p>
        </p:txBody>
      </p:sp>
      <p:pic>
        <p:nvPicPr>
          <p:cNvPr id="4098" name="Picture 2" descr="Kubernetes vs Docker - Kubernetes components. Kubernetes vs Docker">
            <a:extLst>
              <a:ext uri="{FF2B5EF4-FFF2-40B4-BE49-F238E27FC236}">
                <a16:creationId xmlns:a16="http://schemas.microsoft.com/office/drawing/2014/main" id="{36FFC76C-9A9F-F423-F94D-B27F0C86F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1541" y="1296367"/>
            <a:ext cx="7928918" cy="531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ECDFFA-55AC-3ED7-F3FF-275EE8011DA9}"/>
              </a:ext>
            </a:extLst>
          </p:cNvPr>
          <p:cNvSpPr txBox="1"/>
          <p:nvPr/>
        </p:nvSpPr>
        <p:spPr>
          <a:xfrm>
            <a:off x="6252084" y="1153745"/>
            <a:ext cx="22413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800" dirty="0"/>
              <a:t>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8AEEB-96C8-A2E7-720B-BD3ED79F0C8D}"/>
              </a:ext>
            </a:extLst>
          </p:cNvPr>
          <p:cNvSpPr txBox="1"/>
          <p:nvPr/>
        </p:nvSpPr>
        <p:spPr>
          <a:xfrm>
            <a:off x="5946952" y="4165373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DC6EC-0C42-F360-1D23-FB6D6D306B11}"/>
              </a:ext>
            </a:extLst>
          </p:cNvPr>
          <p:cNvSpPr txBox="1"/>
          <p:nvPr/>
        </p:nvSpPr>
        <p:spPr>
          <a:xfrm>
            <a:off x="1947745" y="4142197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1860166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02D8C-289F-E420-28DB-5D66C9DC8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Control Plane (“The Brain”)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21456-BEA4-5091-B7D8-C14FFEC8F2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710112"/>
          </a:xfrm>
        </p:spPr>
        <p:txBody>
          <a:bodyPr>
            <a:normAutofit fontScale="92500" lnSpcReduction="20000"/>
          </a:bodyPr>
          <a:lstStyle/>
          <a:p>
            <a:r>
              <a:rPr lang="en-DK" b="1" dirty="0"/>
              <a:t>kube-apiserver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Central API entrypoint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&amp; validates desired state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 components communicate through it </a:t>
            </a:r>
          </a:p>
          <a:p>
            <a:r>
              <a:rPr lang="en-DK" b="1" dirty="0"/>
              <a:t>etcd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Distributed cluster database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all cluster state/configuration </a:t>
            </a:r>
          </a:p>
          <a:p>
            <a:r>
              <a:rPr lang="en-DK" b="1" dirty="0"/>
              <a:t>kube-controller-manager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actual state matches desired state via “reconciliation loops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 </a:t>
            </a:r>
          </a:p>
          <a:p>
            <a:pPr lvl="2"/>
            <a:r>
              <a:rPr lang="en-DK" dirty="0"/>
              <a:t>Deployment controller </a:t>
            </a:r>
          </a:p>
          <a:p>
            <a:pPr lvl="2"/>
            <a:r>
              <a:rPr lang="en-DK" dirty="0"/>
              <a:t>Node controller </a:t>
            </a:r>
          </a:p>
          <a:p>
            <a:pPr lvl="2"/>
            <a:r>
              <a:rPr lang="en-DK" dirty="0"/>
              <a:t>ReplicaSet controller </a:t>
            </a:r>
          </a:p>
          <a:p>
            <a:r>
              <a:rPr lang="en-DK" b="1" dirty="0"/>
              <a:t>kube-scheduler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Decides </a:t>
            </a:r>
            <a:r>
              <a:rPr lang="en-DK" i="1" dirty="0"/>
              <a:t>where</a:t>
            </a:r>
            <a:r>
              <a:rPr lang="en-DK" dirty="0"/>
              <a:t> Pods should run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Considers: resources, affinity, taints/tolerations and more.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23688-B8E6-6214-23B3-53F8277F4F24}"/>
              </a:ext>
            </a:extLst>
          </p:cNvPr>
          <p:cNvSpPr txBox="1"/>
          <p:nvPr/>
        </p:nvSpPr>
        <p:spPr>
          <a:xfrm>
            <a:off x="8158942" y="601872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🧠</a:t>
            </a:r>
          </a:p>
        </p:txBody>
      </p:sp>
    </p:spTree>
    <p:extLst>
      <p:ext uri="{BB962C8B-B14F-4D97-AF65-F5344CB8AC3E}">
        <p14:creationId xmlns:p14="http://schemas.microsoft.com/office/powerpoint/2010/main" val="2030034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8D512-4A86-6EED-D1A5-F4FD06581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Worker Nodes (“The Muscle”)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FE6FA-DDC9-3B17-46F2-AB057E1F21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DK" b="1" dirty="0"/>
              <a:t>kubelet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Node agent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Pods are running correctly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Talks to API server – “What’s our state? What should I run?”</a:t>
            </a:r>
          </a:p>
          <a:p>
            <a:r>
              <a:rPr lang="en-DK" b="1" dirty="0"/>
              <a:t>Container Runtime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containerd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CRI-O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Responsible for: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pulling images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starting/stopping containers </a:t>
            </a:r>
          </a:p>
          <a:p>
            <a:r>
              <a:rPr lang="en-DK" b="1" dirty="0"/>
              <a:t>kube-proxy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Cluster networking/load balancing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 routing rules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174BA9-0A55-7769-995B-CE91C5DCF11F}"/>
              </a:ext>
            </a:extLst>
          </p:cNvPr>
          <p:cNvSpPr txBox="1"/>
          <p:nvPr/>
        </p:nvSpPr>
        <p:spPr>
          <a:xfrm>
            <a:off x="8660747" y="590720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2843846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18750-7BE5-890B-208A-8CA4034E8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05E5D-02E5-61D2-E6D2-EF168E4EBB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algn="l"/>
            <a:r>
              <a:rPr lang="en-GB" dirty="0"/>
              <a:t>The core of Kubernetes control plane is the </a:t>
            </a:r>
            <a:r>
              <a:rPr lang="en-GB" dirty="0">
                <a:hlinkClick r:id="rId2"/>
              </a:rPr>
              <a:t>API server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API server exposes an HTTP API that lets end-users, parts of your cluster, and external components communicate with one another.</a:t>
            </a:r>
            <a:br>
              <a:rPr lang="en-GB" dirty="0"/>
            </a:br>
            <a:endParaRPr lang="en-GB" dirty="0"/>
          </a:p>
          <a:p>
            <a:pPr algn="l"/>
            <a:r>
              <a:rPr lang="en-GB" dirty="0"/>
              <a:t>Query and manipulate the state of API objects in Kubernetes</a:t>
            </a:r>
          </a:p>
          <a:p>
            <a:pPr lvl="1"/>
            <a:r>
              <a:rPr lang="en-GB" dirty="0" err="1"/>
              <a:t>Fx</a:t>
            </a:r>
            <a:r>
              <a:rPr lang="en-GB" dirty="0"/>
              <a:t>. Namespaces, Deployments, Pods, </a:t>
            </a:r>
            <a:r>
              <a:rPr lang="en-GB" dirty="0" err="1"/>
              <a:t>ConfigMaps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These objects (or manifests) simply describes the desired state of the cluster.</a:t>
            </a:r>
          </a:p>
          <a:p>
            <a:pPr algn="l"/>
            <a:endParaRPr lang="en-GB" dirty="0"/>
          </a:p>
          <a:p>
            <a:pPr algn="l"/>
            <a:r>
              <a:rPr lang="en-GB" b="1" dirty="0" err="1">
                <a:solidFill>
                  <a:srgbClr val="005DE0"/>
                </a:solidFill>
              </a:rPr>
              <a:t>kubectl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is just an easy way to interact with API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784829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78323-5920-816F-6C41-5C70265B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Hvordan bruger man så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B3432-0AC5-C360-75A4-8C7EEDE327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CLI værktøjet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</a:p>
          <a:p>
            <a:pPr lvl="1"/>
            <a:r>
              <a:rPr lang="en-DK" dirty="0"/>
              <a:t>Meget ens med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</a:t>
            </a:r>
            <a:r>
              <a:rPr lang="en-DK" dirty="0"/>
              <a:t> og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 compose 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(cmds og flag)</a:t>
            </a:r>
          </a:p>
          <a:p>
            <a:endParaRPr lang="en-DK" dirty="0"/>
          </a:p>
          <a:p>
            <a:r>
              <a:rPr lang="en-DK" dirty="0"/>
              <a:t>Faktisk laver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DK" dirty="0"/>
              <a:t> bare API kald der opretter og redigerer dokumenter.</a:t>
            </a:r>
          </a:p>
          <a:p>
            <a:endParaRPr lang="en-DK" dirty="0"/>
          </a:p>
          <a:p>
            <a:r>
              <a:rPr lang="en-DK" sz="2800" dirty="0"/>
              <a:t>Lad os prøve at oprette en Deployment!</a:t>
            </a:r>
            <a:br>
              <a:rPr lang="en-DK" sz="2800" dirty="0"/>
            </a:br>
            <a:br>
              <a:rPr lang="en-DK" sz="2800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create deployment web --image=nginx</a:t>
            </a:r>
            <a:b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all -o wide</a:t>
            </a:r>
            <a:endParaRPr lang="en-DK" sz="28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68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 err="1"/>
              <a:t>Kubernetes</a:t>
            </a:r>
            <a:br>
              <a:rPr lang="da-DK" dirty="0"/>
            </a:br>
            <a:r>
              <a:rPr lang="da-DK" sz="3600" dirty="0"/>
              <a:t>CLI Demo</a:t>
            </a:r>
          </a:p>
          <a:p>
            <a:r>
              <a:rPr lang="da-DK" sz="2400" dirty="0">
                <a:solidFill>
                  <a:srgbClr val="005DE0"/>
                </a:solidFill>
              </a:rPr>
              <a:t>Appetitvækker</a:t>
            </a:r>
          </a:p>
        </p:txBody>
      </p:sp>
    </p:spTree>
    <p:extLst>
      <p:ext uri="{BB962C8B-B14F-4D97-AF65-F5344CB8AC3E}">
        <p14:creationId xmlns:p14="http://schemas.microsoft.com/office/powerpoint/2010/main" val="237047530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9E1D-F72D-C25C-ED0E-EE93C3603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2. Demo – Smagsprøve på k8s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0A9C0-C8AA-0235-10F5-1A1C3B59B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Let’s create a Deployment and mess </a:t>
            </a:r>
            <a:r>
              <a:rPr lang="en-GB" dirty="0" err="1"/>
              <a:t>wi</a:t>
            </a:r>
            <a:r>
              <a:rPr lang="en-DK" dirty="0"/>
              <a:t>th it!</a:t>
            </a:r>
          </a:p>
          <a:p>
            <a:pPr marL="457200" lvl="1" indent="0">
              <a:buNone/>
            </a:pPr>
            <a:r>
              <a:rPr lang="en-DK" dirty="0"/>
              <a:t>Deployment </a:t>
            </a:r>
            <a:r>
              <a:rPr lang="en-DK" dirty="0">
                <a:sym typeface="Wingdings" pitchFamily="2" charset="2"/>
              </a:rPr>
              <a:t> ReplicaSet  Pod</a:t>
            </a:r>
          </a:p>
          <a:p>
            <a:pPr marL="457200" lvl="1" indent="0">
              <a:buNone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Destroy stuff and watch Kubernetes reconcile 😈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Let’s horizontally scale our Deployment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Zero-downtime changes (</a:t>
            </a:r>
            <a:r>
              <a:rPr lang="en-DK" dirty="0">
                <a:solidFill>
                  <a:srgbClr val="FF0000"/>
                </a:solidFill>
              </a:rPr>
              <a:t>FJERNES?</a:t>
            </a:r>
            <a:r>
              <a:rPr lang="en-DK" dirty="0"/>
              <a:t>)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Reach a container from our browser</a:t>
            </a:r>
          </a:p>
          <a:p>
            <a:pPr marL="0" indent="0">
              <a:buNone/>
            </a:pP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8374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3DC07-C2A9-85B8-C699-182DA18B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Manifests (YAML)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F301F-8CD3-E01C-146D-9B94F70184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9"/>
            <a:ext cx="10981691" cy="4442516"/>
          </a:xfrm>
        </p:spPr>
        <p:txBody>
          <a:bodyPr/>
          <a:lstStyle/>
          <a:p>
            <a:r>
              <a:rPr lang="en-DK" dirty="0"/>
              <a:t>YAML manifests are the documents describing our desired state.</a:t>
            </a:r>
          </a:p>
          <a:p>
            <a:endParaRPr lang="en-DK" dirty="0"/>
          </a:p>
          <a:p>
            <a:r>
              <a:rPr lang="en-DK" dirty="0"/>
              <a:t>Let’s look at a Manifest (YAML) for one of our objects.</a:t>
            </a:r>
          </a:p>
          <a:p>
            <a:endParaRPr lang="en-DK" dirty="0"/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# From imperative to declarative</a:t>
            </a:r>
          </a:p>
          <a:p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ubectl create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deployment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… 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deploy –o yaml &gt; deploy.yml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  <a:sym typeface="Wingdings" pitchFamily="2" charset="2"/>
            </a:endParaRP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# From gone to re-applied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</a:b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delete deployment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… 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apply deploy.yml</a:t>
            </a:r>
            <a:endParaRPr lang="en-DK" sz="22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1295086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35425-810D-1386-0EBD-F83E09B41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960-614A-C839-088C-B2801986E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Namespaces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BB43B7-46E7-9476-0BC8-9193AD7F08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Logisk opdeling af ressourcer (aka. </a:t>
            </a:r>
            <a:r>
              <a:rPr lang="en-GB" dirty="0"/>
              <a:t>L</a:t>
            </a:r>
            <a:r>
              <a:rPr lang="en-DK" dirty="0"/>
              <a:t>abeled fence).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/>
              <a:t>Optionally:</a:t>
            </a:r>
          </a:p>
          <a:p>
            <a:r>
              <a:rPr lang="en-DK" dirty="0"/>
              <a:t>Group-wide resource limits.</a:t>
            </a:r>
          </a:p>
          <a:p>
            <a:r>
              <a:rPr lang="en-DK" dirty="0"/>
              <a:t>Role-based access policy.</a:t>
            </a:r>
          </a:p>
          <a:p>
            <a:r>
              <a:rPr lang="en-DK" dirty="0"/>
              <a:t>Network separation.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7BBD9A-4C82-4A3D-87B8-41CF9F2564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81" t="15919" r="13783" b="22800"/>
          <a:stretch>
            <a:fillRect/>
          </a:stretch>
        </p:blipFill>
        <p:spPr>
          <a:xfrm>
            <a:off x="4946991" y="2363384"/>
            <a:ext cx="6895981" cy="3836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075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</a:t>
            </a:r>
            <a:r>
              <a:rPr lang="en-GB" dirty="0"/>
              <a:t>h</a:t>
            </a:r>
            <a:r>
              <a:rPr lang="en-DK" dirty="0"/>
              <a:t>at is a Pod?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837312" cy="4442517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“Pods are the </a:t>
            </a:r>
            <a:r>
              <a:rPr lang="en-GB" b="1" dirty="0"/>
              <a:t>smallest deployable unit </a:t>
            </a:r>
            <a:r>
              <a:rPr lang="en-GB" dirty="0"/>
              <a:t>you can create and manage in Kubernetes.”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er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der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som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enhed</a:t>
            </a:r>
            <a:r>
              <a:rPr lang="en-GB" dirty="0"/>
              <a:t>. De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samme</a:t>
            </a:r>
            <a:r>
              <a:rPr lang="en-GB" dirty="0"/>
              <a:t> “</a:t>
            </a:r>
            <a:r>
              <a:rPr lang="en-GB" dirty="0" err="1"/>
              <a:t>kravlegård</a:t>
            </a:r>
            <a:r>
              <a:rPr lang="en-GB" dirty="0"/>
              <a:t>” </a:t>
            </a:r>
            <a:r>
              <a:rPr lang="en-GB" dirty="0" err="1"/>
              <a:t>ift</a:t>
            </a:r>
            <a:r>
              <a:rPr lang="en-GB" dirty="0"/>
              <a:t>. </a:t>
            </a:r>
            <a:r>
              <a:rPr lang="en-GB" dirty="0" err="1"/>
              <a:t>ressourcer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deler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intern IP </a:t>
            </a:r>
            <a:r>
              <a:rPr lang="en-GB" dirty="0" err="1"/>
              <a:t>adresse</a:t>
            </a:r>
            <a:r>
              <a:rPr lang="en-GB" dirty="0"/>
              <a:t>.</a:t>
            </a:r>
          </a:p>
          <a:p>
            <a:pPr algn="l"/>
            <a:endParaRPr lang="en-GB" dirty="0"/>
          </a:p>
          <a:p>
            <a:pPr algn="l"/>
            <a:r>
              <a:rPr lang="en-GB" dirty="0" err="1"/>
              <a:t>Hver</a:t>
            </a:r>
            <a:r>
              <a:rPr lang="en-GB" dirty="0"/>
              <a:t> container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hvert</a:t>
            </a:r>
            <a:r>
              <a:rPr lang="en-GB" dirty="0"/>
              <a:t> </a:t>
            </a:r>
            <a:r>
              <a:rPr lang="en-GB" dirty="0" err="1"/>
              <a:t>deres</a:t>
            </a:r>
            <a:r>
              <a:rPr lang="en-GB" dirty="0"/>
              <a:t> </a:t>
            </a:r>
            <a:r>
              <a:rPr lang="en-GB" dirty="0" err="1"/>
              <a:t>filsystem</a:t>
            </a:r>
            <a:r>
              <a:rPr lang="en-GB" dirty="0"/>
              <a:t>, men </a:t>
            </a:r>
            <a:r>
              <a:rPr lang="en-GB" dirty="0" err="1"/>
              <a:t>kan</a:t>
            </a:r>
            <a:r>
              <a:rPr lang="en-GB" dirty="0"/>
              <a:t> dele </a:t>
            </a:r>
            <a:r>
              <a:rPr lang="en-GB" dirty="0" err="1"/>
              <a:t>enkelte</a:t>
            </a:r>
            <a:r>
              <a:rPr lang="en-GB" dirty="0"/>
              <a:t> mounts.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altid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normale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– </a:t>
            </a:r>
            <a:r>
              <a:rPr lang="en-GB" dirty="0" err="1"/>
              <a:t>Oftest</a:t>
            </a:r>
            <a:r>
              <a:rPr lang="en-GB" dirty="0"/>
              <a:t> bare 1.</a:t>
            </a:r>
          </a:p>
          <a:p>
            <a:pPr lvl="1"/>
            <a:r>
              <a:rPr lang="en-GB" dirty="0"/>
              <a:t>Kan </a:t>
            </a:r>
            <a:r>
              <a:rPr lang="en-GB" dirty="0" err="1"/>
              <a:t>også</a:t>
            </a:r>
            <a:r>
              <a:rPr lang="en-GB" dirty="0"/>
              <a:t> have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b="1" dirty="0" err="1"/>
              <a:t>init</a:t>
            </a:r>
            <a:r>
              <a:rPr lang="en-GB" b="1" dirty="0"/>
              <a:t> containers</a:t>
            </a:r>
            <a:r>
              <a:rPr lang="en-GB" dirty="0"/>
              <a:t>, </a:t>
            </a:r>
            <a:r>
              <a:rPr lang="en-GB" dirty="0" err="1"/>
              <a:t>en</a:t>
            </a:r>
            <a:r>
              <a:rPr lang="en-GB" dirty="0"/>
              <a:t> container der </a:t>
            </a:r>
            <a:r>
              <a:rPr lang="en-GB" dirty="0" err="1"/>
              <a:t>skal</a:t>
            </a:r>
            <a:r>
              <a:rPr lang="en-GB" dirty="0"/>
              <a:t> </a:t>
            </a:r>
            <a:r>
              <a:rPr lang="en-GB" dirty="0" err="1"/>
              <a:t>køre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exit </a:t>
            </a:r>
            <a:r>
              <a:rPr lang="en-GB" dirty="0" err="1"/>
              <a:t>uden</a:t>
            </a:r>
            <a:r>
              <a:rPr lang="en-GB" dirty="0"/>
              <a:t> </a:t>
            </a:r>
            <a:r>
              <a:rPr lang="en-GB" dirty="0" err="1"/>
              <a:t>fejl</a:t>
            </a:r>
            <a:r>
              <a:rPr lang="en-GB" dirty="0"/>
              <a:t> </a:t>
            </a:r>
            <a:r>
              <a:rPr lang="en-GB" dirty="0" err="1"/>
              <a:t>før</a:t>
            </a:r>
            <a:r>
              <a:rPr lang="en-GB" dirty="0"/>
              <a:t> de </a:t>
            </a:r>
            <a:r>
              <a:rPr lang="en-GB" dirty="0" err="1"/>
              <a:t>normale</a:t>
            </a:r>
            <a:r>
              <a:rPr lang="en-GB" dirty="0"/>
              <a:t> starter.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477324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8880C9-FF6F-6E89-5436-7E96866C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" t="15766" r="2858" b="3870"/>
          <a:stretch>
            <a:fillRect/>
          </a:stretch>
        </p:blipFill>
        <p:spPr>
          <a:xfrm>
            <a:off x="1172816" y="635228"/>
            <a:ext cx="9846367" cy="558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56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>
            <a:extLst>
              <a:ext uri="{FF2B5EF4-FFF2-40B4-BE49-F238E27FC236}">
                <a16:creationId xmlns:a16="http://schemas.microsoft.com/office/drawing/2014/main" id="{A8FB90F8-23B0-55FD-D3DF-C32CBB93AC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1696" y="1986448"/>
            <a:ext cx="3304892" cy="27615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D502531-CA05-6F17-A308-64E2058C4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Pod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6733-AF53-51A2-2C1C-AE19630417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044449" cy="480218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DK" dirty="0"/>
              <a:t>Manifests describe a desired “state” of the cluster.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/>
              <a:t>This manifest says:</a:t>
            </a:r>
          </a:p>
          <a:p>
            <a:r>
              <a:rPr lang="en-DK" dirty="0"/>
              <a:t>A </a:t>
            </a:r>
            <a:r>
              <a:rPr lang="en-DK" b="1" dirty="0"/>
              <a:t>Pod</a:t>
            </a:r>
            <a:r>
              <a:rPr lang="en-DK" dirty="0"/>
              <a:t> should exist</a:t>
            </a:r>
            <a:br>
              <a:rPr lang="en-DK" dirty="0"/>
            </a:br>
            <a:endParaRPr lang="en-DK" dirty="0"/>
          </a:p>
          <a:p>
            <a:r>
              <a:rPr lang="en-DK" dirty="0"/>
              <a:t>It should be named </a:t>
            </a:r>
            <a:r>
              <a:rPr lang="en-DK" b="1" dirty="0"/>
              <a:t>nginx</a:t>
            </a:r>
            <a:br>
              <a:rPr lang="en-DK" b="1" dirty="0"/>
            </a:br>
            <a:br>
              <a:rPr lang="en-DK" b="1" dirty="0"/>
            </a:br>
            <a:endParaRPr lang="en-DK" dirty="0"/>
          </a:p>
          <a:p>
            <a:r>
              <a:rPr lang="en-DK" dirty="0"/>
              <a:t>It should have a container </a:t>
            </a:r>
            <a:r>
              <a:rPr lang="en-DK" b="1" dirty="0"/>
              <a:t>also named nginx</a:t>
            </a:r>
            <a:br>
              <a:rPr lang="en-DK" b="1" dirty="0"/>
            </a:br>
            <a:endParaRPr lang="en-DK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This container should use the</a:t>
            </a:r>
            <a:br>
              <a:rPr lang="en-DK" dirty="0"/>
            </a:br>
            <a:r>
              <a:rPr lang="en-DK" dirty="0"/>
              <a:t>Container image </a:t>
            </a:r>
            <a:r>
              <a:rPr lang="en-DK" b="1" dirty="0"/>
              <a:t>nginx </a:t>
            </a:r>
            <a:r>
              <a:rPr lang="en-DK" dirty="0"/>
              <a:t>tag</a:t>
            </a:r>
            <a:r>
              <a:rPr lang="en-DK" b="1" dirty="0"/>
              <a:t> “1.14.2”</a:t>
            </a:r>
            <a:br>
              <a:rPr lang="en-DK" b="1" dirty="0"/>
            </a:b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Like Docker, default repository is </a:t>
            </a:r>
            <a:r>
              <a:rPr lang="en-GB" dirty="0">
                <a:hlinkClick r:id="rId3"/>
              </a:rPr>
              <a:t>hub.docker.com</a:t>
            </a:r>
            <a:endParaRPr lang="en-DK" dirty="0"/>
          </a:p>
          <a:p>
            <a:pPr lvl="1"/>
            <a:endParaRPr lang="en-DK" dirty="0"/>
          </a:p>
        </p:txBody>
      </p:sp>
      <p:cxnSp>
        <p:nvCxnSpPr>
          <p:cNvPr id="4" name="Elbow Connector 3">
            <a:extLst>
              <a:ext uri="{FF2B5EF4-FFF2-40B4-BE49-F238E27FC236}">
                <a16:creationId xmlns:a16="http://schemas.microsoft.com/office/drawing/2014/main" id="{DB08FAB7-ED56-8596-CBB9-9F0EA545151C}"/>
              </a:ext>
            </a:extLst>
          </p:cNvPr>
          <p:cNvCxnSpPr>
            <a:cxnSpLocks/>
          </p:cNvCxnSpPr>
          <p:nvPr/>
        </p:nvCxnSpPr>
        <p:spPr>
          <a:xfrm flipV="1">
            <a:off x="3496962" y="2533135"/>
            <a:ext cx="4732638" cy="469557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552FD938-CFB8-88CC-A153-72B8A552AC6E}"/>
              </a:ext>
            </a:extLst>
          </p:cNvPr>
          <p:cNvCxnSpPr>
            <a:cxnSpLocks/>
          </p:cNvCxnSpPr>
          <p:nvPr/>
        </p:nvCxnSpPr>
        <p:spPr>
          <a:xfrm flipV="1">
            <a:off x="4374292" y="3225114"/>
            <a:ext cx="4040659" cy="481913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6F59067E-885E-4266-ED6E-D05491477E25}"/>
              </a:ext>
            </a:extLst>
          </p:cNvPr>
          <p:cNvCxnSpPr>
            <a:cxnSpLocks/>
          </p:cNvCxnSpPr>
          <p:nvPr/>
        </p:nvCxnSpPr>
        <p:spPr>
          <a:xfrm flipV="1">
            <a:off x="6709719" y="4250724"/>
            <a:ext cx="1717589" cy="444844"/>
          </a:xfrm>
          <a:prstGeom prst="bentConnector3">
            <a:avLst>
              <a:gd name="adj1" fmla="val 50000"/>
            </a:avLst>
          </a:prstGeom>
          <a:ln w="28575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6747A4A4-668B-D68F-58A8-EE632ACF2A37}"/>
              </a:ext>
            </a:extLst>
          </p:cNvPr>
          <p:cNvCxnSpPr>
            <a:cxnSpLocks/>
          </p:cNvCxnSpPr>
          <p:nvPr/>
        </p:nvCxnSpPr>
        <p:spPr>
          <a:xfrm flipV="1">
            <a:off x="5313405" y="4584700"/>
            <a:ext cx="3422822" cy="988197"/>
          </a:xfrm>
          <a:prstGeom prst="bentConnector3">
            <a:avLst>
              <a:gd name="adj1" fmla="val 72383"/>
            </a:avLst>
          </a:prstGeom>
          <a:ln w="28575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4465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2F636-7244-0E71-F685-E7289B0D1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What is a Deployment?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66593-0B01-7CD6-E5C3-AF8C5AD67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A Deployment provides declarative updates for </a:t>
            </a:r>
            <a:r>
              <a:rPr lang="en-GB" dirty="0">
                <a:hlinkClick r:id="rId2"/>
              </a:rPr>
              <a:t>Pods</a:t>
            </a:r>
            <a:r>
              <a:rPr lang="en-GB" dirty="0"/>
              <a:t> and </a:t>
            </a:r>
            <a:r>
              <a:rPr lang="en-GB" dirty="0">
                <a:hlinkClick r:id="rId3"/>
              </a:rPr>
              <a:t>ReplicaSets</a:t>
            </a:r>
            <a:r>
              <a:rPr lang="en-GB" dirty="0"/>
              <a:t>.</a:t>
            </a:r>
          </a:p>
          <a:p>
            <a:endParaRPr lang="en-GB" dirty="0"/>
          </a:p>
          <a:p>
            <a:pPr algn="l"/>
            <a:r>
              <a:rPr lang="en-GB" dirty="0"/>
              <a:t>A </a:t>
            </a:r>
            <a:r>
              <a:rPr lang="en-GB" b="1" dirty="0" err="1"/>
              <a:t>ReplicaSet</a:t>
            </a:r>
            <a:r>
              <a:rPr lang="en-GB" dirty="0"/>
              <a:t> must maintain a stable set of replicas of the same Pod.</a:t>
            </a:r>
          </a:p>
          <a:p>
            <a:pPr lvl="1"/>
            <a:r>
              <a:rPr lang="en-GB" dirty="0"/>
              <a:t>Replicas must be running at any given time (self-correcting).</a:t>
            </a:r>
          </a:p>
          <a:p>
            <a:pPr lvl="1"/>
            <a:r>
              <a:rPr lang="en-GB" dirty="0"/>
              <a:t>Used to guarantee availability of a specified number of identical Pods.</a:t>
            </a:r>
            <a:br>
              <a:rPr lang="en-GB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861686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961F-E50D-9EE5-81B5-48ECBEAAC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Deployment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6D830-E3C6-072D-D779-CF3A8DF96D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429500" cy="44425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This manifest says:</a:t>
            </a:r>
          </a:p>
          <a:p>
            <a:r>
              <a:rPr lang="en-DK" dirty="0"/>
              <a:t>The </a:t>
            </a:r>
            <a:r>
              <a:rPr lang="en-DK" b="1" dirty="0"/>
              <a:t>Deployment </a:t>
            </a:r>
            <a:r>
              <a:rPr lang="en-DK" dirty="0"/>
              <a:t>is called "nginx-deployment"</a:t>
            </a:r>
          </a:p>
          <a:p>
            <a:pPr lvl="1"/>
            <a:r>
              <a:rPr lang="en-GB" dirty="0"/>
              <a:t>I</a:t>
            </a:r>
            <a:r>
              <a:rPr lang="en-DK" dirty="0"/>
              <a:t>t should contain 3 identical </a:t>
            </a:r>
            <a:r>
              <a:rPr lang="en-DK" b="1" dirty="0"/>
              <a:t>Pods</a:t>
            </a:r>
          </a:p>
          <a:p>
            <a:pPr lvl="1"/>
            <a:r>
              <a:rPr lang="en-GB" dirty="0"/>
              <a:t>It identifies its “owned” Pods</a:t>
            </a:r>
            <a:br>
              <a:rPr lang="en-GB" dirty="0"/>
            </a:br>
            <a:r>
              <a:rPr lang="en-GB" dirty="0"/>
              <a:t>by matching the label </a:t>
            </a:r>
            <a:r>
              <a:rPr lang="en-GB" b="1" dirty="0"/>
              <a:t>app = nginx</a:t>
            </a:r>
            <a:br>
              <a:rPr lang="en-GB" b="1" dirty="0"/>
            </a:br>
            <a:br>
              <a:rPr lang="en-DK" b="1" dirty="0"/>
            </a:br>
            <a:endParaRPr lang="en-DK" dirty="0"/>
          </a:p>
          <a:p>
            <a:r>
              <a:rPr lang="en-DK" dirty="0"/>
              <a:t>All 3 Pods should be created from the same template</a:t>
            </a:r>
          </a:p>
          <a:p>
            <a:pPr lvl="1"/>
            <a:r>
              <a:rPr lang="en-DK" dirty="0"/>
              <a:t>Each Pod has the label </a:t>
            </a:r>
            <a:r>
              <a:rPr lang="en-DK" b="1" dirty="0"/>
              <a:t>app = nginx</a:t>
            </a:r>
            <a:endParaRPr lang="en-DK" dirty="0"/>
          </a:p>
          <a:p>
            <a:pPr lvl="1"/>
            <a:r>
              <a:rPr lang="en-DK" dirty="0"/>
              <a:t>Template says each Pod has 1 container</a:t>
            </a:r>
            <a:br>
              <a:rPr lang="en-DK" dirty="0"/>
            </a:br>
            <a:r>
              <a:rPr lang="en-DK" dirty="0"/>
              <a:t>using </a:t>
            </a:r>
            <a:r>
              <a:rPr lang="en-DK" b="1" dirty="0"/>
              <a:t>nginx:1.14.2 </a:t>
            </a:r>
            <a:r>
              <a:rPr lang="en-DK" dirty="0"/>
              <a:t>image</a:t>
            </a:r>
          </a:p>
          <a:p>
            <a:pPr lvl="1"/>
            <a:endParaRPr lang="en-DK" dirty="0"/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D9DD8-701E-5206-6D0F-68E4242299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85" t="17855" r="1628"/>
          <a:stretch>
            <a:fillRect/>
          </a:stretch>
        </p:blipFill>
        <p:spPr>
          <a:xfrm>
            <a:off x="8267632" y="947293"/>
            <a:ext cx="3086100" cy="518591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228F07ED-B4E2-9FA4-C9AC-3D615C3EDF1E}"/>
              </a:ext>
            </a:extLst>
          </p:cNvPr>
          <p:cNvCxnSpPr>
            <a:cxnSpLocks/>
          </p:cNvCxnSpPr>
          <p:nvPr/>
        </p:nvCxnSpPr>
        <p:spPr>
          <a:xfrm>
            <a:off x="5105400" y="2714625"/>
            <a:ext cx="3429000" cy="375790"/>
          </a:xfrm>
          <a:prstGeom prst="bentConnector3">
            <a:avLst>
              <a:gd name="adj1" fmla="val 76944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0D21C8AA-4490-622C-E399-2CB36D62B5AE}"/>
              </a:ext>
            </a:extLst>
          </p:cNvPr>
          <p:cNvCxnSpPr>
            <a:cxnSpLocks/>
          </p:cNvCxnSpPr>
          <p:nvPr/>
        </p:nvCxnSpPr>
        <p:spPr>
          <a:xfrm flipV="1">
            <a:off x="6948487" y="1981200"/>
            <a:ext cx="1585913" cy="374937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21F9F4C3-7685-7F3A-E335-14B164CA9F76}"/>
              </a:ext>
            </a:extLst>
          </p:cNvPr>
          <p:cNvCxnSpPr>
            <a:cxnSpLocks/>
          </p:cNvCxnSpPr>
          <p:nvPr/>
        </p:nvCxnSpPr>
        <p:spPr>
          <a:xfrm>
            <a:off x="5276850" y="4676775"/>
            <a:ext cx="3886200" cy="266700"/>
          </a:xfrm>
          <a:prstGeom prst="bentConnector3">
            <a:avLst>
              <a:gd name="adj1" fmla="val 68627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515C8399-6A04-A797-8D8A-191C97138668}"/>
              </a:ext>
            </a:extLst>
          </p:cNvPr>
          <p:cNvCxnSpPr>
            <a:cxnSpLocks/>
          </p:cNvCxnSpPr>
          <p:nvPr/>
        </p:nvCxnSpPr>
        <p:spPr>
          <a:xfrm>
            <a:off x="4267200" y="5286375"/>
            <a:ext cx="4933950" cy="752475"/>
          </a:xfrm>
          <a:prstGeom prst="bentConnector3">
            <a:avLst>
              <a:gd name="adj1" fmla="val 77027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4D30CC61-9085-726A-2FB6-12177645E297}"/>
              </a:ext>
            </a:extLst>
          </p:cNvPr>
          <p:cNvCxnSpPr>
            <a:cxnSpLocks/>
          </p:cNvCxnSpPr>
          <p:nvPr/>
        </p:nvCxnSpPr>
        <p:spPr>
          <a:xfrm>
            <a:off x="5162550" y="3333750"/>
            <a:ext cx="3590925" cy="276225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389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F09A0-5356-C8A0-9E54-858EC42F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4116DA8-0C0C-6DD5-9601-C911D2345A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3.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8921C93-43F1-9C31-D61E-07D43B44A8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b="1" dirty="0" err="1"/>
              <a:t>Exercise</a:t>
            </a:r>
            <a:r>
              <a:rPr lang="da-DK" dirty="0"/>
              <a:t>:</a:t>
            </a:r>
            <a:br>
              <a:rPr lang="da-DK" dirty="0"/>
            </a:br>
            <a:r>
              <a:rPr lang="da-DK" dirty="0"/>
              <a:t>Deployments &amp; </a:t>
            </a:r>
            <a:r>
              <a:rPr lang="da-DK" dirty="0" err="1"/>
              <a:t>Pods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886160789"/>
      </p:ext>
    </p:extLst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C70DD-688B-711D-5120-8EF8FEA2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Setup a local Kubernetes cluster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2ED35-65E3-ADE1-8425-62C77CB78A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Windows: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GB" dirty="0"/>
              <a:t>k</a:t>
            </a:r>
            <a:r>
              <a:rPr lang="en-DK" dirty="0"/>
              <a:t>ind (choco install)</a:t>
            </a:r>
            <a:br>
              <a:rPr lang="en-DK" dirty="0"/>
            </a:br>
            <a:endParaRPr lang="en-DK" dirty="0"/>
          </a:p>
          <a:p>
            <a:r>
              <a:rPr lang="en-GB" dirty="0"/>
              <a:t>Linux / Mac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DK" dirty="0"/>
              <a:t>kind</a:t>
            </a:r>
            <a:endParaRPr lang="en-GB" dirty="0"/>
          </a:p>
          <a:p>
            <a:pPr lvl="1"/>
            <a:r>
              <a:rPr lang="en-GB" dirty="0"/>
              <a:t>k</a:t>
            </a:r>
            <a:r>
              <a:rPr lang="en-DK" dirty="0"/>
              <a:t>3d</a:t>
            </a:r>
          </a:p>
          <a:p>
            <a:pPr lvl="1"/>
            <a:endParaRPr lang="en-DK" dirty="0"/>
          </a:p>
          <a:p>
            <a:r>
              <a:rPr lang="en-DK" dirty="0"/>
              <a:t>Have the docs at hand!</a:t>
            </a:r>
          </a:p>
          <a:p>
            <a:pPr lvl="1"/>
            <a:r>
              <a:rPr lang="en-GB" dirty="0">
                <a:hlinkClick r:id="rId3"/>
              </a:rPr>
              <a:t>https://kubernetes.io/docs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ChatGPT or similar LLM knows lots about Kubernetes!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54348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92848-06E7-EDA7-70E7-E8385E224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Workshop Repo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57ED57-886A-B59D-5F7A-D3216F9A56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Sørg for at Kubernetes kører lokalt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Tjek at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nodes</a:t>
            </a:r>
            <a:r>
              <a:rPr lang="en-DK" dirty="0"/>
              <a:t> virker og viser din egen maskine som node.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Hent repo ned </a:t>
            </a:r>
            <a:r>
              <a:rPr lang="en-DK" dirty="0">
                <a:hlinkClick r:id="rId3"/>
              </a:rPr>
              <a:t>https://github.com/notalib/workshop-kubernetes</a:t>
            </a:r>
            <a:r>
              <a:rPr lang="en-DK" dirty="0"/>
              <a:t> 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GB" b="1" dirty="0"/>
              <a:t>setup/</a:t>
            </a:r>
            <a:r>
              <a:rPr lang="en-GB" b="1" dirty="0" err="1"/>
              <a:t>README.md</a:t>
            </a:r>
            <a:r>
              <a:rPr lang="en-GB" b="1" dirty="0"/>
              <a:t> </a:t>
            </a:r>
            <a:r>
              <a:rPr lang="en-GB" dirty="0"/>
              <a:t>for at </a:t>
            </a:r>
            <a:r>
              <a:rPr lang="en-GB" dirty="0" err="1"/>
              <a:t>få</a:t>
            </a:r>
            <a:r>
              <a:rPr lang="en-GB" dirty="0"/>
              <a:t> </a:t>
            </a:r>
            <a:r>
              <a:rPr lang="en-GB" dirty="0" err="1"/>
              <a:t>lokalt</a:t>
            </a:r>
            <a:r>
              <a:rPr lang="en-GB" dirty="0"/>
              <a:t> cluster op at </a:t>
            </a:r>
            <a:r>
              <a:rPr lang="en-GB" dirty="0" err="1"/>
              <a:t>køre</a:t>
            </a:r>
            <a:r>
              <a:rPr lang="en-GB" dirty="0"/>
              <a:t>.</a:t>
            </a:r>
            <a:endParaRPr lang="en-GB" b="1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DK" b="1" dirty="0"/>
              <a:t>1-deployments-pods/README.md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Først kører vi tingene via kommandoer (</a:t>
            </a:r>
            <a:r>
              <a:rPr lang="en-DK" u="sng" dirty="0"/>
              <a:t>imperative</a:t>
            </a:r>
            <a:r>
              <a:rPr lang="en-DK" dirty="0"/>
              <a:t>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Så skriver vi det samme som manifester (</a:t>
            </a:r>
            <a:r>
              <a:rPr lang="en-DK" u="sng" dirty="0"/>
              <a:t>declarative</a:t>
            </a:r>
            <a:r>
              <a:rPr lang="en-DK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0651505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5B93F-12BD-9BD2-F908-EF3E43E1E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07E87-95A9-C552-BEF9-02958CA8D5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800" dirty="0"/>
              <a:t>Hvad lærte vi?</a:t>
            </a:r>
          </a:p>
          <a:p>
            <a:endParaRPr lang="en-DK" sz="2800" dirty="0"/>
          </a:p>
          <a:p>
            <a:r>
              <a:rPr lang="en-DK" sz="2800" dirty="0"/>
              <a:t>Hvad var svært?</a:t>
            </a:r>
          </a:p>
          <a:p>
            <a:endParaRPr lang="en-DK" sz="2800" dirty="0"/>
          </a:p>
          <a:p>
            <a:r>
              <a:rPr lang="en-DK" sz="2800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4159634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263173" cy="2884543"/>
          </a:xfrm>
        </p:spPr>
        <p:txBody>
          <a:bodyPr/>
          <a:lstStyle/>
          <a:p>
            <a:r>
              <a:rPr lang="da-DK" dirty="0" err="1"/>
              <a:t>Exposing</a:t>
            </a:r>
            <a:r>
              <a:rPr lang="da-DK" dirty="0"/>
              <a:t> containers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4022848075"/>
      </p:ext>
    </p:extLst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E1C57-3D62-40F2-B494-24DC79233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A22000-0FCF-6A51-C10A-51DAFDC423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555591" cy="4442517"/>
          </a:xfrm>
        </p:spPr>
        <p:txBody>
          <a:bodyPr/>
          <a:lstStyle/>
          <a:p>
            <a:r>
              <a:rPr lang="en-DK" dirty="0"/>
              <a:t>One stable DNS name &amp; IP for one type of Pod(s)</a:t>
            </a:r>
            <a:br>
              <a:rPr lang="en-DK" dirty="0"/>
            </a:br>
            <a:endParaRPr lang="en-DK" dirty="0"/>
          </a:p>
          <a:p>
            <a:r>
              <a:rPr lang="en-DK" dirty="0"/>
              <a:t>Query-based binding between a service-name</a:t>
            </a:r>
            <a:br>
              <a:rPr lang="en-DK" dirty="0"/>
            </a:br>
            <a:r>
              <a:rPr lang="en-DK" dirty="0"/>
              <a:t>and Pod workloads</a:t>
            </a:r>
            <a:br>
              <a:rPr lang="en-DK" dirty="0"/>
            </a:br>
            <a:endParaRPr lang="en-DK" dirty="0"/>
          </a:p>
          <a:p>
            <a:r>
              <a:rPr lang="en-DK" dirty="0"/>
              <a:t>Service (long-lived)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Pod (short-lived)</a:t>
            </a:r>
          </a:p>
          <a:p>
            <a:pPr lvl="1"/>
            <a:r>
              <a:rPr lang="en-DK" dirty="0"/>
              <a:t>Abstracts away the need </a:t>
            </a:r>
            <a:r>
              <a:rPr lang="en-DK" sz="1800" dirty="0"/>
              <a:t>to</a:t>
            </a:r>
            <a:r>
              <a:rPr lang="en-DK" dirty="0"/>
              <a:t> know Pod IP addresses.</a:t>
            </a:r>
          </a:p>
          <a:p>
            <a:endParaRPr lang="en-DK" dirty="0"/>
          </a:p>
          <a:p>
            <a:r>
              <a:rPr lang="en-DK" dirty="0"/>
              <a:t>A cluster’s “Internal DNS”</a:t>
            </a:r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D8E49-DFD1-E9F0-4B7A-1C0BD186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65" t="14523" r="3844" b="17975"/>
          <a:stretch>
            <a:fillRect/>
          </a:stretch>
        </p:blipFill>
        <p:spPr>
          <a:xfrm>
            <a:off x="7957039" y="1690688"/>
            <a:ext cx="4087760" cy="36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756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20D79-0943-27C1-4CBB-B09EDBC6A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 -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E469C-93CA-AD1D-2630-518D8AEB59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670944" cy="4442517"/>
          </a:xfrm>
        </p:spPr>
        <p:txBody>
          <a:bodyPr/>
          <a:lstStyle/>
          <a:p>
            <a:r>
              <a:rPr lang="en-GB" b="1" dirty="0">
                <a:solidFill>
                  <a:schemeClr val="tx1"/>
                </a:solidFill>
              </a:rPr>
              <a:t>Name = </a:t>
            </a:r>
            <a:r>
              <a:rPr lang="en-GB" dirty="0" err="1">
                <a:solidFill>
                  <a:schemeClr val="tx1"/>
                </a:solidFill>
              </a:rPr>
              <a:t>Navn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som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andre</a:t>
            </a:r>
            <a:r>
              <a:rPr lang="en-GB" dirty="0">
                <a:solidFill>
                  <a:schemeClr val="tx1"/>
                </a:solidFill>
              </a:rPr>
              <a:t> Pods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Kubernetes </a:t>
            </a:r>
            <a:r>
              <a:rPr lang="en-GB" dirty="0" err="1">
                <a:solidFill>
                  <a:schemeClr val="tx1"/>
                </a:solidFill>
              </a:rPr>
              <a:t>kan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bruge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stedet</a:t>
            </a:r>
            <a:r>
              <a:rPr lang="en-GB" dirty="0">
                <a:solidFill>
                  <a:schemeClr val="tx1"/>
                </a:solidFill>
              </a:rPr>
              <a:t> for IP </a:t>
            </a:r>
            <a:r>
              <a:rPr lang="en-GB" dirty="0" err="1">
                <a:solidFill>
                  <a:schemeClr val="tx1"/>
                </a:solidFill>
              </a:rPr>
              <a:t>til</a:t>
            </a:r>
            <a:r>
              <a:rPr lang="en-GB" dirty="0">
                <a:solidFill>
                  <a:schemeClr val="tx1"/>
                </a:solidFill>
              </a:rPr>
              <a:t> at </a:t>
            </a:r>
            <a:r>
              <a:rPr lang="en-GB" dirty="0" err="1">
                <a:solidFill>
                  <a:schemeClr val="tx1"/>
                </a:solidFill>
              </a:rPr>
              <a:t>finde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specifikke</a:t>
            </a:r>
            <a:r>
              <a:rPr lang="en-GB" dirty="0">
                <a:solidFill>
                  <a:schemeClr val="tx1"/>
                </a:solidFill>
              </a:rPr>
              <a:t> Pods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Name = my-service</a:t>
            </a:r>
          </a:p>
          <a:p>
            <a:endParaRPr lang="en-GB" b="1" dirty="0">
              <a:solidFill>
                <a:schemeClr val="tx1"/>
              </a:solidFill>
            </a:endParaRPr>
          </a:p>
          <a:p>
            <a:r>
              <a:rPr lang="en-GB" b="1" dirty="0">
                <a:solidFill>
                  <a:schemeClr val="tx1"/>
                </a:solidFill>
              </a:rPr>
              <a:t>S</a:t>
            </a:r>
            <a:r>
              <a:rPr lang="en-DK" b="1" dirty="0">
                <a:solidFill>
                  <a:schemeClr val="tx1"/>
                </a:solidFill>
              </a:rPr>
              <a:t>elector </a:t>
            </a:r>
            <a:r>
              <a:rPr lang="en-DK" dirty="0">
                <a:solidFill>
                  <a:schemeClr val="tx1"/>
                </a:solidFill>
              </a:rPr>
              <a:t>= Labels der matcher med Pods, som den sender trafik til.</a:t>
            </a:r>
            <a:br>
              <a:rPr lang="en-DK" dirty="0">
                <a:solidFill>
                  <a:schemeClr val="tx1"/>
                </a:solidFill>
              </a:rPr>
            </a:br>
            <a:endParaRPr lang="en-DK" dirty="0">
              <a:solidFill>
                <a:schemeClr val="tx1"/>
              </a:solidFill>
            </a:endParaRPr>
          </a:p>
          <a:p>
            <a:r>
              <a:rPr lang="en-DK" b="1" dirty="0">
                <a:solidFill>
                  <a:schemeClr val="tx1"/>
                </a:solidFill>
              </a:rPr>
              <a:t>Ports</a:t>
            </a:r>
            <a:r>
              <a:rPr lang="en-DK" dirty="0">
                <a:solidFill>
                  <a:schemeClr val="tx1"/>
                </a:solidFill>
              </a:rPr>
              <a:t> = How ports map from Service to Pods</a:t>
            </a:r>
          </a:p>
          <a:p>
            <a:pPr lvl="1"/>
            <a:r>
              <a:rPr lang="en-DK" dirty="0">
                <a:solidFill>
                  <a:schemeClr val="tx1"/>
                </a:solidFill>
              </a:rPr>
              <a:t>E.g. my-service:80 </a:t>
            </a:r>
            <a:r>
              <a:rPr lang="en-DK" dirty="0">
                <a:solidFill>
                  <a:schemeClr val="tx1"/>
                </a:solidFill>
                <a:sym typeface="Wingdings" pitchFamily="2" charset="2"/>
              </a:rPr>
              <a:t> pod/MyApp:9376</a:t>
            </a:r>
            <a:endParaRPr lang="en-DK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20E20B-07E8-576C-F543-A020F22500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58" t="19268" r="4958" b="32105"/>
          <a:stretch>
            <a:fillRect/>
          </a:stretch>
        </p:blipFill>
        <p:spPr>
          <a:xfrm>
            <a:off x="7509076" y="1506100"/>
            <a:ext cx="4470401" cy="379759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4" name="Elbow Connector 3">
            <a:extLst>
              <a:ext uri="{FF2B5EF4-FFF2-40B4-BE49-F238E27FC236}">
                <a16:creationId xmlns:a16="http://schemas.microsoft.com/office/drawing/2014/main" id="{5DDB2AC6-A606-5D19-9B16-49644F9638E4}"/>
              </a:ext>
            </a:extLst>
          </p:cNvPr>
          <p:cNvCxnSpPr>
            <a:cxnSpLocks/>
          </p:cNvCxnSpPr>
          <p:nvPr/>
        </p:nvCxnSpPr>
        <p:spPr>
          <a:xfrm flipV="1">
            <a:off x="3225114" y="3744097"/>
            <a:ext cx="4831491" cy="25747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3632C1E5-85FD-6884-0D87-F087C54D39E3}"/>
              </a:ext>
            </a:extLst>
          </p:cNvPr>
          <p:cNvCxnSpPr>
            <a:cxnSpLocks/>
          </p:cNvCxnSpPr>
          <p:nvPr/>
        </p:nvCxnSpPr>
        <p:spPr>
          <a:xfrm flipV="1">
            <a:off x="5758249" y="4436076"/>
            <a:ext cx="2298356" cy="506627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8C78831C-67AE-3F10-AB21-35BA6E2F0448}"/>
              </a:ext>
            </a:extLst>
          </p:cNvPr>
          <p:cNvCxnSpPr>
            <a:cxnSpLocks/>
          </p:cNvCxnSpPr>
          <p:nvPr/>
        </p:nvCxnSpPr>
        <p:spPr>
          <a:xfrm>
            <a:off x="3669957" y="2582562"/>
            <a:ext cx="4139513" cy="148281"/>
          </a:xfrm>
          <a:prstGeom prst="bentConnector3">
            <a:avLst>
              <a:gd name="adj1" fmla="val 85522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830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Ingress can balance the inbound traffic in Kubernetes.">
            <a:extLst>
              <a:ext uri="{FF2B5EF4-FFF2-40B4-BE49-F238E27FC236}">
                <a16:creationId xmlns:a16="http://schemas.microsoft.com/office/drawing/2014/main" id="{00124E4C-1021-2448-3075-B26842E60B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732" y="1027906"/>
            <a:ext cx="7036268" cy="464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 &amp; Ingress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b="1" dirty="0"/>
              <a:t>Service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Intern DNS</a:t>
            </a:r>
          </a:p>
          <a:p>
            <a:pPr lvl="1"/>
            <a:r>
              <a:rPr lang="en-DK" dirty="0"/>
              <a:t>Fx. my-service.&lt;namespace&gt;.svc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Ingress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External DNS</a:t>
            </a:r>
          </a:p>
          <a:p>
            <a:pPr lvl="1"/>
            <a:r>
              <a:rPr lang="en-DK" dirty="0"/>
              <a:t>SSL termination</a:t>
            </a:r>
          </a:p>
          <a:p>
            <a:pPr lvl="1"/>
            <a:r>
              <a:rPr lang="en-DK" dirty="0"/>
              <a:t>Connects to services</a:t>
            </a:r>
          </a:p>
          <a:p>
            <a:pPr lvl="1"/>
            <a:r>
              <a:rPr lang="da-DK" dirty="0"/>
              <a:t>Fx. </a:t>
            </a:r>
            <a:r>
              <a:rPr lang="da-DK" dirty="0" err="1"/>
              <a:t>my</a:t>
            </a:r>
            <a:r>
              <a:rPr lang="da-DK" dirty="0"/>
              <a:t>-app</a:t>
            </a:r>
            <a:r>
              <a:rPr lang="en-DK" dirty="0"/>
              <a:t>-devel.kb.dk</a:t>
            </a:r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sz="2200" dirty="0"/>
              <a:t>Request </a:t>
            </a:r>
            <a:r>
              <a:rPr lang="en-DK" sz="2200" dirty="0">
                <a:sym typeface="Wingdings" pitchFamily="2" charset="2"/>
              </a:rPr>
              <a:t> </a:t>
            </a:r>
            <a:r>
              <a:rPr lang="en-DK" sz="2200" dirty="0"/>
              <a:t>Ingress </a:t>
            </a:r>
            <a:r>
              <a:rPr lang="en-DK" sz="2200" dirty="0">
                <a:sym typeface="Wingdings" pitchFamily="2" charset="2"/>
              </a:rPr>
              <a:t></a:t>
            </a:r>
            <a:r>
              <a:rPr lang="en-DK" sz="2200" dirty="0"/>
              <a:t> Service </a:t>
            </a:r>
            <a:r>
              <a:rPr lang="en-DK" sz="2200" dirty="0">
                <a:sym typeface="Wingdings" pitchFamily="2" charset="2"/>
              </a:rPr>
              <a:t> Pod</a:t>
            </a:r>
            <a:endParaRPr lang="en-DK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C8E8B5-ED64-BCFE-0BC5-3C9338B7376B}"/>
              </a:ext>
            </a:extLst>
          </p:cNvPr>
          <p:cNvSpPr txBox="1"/>
          <p:nvPr/>
        </p:nvSpPr>
        <p:spPr>
          <a:xfrm>
            <a:off x="838064" y="5733095"/>
            <a:ext cx="36328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>
                <a:solidFill>
                  <a:srgbClr val="005DE0"/>
                </a:solidFill>
              </a:rPr>
              <a:t>Real-life eksempel fra DIT</a:t>
            </a:r>
          </a:p>
        </p:txBody>
      </p:sp>
    </p:spTree>
    <p:extLst>
      <p:ext uri="{BB962C8B-B14F-4D97-AF65-F5344CB8AC3E}">
        <p14:creationId xmlns:p14="http://schemas.microsoft.com/office/powerpoint/2010/main" val="234818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C8AD0-4275-B6C0-8508-66AC67AFA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Expose a service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73CBB0-6729-82F4-9EF6-D2CAD44FB3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1095721" cy="4442517"/>
          </a:xfrm>
        </p:spPr>
        <p:txBody>
          <a:bodyPr>
            <a:normAutofit fontScale="92500" lnSpcReduction="10000"/>
          </a:bodyPr>
          <a:lstStyle/>
          <a:p>
            <a:r>
              <a:rPr lang="en-GB" dirty="0">
                <a:hlinkClick r:id="rId2"/>
              </a:rPr>
              <a:t>kubernetes.io/docs/tutorials/services/connect-applications-service</a:t>
            </a:r>
            <a:endParaRPr lang="en-GB" dirty="0"/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expose deployment/test --port 80</a:t>
            </a:r>
          </a:p>
          <a:p>
            <a:pPr lvl="1"/>
            <a:r>
              <a:rPr lang="en-GB" dirty="0">
                <a:solidFill>
                  <a:srgbClr val="222222"/>
                </a:solidFill>
                <a:latin typeface="SFMono-Regular"/>
              </a:rPr>
              <a:t>Creates a Service resource called “test”.</a:t>
            </a:r>
          </a:p>
          <a:p>
            <a:pPr lvl="1"/>
            <a:endParaRPr lang="en-GB" dirty="0">
              <a:solidFill>
                <a:srgbClr val="222222"/>
              </a:solidFill>
              <a:latin typeface="SFMono-Regular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--rule=host/path=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service:port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[--class=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endParaRPr lang="en-GB" dirty="0"/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demo.localhost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/=test:80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edit ingress/test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describe ingress 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22063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B877B-8F1C-9E1A-3594-6B0FC6D7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7A03A756-B146-97FF-DE4D-2A1F336100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E9AB74AF-CCCA-F246-CDD0-C99EFE05624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922011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 err="1"/>
              <a:t>Exposing</a:t>
            </a:r>
            <a:r>
              <a:rPr lang="da-DK" dirty="0"/>
              <a:t> containers</a:t>
            </a:r>
          </a:p>
          <a:p>
            <a:endParaRPr lang="da-DK" sz="2400" dirty="0"/>
          </a:p>
          <a:p>
            <a:r>
              <a:rPr lang="en-DK" sz="2400" dirty="0"/>
              <a:t>Følg instrukser i </a:t>
            </a:r>
            <a:r>
              <a:rPr lang="en-DK" sz="2400" b="1" dirty="0"/>
              <a:t>4-exposing-workloads</a:t>
            </a:r>
          </a:p>
          <a:p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289608399"/>
      </p:ext>
    </p:extLst>
  </p:cSld>
  <p:clrMapOvr>
    <a:masterClrMapping/>
  </p:clrMapOvr>
  <p:transition spd="slow">
    <p:wip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25C38-1F7C-04E9-D097-DEEC83E5B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46FA0-B372-C002-FCCA-4F17CAD70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261B94-CB95-F9C2-7C1F-569E01BBAE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800" dirty="0"/>
              <a:t>Hvad lærte vi?</a:t>
            </a:r>
          </a:p>
          <a:p>
            <a:endParaRPr lang="en-DK" sz="2800" dirty="0"/>
          </a:p>
          <a:p>
            <a:r>
              <a:rPr lang="en-DK" sz="2800" dirty="0"/>
              <a:t>Hvad var svært?</a:t>
            </a:r>
          </a:p>
          <a:p>
            <a:endParaRPr lang="en-DK" sz="2800" dirty="0"/>
          </a:p>
          <a:p>
            <a:r>
              <a:rPr lang="en-DK" sz="2800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22093464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472AF-C387-00FE-4978-1A82B3D26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A01B9D8-1C24-512A-0FB1-882C120FD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5.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F3DD706-C8D0-81A4-2EDB-CDDA9503B3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/>
              <a:t>Manifests &amp; </a:t>
            </a:r>
            <a:r>
              <a:rPr lang="da-DK" dirty="0" err="1"/>
              <a:t>Reconciliation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129454410"/>
      </p:ext>
    </p:extLst>
  </p:cSld>
  <p:clrMapOvr>
    <a:masterClrMapping/>
  </p:clrMapOvr>
  <p:transition spd="slow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D372B-E9A8-1FEA-2B7D-01E26215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Manifest vs. Controller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54678-5B87-7544-E190-91D011A047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000" b="1" dirty="0"/>
              <a:t>Manifest</a:t>
            </a:r>
          </a:p>
          <a:p>
            <a:pPr lvl="1"/>
            <a:r>
              <a:rPr lang="en-DK" sz="1800" dirty="0"/>
              <a:t>Definition of desired state in YAML for a resource type.</a:t>
            </a:r>
          </a:p>
          <a:p>
            <a:pPr lvl="1"/>
            <a:r>
              <a:rPr lang="en-DK" sz="1800" dirty="0"/>
              <a:t>Fx.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MyDeployment.yaml, MyIngress.yaml</a:t>
            </a:r>
          </a:p>
          <a:p>
            <a:pPr lvl="1"/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Multiple manifests per file possible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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Split with a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 line</a:t>
            </a:r>
          </a:p>
          <a:p>
            <a:endParaRPr lang="en-DK" sz="2000" dirty="0"/>
          </a:p>
          <a:p>
            <a:r>
              <a:rPr lang="en-DK" sz="2000" b="1" dirty="0"/>
              <a:t>Controller</a:t>
            </a:r>
          </a:p>
          <a:p>
            <a:pPr lvl="1"/>
            <a:r>
              <a:rPr lang="en-DK" sz="1800" dirty="0"/>
              <a:t>Code responsible for reaching desired state as defined by manifests.</a:t>
            </a:r>
          </a:p>
          <a:p>
            <a:pPr lvl="1"/>
            <a:r>
              <a:rPr lang="en-DK" sz="1800" dirty="0"/>
              <a:t>Usually responsible for 1 type of Manifest each.</a:t>
            </a:r>
          </a:p>
          <a:p>
            <a:pPr lvl="1"/>
            <a:r>
              <a:rPr lang="en-DK" sz="1800" dirty="0"/>
              <a:t>Fx. Pod Controller -&gt; Make sure Pods are running as described by Pod manifests.</a:t>
            </a:r>
          </a:p>
          <a:p>
            <a:pPr lvl="1"/>
            <a:r>
              <a:rPr lang="en-DK" sz="1800" dirty="0"/>
              <a:t>Ingress Controller -&gt; Make sure traffic reaches the desired Service as described by Ingress manifests.</a:t>
            </a:r>
          </a:p>
        </p:txBody>
      </p:sp>
    </p:spTree>
    <p:extLst>
      <p:ext uri="{BB962C8B-B14F-4D97-AF65-F5344CB8AC3E}">
        <p14:creationId xmlns:p14="http://schemas.microsoft.com/office/powerpoint/2010/main" val="36930210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E22C-2172-E6BC-D183-9E6D10EE2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Core Kubernetes loop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43E19F-A911-D008-F4EB-E561953638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" t="20367" r="1470" b="8113"/>
          <a:stretch>
            <a:fillRect/>
          </a:stretch>
        </p:blipFill>
        <p:spPr>
          <a:xfrm>
            <a:off x="457831" y="1690688"/>
            <a:ext cx="11276337" cy="415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5036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FD764C-689F-13B2-84CF-4B94142F43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0EFDF-E06A-FD9A-BF38-7BA00FF259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en-GB" dirty="0"/>
              <a:t>k</a:t>
            </a:r>
            <a:r>
              <a:rPr lang="en-DK" dirty="0"/>
              <a:t>ubectl, k9s</a:t>
            </a:r>
          </a:p>
          <a:p>
            <a:r>
              <a:rPr lang="da-DK" dirty="0"/>
              <a:t>og </a:t>
            </a:r>
            <a:r>
              <a:rPr lang="en-DK" dirty="0"/>
              <a:t>Rancher UI</a:t>
            </a: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074593164"/>
      </p:ext>
    </p:extLst>
  </p:cSld>
  <p:clrMapOvr>
    <a:masterClrMapping/>
  </p:clrMapOvr>
  <p:transition spd="slow">
    <p:push dir="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1EDF0-C92F-15FE-7E11-17F397287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595F3-C453-94E5-A3FC-61026941C44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K" sz="3400" b="1" dirty="0"/>
              <a:t>Terminal CLI</a:t>
            </a:r>
            <a:endParaRPr lang="en-GB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24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endParaRPr lang="en-GB" sz="24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Has its own plugin eco-system via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krew</a:t>
            </a:r>
            <a:endParaRPr lang="en-GB" sz="20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Recommendations: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ctx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, ns, neat, radar, resource-capacity</a:t>
            </a:r>
            <a:b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800" b="1" dirty="0"/>
          </a:p>
          <a:p>
            <a:pPr lvl="1"/>
            <a:r>
              <a:rPr lang="en-GB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cs typeface="Consolas" panose="020B0609020204030204" pitchFamily="49" charset="0"/>
              </a:rPr>
              <a:t>Terminal UI, keyboard-styret interaktion med Kubernetes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brew install derailed/k9s/k9s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b="1" dirty="0">
                <a:latin typeface="Calibri" panose="020F0502020204030204" pitchFamily="34" charset="0"/>
                <a:cs typeface="Calibri" panose="020F0502020204030204" pitchFamily="34" charset="0"/>
              </a:rPr>
              <a:t>Quick demo</a:t>
            </a:r>
            <a:br>
              <a:rPr lang="en-DK" sz="2000" dirty="0"/>
            </a:br>
            <a:endParaRPr lang="en-DK" sz="2000" dirty="0"/>
          </a:p>
          <a:p>
            <a:r>
              <a:rPr lang="en-DK" sz="2800" b="1" dirty="0"/>
              <a:t>GUI</a:t>
            </a:r>
          </a:p>
          <a:p>
            <a:pPr lvl="1"/>
            <a:r>
              <a:rPr lang="en-DK" sz="2400" dirty="0"/>
              <a:t>Rancher (Web UI + RBAC) 🤠</a:t>
            </a:r>
          </a:p>
          <a:p>
            <a:pPr lvl="1"/>
            <a:r>
              <a:rPr lang="en-DK" sz="2400" dirty="0"/>
              <a:t>Headlamp (Desktop)</a:t>
            </a:r>
          </a:p>
          <a:p>
            <a:pPr lvl="1"/>
            <a:r>
              <a:rPr lang="en-DK" sz="2400" dirty="0"/>
              <a:t>Kubernetes Dashboard (Web UI)</a:t>
            </a:r>
          </a:p>
        </p:txBody>
      </p:sp>
    </p:spTree>
    <p:extLst>
      <p:ext uri="{BB962C8B-B14F-4D97-AF65-F5344CB8AC3E}">
        <p14:creationId xmlns:p14="http://schemas.microsoft.com/office/powerpoint/2010/main" val="173899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F8103-AE53-6AC4-9A64-760FB4939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BDE1B-1108-ACC8-8A12-2959F32CE8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003912" cy="4442517"/>
          </a:xfrm>
        </p:spPr>
        <p:txBody>
          <a:bodyPr>
            <a:normAutofit fontScale="92500" lnSpcReduction="20000"/>
          </a:bodyPr>
          <a:lstStyle/>
          <a:p>
            <a:r>
              <a:rPr lang="en-DK" dirty="0"/>
              <a:t>Most Docker commands have an analogous kubectl command</a:t>
            </a:r>
          </a:p>
          <a:p>
            <a:pPr lvl="1"/>
            <a:r>
              <a:rPr lang="en-DK" b="1" dirty="0"/>
              <a:t>kubectl run|exec|cp|logs</a:t>
            </a:r>
            <a:r>
              <a:rPr lang="en-DK" dirty="0"/>
              <a:t> etc.</a:t>
            </a:r>
          </a:p>
          <a:p>
            <a:pPr lvl="1"/>
            <a:r>
              <a:rPr lang="en-GB" dirty="0"/>
              <a:t>TIP: source &lt;(</a:t>
            </a:r>
            <a:r>
              <a:rPr lang="en-GB" dirty="0" err="1"/>
              <a:t>kubectl</a:t>
            </a:r>
            <a:r>
              <a:rPr lang="en-GB" dirty="0"/>
              <a:t> completion bash)</a:t>
            </a:r>
            <a:br>
              <a:rPr lang="en-GB" dirty="0"/>
            </a:br>
            <a:endParaRPr lang="en-DK" dirty="0"/>
          </a:p>
          <a:p>
            <a:r>
              <a:rPr lang="en-DK" dirty="0"/>
              <a:t>Basic CRUD operations</a:t>
            </a:r>
            <a:br>
              <a:rPr lang="en-DK" dirty="0"/>
            </a:br>
            <a:br>
              <a:rPr lang="en-DK" dirty="0"/>
            </a:br>
            <a: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create/get/edit/delete &lt;resource-type&gt;/&lt;name&gt;</a:t>
            </a:r>
            <a:b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r>
              <a:rPr lang="en-DK" dirty="0"/>
              <a:t>What is in my Kubernetes?</a:t>
            </a:r>
            <a:br>
              <a:rPr lang="en-DK" dirty="0"/>
            </a:br>
            <a:br>
              <a:rPr lang="en-DK" dirty="0"/>
            </a:b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ubectl get all/deployment/configmap</a:t>
            </a:r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r>
              <a:rPr lang="en-DK" dirty="0"/>
              <a:t>Run a Pod:  (ephemeral)</a:t>
            </a:r>
            <a:br>
              <a:rPr lang="en-DK" dirty="0"/>
            </a:br>
            <a:br>
              <a:rPr lang="en-DK" dirty="0"/>
            </a:b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run test -it --image busybox</a:t>
            </a:r>
          </a:p>
        </p:txBody>
      </p:sp>
    </p:spTree>
    <p:extLst>
      <p:ext uri="{BB962C8B-B14F-4D97-AF65-F5344CB8AC3E}">
        <p14:creationId xmlns:p14="http://schemas.microsoft.com/office/powerpoint/2010/main" val="747683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AA81F-84A4-08F2-A0C6-A2A09FE75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97AF1-2585-1F27-2998-645AD658CD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944288"/>
          </a:xfrm>
        </p:spPr>
        <p:txBody>
          <a:bodyPr>
            <a:normAutofit/>
          </a:bodyPr>
          <a:lstStyle/>
          <a:p>
            <a:r>
              <a:rPr lang="en-GB" dirty="0"/>
              <a:t>Get help &amp; examples for any commands: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--help</a:t>
            </a:r>
          </a:p>
          <a:p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Have </a:t>
            </a:r>
            <a:r>
              <a:rPr lang="en-GB" dirty="0" err="1"/>
              <a:t>kubectl</a:t>
            </a:r>
            <a:r>
              <a:rPr lang="en-GB" dirty="0"/>
              <a:t> explain any </a:t>
            </a:r>
            <a:r>
              <a:rPr lang="en-GB" dirty="0" err="1"/>
              <a:t>yaml</a:t>
            </a:r>
            <a:r>
              <a:rPr lang="en-GB" dirty="0"/>
              <a:t> property: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explain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Deployment.spec</a:t>
            </a:r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Get resource: 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&lt;type&gt;/&lt;name&gt; [-n &lt;namespace&gt; or -A]</a:t>
            </a:r>
          </a:p>
          <a:p>
            <a:pPr lvl="1"/>
            <a:endParaRPr lang="en-GB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1800" dirty="0">
                <a:latin typeface="Calibri" panose="020F0502020204030204" pitchFamily="34" charset="0"/>
                <a:cs typeface="Calibri" panose="020F0502020204030204" pitchFamily="34" charset="0"/>
              </a:rPr>
              <a:t>Output format: </a:t>
            </a:r>
            <a:r>
              <a:rPr lang="en-GB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–o </a:t>
            </a:r>
            <a:r>
              <a:rPr lang="en-GB" sz="1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wide|json|yaml</a:t>
            </a:r>
            <a:b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Some examples:</a:t>
            </a:r>
            <a:br>
              <a:rPr lang="en-GB" dirty="0"/>
            </a:br>
            <a:br>
              <a:rPr lang="en-GB" dirty="0"/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deployment/test –o wide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/my-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–o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yaml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&gt; my-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config.yaml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pod –A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99484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BCB66-CC14-8A50-48B1-87AA15C8A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230D3-F4BB-5127-632C-1575E5F212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Edit any resource:</a:t>
            </a:r>
            <a:br>
              <a:rPr lang="en-DK" dirty="0"/>
            </a:br>
            <a:r>
              <a:rPr lang="en-DK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edit deployment/test</a:t>
            </a:r>
          </a:p>
          <a:p>
            <a:endParaRPr lang="en-DK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Use KUBE_EDITOR, or EDITOR to specify editor app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Use </a:t>
            </a:r>
            <a:r>
              <a:rPr lang="en-GB" dirty="0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-o </a:t>
            </a:r>
            <a:r>
              <a:rPr lang="en-GB" dirty="0" err="1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json</a:t>
            </a:r>
            <a:r>
              <a:rPr lang="en-GB" dirty="0">
                <a:solidFill>
                  <a:schemeClr val="tx2"/>
                </a:solidFill>
              </a:rPr>
              <a:t> </a:t>
            </a:r>
            <a:r>
              <a:rPr lang="en-GB" dirty="0"/>
              <a:t>to edit in JSON instead of YAML</a:t>
            </a:r>
            <a:endParaRPr lang="en-DK" dirty="0"/>
          </a:p>
          <a:p>
            <a:endParaRPr lang="en-GB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Scale a deployment</a:t>
            </a:r>
            <a:br>
              <a:rPr lang="en-GB" dirty="0"/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scale --replicas=3 deployment/test</a:t>
            </a:r>
          </a:p>
          <a:p>
            <a:endParaRPr lang="en-GB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Interact with your deployment!</a:t>
            </a:r>
            <a:br>
              <a:rPr lang="en-DK" sz="20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port-forward deployment/test 8888:80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local:pod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cs typeface="Consolas" panose="020B0609020204030204" pitchFamily="49" charset="0"/>
              </a:rPr>
              <a:t>Target can also be </a:t>
            </a:r>
            <a:r>
              <a:rPr lang="en-GB" b="1" dirty="0">
                <a:cs typeface="Consolas" panose="020B0609020204030204" pitchFamily="49" charset="0"/>
              </a:rPr>
              <a:t>pod/my-pod </a:t>
            </a:r>
            <a:r>
              <a:rPr lang="en-GB" dirty="0">
                <a:cs typeface="Consolas" panose="020B0609020204030204" pitchFamily="49" charset="0"/>
              </a:rPr>
              <a:t>or </a:t>
            </a:r>
            <a:r>
              <a:rPr lang="en-GB" b="1" dirty="0">
                <a:cs typeface="Consolas" panose="020B0609020204030204" pitchFamily="49" charset="0"/>
              </a:rPr>
              <a:t>service/my-service</a:t>
            </a:r>
          </a:p>
        </p:txBody>
      </p:sp>
    </p:spTree>
    <p:extLst>
      <p:ext uri="{BB962C8B-B14F-4D97-AF65-F5344CB8AC3E}">
        <p14:creationId xmlns:p14="http://schemas.microsoft.com/office/powerpoint/2010/main" val="3209095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3C87-D614-9F3D-7143-4494852EC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Exec &amp;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1F14A-4B6B-E144-DDCE-038128141A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Get logs for a pod or deployment</a:t>
            </a:r>
          </a:p>
          <a:p>
            <a:pPr lvl="1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Contents of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stdout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and stderr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GB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logs &lt;pod-name&gt; [-c &lt;container-name&gt;]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Monitor: 	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--follow / -f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Before crash: 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--previous / -p</a:t>
            </a:r>
            <a:b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Execute into running container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&lt;pod-name&gt; -- date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			(one-off command)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-it deployment/demo -- /bin/</a:t>
            </a: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	(interactive shell)</a:t>
            </a:r>
          </a:p>
          <a:p>
            <a:endParaRPr lang="en-DK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458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1A755-B8C3-03C7-840D-D48887E40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FF94B2-CEE5-D340-86C8-A289295A5B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148220" cy="4442517"/>
          </a:xfrm>
        </p:spPr>
        <p:txBody>
          <a:bodyPr/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Create k8s resources from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yaml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files (local or remote):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./my-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29238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00CEB-FE32-80E7-B049-F85CE3CA9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9DAA7F4-D874-A629-F9E3-8F3612AA59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37067-253D-0A2E-C9D8-05C4EB208F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b="1" dirty="0"/>
              <a:t>Demo</a:t>
            </a:r>
            <a:br>
              <a:rPr lang="da-DK" dirty="0"/>
            </a:br>
            <a:r>
              <a:rPr lang="da-DK" dirty="0"/>
              <a:t>Rancher UI</a:t>
            </a: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F028E6-99B7-EF50-8106-55C8CA875AC8}"/>
              </a:ext>
            </a:extLst>
          </p:cNvPr>
          <p:cNvSpPr txBox="1"/>
          <p:nvPr/>
        </p:nvSpPr>
        <p:spPr>
          <a:xfrm>
            <a:off x="2196548" y="4582088"/>
            <a:ext cx="5538538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If you installed </a:t>
            </a:r>
            <a:r>
              <a:rPr lang="en-GB" sz="2000" b="1" dirty="0"/>
              <a:t>Rancher Desktop</a:t>
            </a:r>
            <a:r>
              <a:rPr lang="en-GB" sz="2000" dirty="0"/>
              <a:t>,</a:t>
            </a:r>
            <a:br>
              <a:rPr lang="en-GB" sz="2000" dirty="0"/>
            </a:br>
            <a:r>
              <a:rPr lang="en-GB" sz="2000" dirty="0"/>
              <a:t>you already have </a:t>
            </a:r>
            <a:r>
              <a:rPr lang="en-GB" sz="2000" b="1" dirty="0"/>
              <a:t>Rancher UI </a:t>
            </a:r>
            <a:r>
              <a:rPr lang="en-GB" sz="2000" dirty="0"/>
              <a:t>installed!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875FF6-A227-3A69-E6E0-09EA30B46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" t="14921" r="19202"/>
          <a:stretch>
            <a:fillRect/>
          </a:stretch>
        </p:blipFill>
        <p:spPr>
          <a:xfrm>
            <a:off x="8157127" y="4083262"/>
            <a:ext cx="3676650" cy="178084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19060252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DEF64-FCBF-84D6-F1DC-4D117EE6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BBC1F4-C00F-25FB-99CD-FEFDFCF917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7.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EBD23-F1AA-6860-8A3D-4D0EE5EB24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dirty="0"/>
              <a:t>Environment &amp;</a:t>
            </a:r>
          </a:p>
          <a:p>
            <a:r>
              <a:rPr lang="da-DK" dirty="0"/>
              <a:t>Volume mounts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4109876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C6F5A-8AE8-2619-7AA9-7081AC5B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Containerisation – The 12 factor app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7C848-4B82-FC8A-1BD5-AA22581056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02507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Guidelines for </a:t>
            </a:r>
            <a:r>
              <a:rPr lang="en-GB" dirty="0" err="1"/>
              <a:t>hvordan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applikation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tilpasse</a:t>
            </a:r>
            <a:r>
              <a:rPr lang="en-GB" dirty="0"/>
              <a:t> sig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containerised </a:t>
            </a:r>
            <a:r>
              <a:rPr lang="en-GB" dirty="0" err="1"/>
              <a:t>verden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Goal: Be portable and scalable! </a:t>
            </a:r>
            <a:r>
              <a:rPr lang="en-GB" dirty="0">
                <a:sym typeface="Wingdings" pitchFamily="2" charset="2"/>
              </a:rPr>
              <a:t> Be a ”Cloud-native” app.</a:t>
            </a:r>
            <a:br>
              <a:rPr lang="en-GB" dirty="0"/>
            </a:br>
            <a:endParaRPr lang="en-GB" dirty="0"/>
          </a:p>
          <a:p>
            <a:r>
              <a:rPr lang="en-GB" dirty="0" err="1"/>
              <a:t>Principper</a:t>
            </a:r>
            <a:r>
              <a:rPr lang="en-GB" dirty="0"/>
              <a:t> </a:t>
            </a:r>
            <a:r>
              <a:rPr lang="en-GB" dirty="0" err="1"/>
              <a:t>applikationen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følge</a:t>
            </a:r>
            <a:r>
              <a:rPr lang="en-GB" dirty="0"/>
              <a:t> (</a:t>
            </a:r>
            <a:r>
              <a:rPr lang="en-GB" dirty="0" err="1"/>
              <a:t>udsnit</a:t>
            </a:r>
            <a:r>
              <a:rPr lang="en-GB" dirty="0"/>
              <a:t>):</a:t>
            </a:r>
          </a:p>
          <a:p>
            <a:pPr lvl="1"/>
            <a:r>
              <a:rPr lang="en-GB" b="1" dirty="0"/>
              <a:t>Configurable</a:t>
            </a:r>
          </a:p>
          <a:p>
            <a:pPr lvl="2"/>
            <a:r>
              <a:rPr lang="en-GB" dirty="0"/>
              <a:t>Config via ENV variables, with sane defaults.</a:t>
            </a:r>
          </a:p>
          <a:p>
            <a:pPr lvl="2"/>
            <a:r>
              <a:rPr lang="en-GB" dirty="0"/>
              <a:t>Able to change “backing services”.</a:t>
            </a:r>
          </a:p>
          <a:p>
            <a:pPr lvl="1"/>
            <a:r>
              <a:rPr lang="en-GB" b="1" dirty="0"/>
              <a:t>Standardised Logging</a:t>
            </a:r>
          </a:p>
          <a:p>
            <a:pPr lvl="2"/>
            <a:r>
              <a:rPr lang="en-GB" dirty="0"/>
              <a:t>Write to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stdout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/stderr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/>
              <a:t>→ container platform aggregates</a:t>
            </a:r>
          </a:p>
          <a:p>
            <a:pPr lvl="2"/>
            <a:r>
              <a:rPr lang="en-GB" dirty="0"/>
              <a:t>Configurable levels</a:t>
            </a:r>
          </a:p>
          <a:p>
            <a:pPr lvl="1"/>
            <a:r>
              <a:rPr lang="en-GB" b="1" dirty="0"/>
              <a:t>Disposable</a:t>
            </a:r>
          </a:p>
          <a:p>
            <a:pPr lvl="2"/>
            <a:r>
              <a:rPr lang="en-GB" dirty="0"/>
              <a:t>Stateless processes</a:t>
            </a:r>
          </a:p>
          <a:p>
            <a:pPr lvl="2"/>
            <a:r>
              <a:rPr lang="en-GB" dirty="0"/>
              <a:t>Fast startup, graceful shutdown</a:t>
            </a:r>
          </a:p>
          <a:p>
            <a:pPr lvl="1"/>
            <a:r>
              <a:rPr lang="en-GB" b="1" dirty="0"/>
              <a:t>Concurrently scalable</a:t>
            </a:r>
          </a:p>
          <a:p>
            <a:pPr lvl="2"/>
            <a:r>
              <a:rPr lang="en-GB" dirty="0"/>
              <a:t>Multiple instances must co-exist.</a:t>
            </a:r>
          </a:p>
          <a:p>
            <a:pPr lvl="1"/>
            <a:r>
              <a:rPr lang="en-GB" dirty="0"/>
              <a:t>Og </a:t>
            </a:r>
            <a:r>
              <a:rPr lang="en-GB" dirty="0" err="1"/>
              <a:t>flere</a:t>
            </a:r>
            <a:r>
              <a:rPr lang="en-GB" dirty="0"/>
              <a:t>…</a:t>
            </a:r>
            <a:endParaRPr lang="en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72FD1E3-C3B5-54AD-2E39-81BB675EB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17522" y="2594920"/>
            <a:ext cx="2483632" cy="24836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017560-84A0-7F54-33B3-BC0EB4FD831E}"/>
              </a:ext>
            </a:extLst>
          </p:cNvPr>
          <p:cNvSpPr txBox="1"/>
          <p:nvPr/>
        </p:nvSpPr>
        <p:spPr>
          <a:xfrm>
            <a:off x="8817522" y="5167312"/>
            <a:ext cx="2712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Scan QR or open:</a:t>
            </a:r>
            <a:br>
              <a:rPr lang="en-GB" dirty="0"/>
            </a:br>
            <a:r>
              <a:rPr lang="en-GB" dirty="0">
                <a:hlinkClick r:id="rId3"/>
              </a:rPr>
              <a:t>12factor.net</a:t>
            </a:r>
            <a:endParaRPr lang="en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FE460E-975F-8004-6394-5583125C0D61}"/>
              </a:ext>
            </a:extLst>
          </p:cNvPr>
          <p:cNvSpPr txBox="1"/>
          <p:nvPr/>
        </p:nvSpPr>
        <p:spPr>
          <a:xfrm>
            <a:off x="666750" y="36099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844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CAC72-620D-FDB6-2392-C421CF47B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B1A88-DBE1-2F9E-6DD2-89FAAE5C52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510393"/>
            <a:ext cx="10515600" cy="462281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Volume mount = directory or file injected into a container’s filesystem.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GB" sz="2200" dirty="0"/>
              <a:t>Data coming from outside the container, to</a:t>
            </a:r>
            <a:r>
              <a:rPr lang="en-GB" sz="2200" dirty="0">
                <a:sym typeface="Wingdings" pitchFamily="2" charset="2"/>
              </a:rPr>
              <a:t> </a:t>
            </a:r>
            <a:r>
              <a:rPr lang="en-GB" sz="2200" u="sng" dirty="0"/>
              <a:t>share or externalize data</a:t>
            </a:r>
            <a:r>
              <a:rPr lang="en-GB" sz="22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E.g. configuration files, credentials, shared files between containers in a Pod,</a:t>
            </a:r>
            <a:br>
              <a:rPr lang="en-GB" dirty="0"/>
            </a:br>
            <a:r>
              <a:rPr lang="en-GB" dirty="0"/>
              <a:t>or </a:t>
            </a:r>
            <a:r>
              <a:rPr lang="en-GB" u="sng" dirty="0"/>
              <a:t>data that must survive container restarts </a:t>
            </a:r>
            <a:r>
              <a:rPr lang="en-GB" dirty="0"/>
              <a:t>(persistence).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Can be: </a:t>
            </a:r>
            <a:r>
              <a:rPr lang="en-GB" dirty="0" err="1">
                <a:solidFill>
                  <a:srgbClr val="005DE0"/>
                </a:solidFill>
              </a:rPr>
              <a:t>ConfigMap</a:t>
            </a:r>
            <a:r>
              <a:rPr lang="en-GB" dirty="0"/>
              <a:t>, </a:t>
            </a:r>
            <a:r>
              <a:rPr lang="en-GB" dirty="0">
                <a:solidFill>
                  <a:srgbClr val="C54D02"/>
                </a:solidFill>
              </a:rPr>
              <a:t>Secret</a:t>
            </a:r>
            <a:r>
              <a:rPr lang="en-GB" dirty="0"/>
              <a:t>, PVC, </a:t>
            </a:r>
            <a:r>
              <a:rPr lang="en-GB" dirty="0" err="1"/>
              <a:t>emptyDir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41BA6-7D07-4110-9197-D8DBE8CFE3C5}"/>
              </a:ext>
            </a:extLst>
          </p:cNvPr>
          <p:cNvSpPr txBox="1"/>
          <p:nvPr/>
        </p:nvSpPr>
        <p:spPr>
          <a:xfrm>
            <a:off x="936758" y="3821797"/>
            <a:ext cx="3832949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20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name: my-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bar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DB_HOSTNAME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my-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db.kb.dk</a:t>
            </a:r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A96DF-205A-5317-26DA-2013ADDA2211}"/>
              </a:ext>
            </a:extLst>
          </p:cNvPr>
          <p:cNvSpPr txBox="1"/>
          <p:nvPr/>
        </p:nvSpPr>
        <p:spPr>
          <a:xfrm>
            <a:off x="5007539" y="3816559"/>
            <a:ext cx="3696800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Secret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name: secret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dmFsdWUxCg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DB_PASSWORD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YWJjCg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F66EAE-5F61-C270-AB05-E3F840190D7B}"/>
              </a:ext>
            </a:extLst>
          </p:cNvPr>
          <p:cNvSpPr txBox="1"/>
          <p:nvPr/>
        </p:nvSpPr>
        <p:spPr>
          <a:xfrm>
            <a:off x="8909220" y="3821797"/>
            <a:ext cx="3282780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Secrets are only secured by access controls</a:t>
            </a:r>
            <a:br>
              <a:rPr lang="en-DK" sz="2800" dirty="0"/>
            </a:br>
            <a:endParaRPr lang="en-DK" sz="2000" dirty="0"/>
          </a:p>
          <a:p>
            <a:br>
              <a:rPr lang="en-DK" sz="2000" dirty="0"/>
            </a:br>
            <a:r>
              <a:rPr lang="en-DK" dirty="0"/>
              <a:t>Value is base64 encoded,</a:t>
            </a:r>
            <a:br>
              <a:rPr lang="en-DK" dirty="0"/>
            </a:br>
            <a:r>
              <a:rPr lang="en-DK" b="1" dirty="0"/>
              <a:t>not encrypted</a:t>
            </a:r>
            <a:r>
              <a:rPr lang="en-DK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186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8" grpId="0" animBg="1"/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F453D-AFC2-8BB5-A1DA-0CD6613BB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992317-52F5-3957-AFA0-2BD76D1B67C7}"/>
              </a:ext>
            </a:extLst>
          </p:cNvPr>
          <p:cNvSpPr txBox="1"/>
          <p:nvPr/>
        </p:nvSpPr>
        <p:spPr>
          <a:xfrm>
            <a:off x="5020961" y="1903874"/>
            <a:ext cx="6693244" cy="4247317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containers: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my-app:</a:t>
            </a:r>
            <a:b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volumeMounts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- name: </a:t>
            </a:r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 </a:t>
            </a:r>
          </a:p>
          <a:p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mountPath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/etc/nginx/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conf.d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dirty="0">
              <a:solidFill>
                <a:schemeClr val="bg2">
                  <a:lumMod val="1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true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subPath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b="1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b="1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- name: </a:t>
            </a:r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name: 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defaultMode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420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optional: false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F379FD-0DD7-DA81-C060-B48B2F6C4890}"/>
              </a:ext>
            </a:extLst>
          </p:cNvPr>
          <p:cNvSpPr txBox="1"/>
          <p:nvPr/>
        </p:nvSpPr>
        <p:spPr>
          <a:xfrm>
            <a:off x="4909750" y="1493665"/>
            <a:ext cx="29910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Use in Deployment: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F60B-72DA-4557-9E1D-583572BB6D9B}"/>
              </a:ext>
            </a:extLst>
          </p:cNvPr>
          <p:cNvSpPr txBox="1"/>
          <p:nvPr/>
        </p:nvSpPr>
        <p:spPr>
          <a:xfrm>
            <a:off x="919753" y="1903874"/>
            <a:ext cx="3738743" cy="4247317"/>
          </a:xfrm>
          <a:prstGeom prst="rect">
            <a:avLst/>
          </a:prstGeom>
          <a:ln>
            <a:solidFill>
              <a:srgbClr val="C54D0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name: 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b="1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|-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server {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listen 80;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server_name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_;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error_page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404 @sorry;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location @sorry {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  return 404 ”Sorry";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8C4D67-80D8-48F9-7AF2-F6955CA1AFFF}"/>
              </a:ext>
            </a:extLst>
          </p:cNvPr>
          <p:cNvSpPr txBox="1"/>
          <p:nvPr/>
        </p:nvSpPr>
        <p:spPr>
          <a:xfrm>
            <a:off x="838200" y="1485114"/>
            <a:ext cx="21644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ConfigMap:</a:t>
            </a:r>
          </a:p>
        </p:txBody>
      </p:sp>
    </p:spTree>
    <p:extLst>
      <p:ext uri="{BB962C8B-B14F-4D97-AF65-F5344CB8AC3E}">
        <p14:creationId xmlns:p14="http://schemas.microsoft.com/office/powerpoint/2010/main" val="2961276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BD0D-628A-54FA-CCF9-A016CC87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Environment variables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792C0-299F-1F5C-50FC-8B2CEA1C84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Standard way to configure a cloud-ready app.</a:t>
            </a:r>
          </a:p>
          <a:p>
            <a:endParaRPr lang="en-DK" dirty="0"/>
          </a:p>
          <a:p>
            <a:r>
              <a:rPr lang="en-DK" dirty="0"/>
              <a:t>Many options: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Define directly on Deployment with </a:t>
            </a:r>
            <a:r>
              <a:rPr lang="en-DK" b="1" dirty="0"/>
              <a:t>env: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Import from volume with </a:t>
            </a:r>
            <a:r>
              <a:rPr lang="en-DK" b="1" dirty="0"/>
              <a:t>envFrom: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400" dirty="0"/>
              <a:t>ConfigMap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400" dirty="0"/>
              <a:t>Secret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FD67E-9116-337E-4439-D1B2B9A0425A}"/>
              </a:ext>
            </a:extLst>
          </p:cNvPr>
          <p:cNvSpPr txBox="1"/>
          <p:nvPr/>
        </p:nvSpPr>
        <p:spPr>
          <a:xfrm>
            <a:off x="6731137" y="777893"/>
            <a:ext cx="5081922" cy="5078313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containers: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my-app:</a:t>
            </a:r>
          </a:p>
          <a:p>
            <a:r>
              <a:rPr lang="en-GB" b="1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Manual key/values</a:t>
            </a:r>
            <a:b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b="1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value: 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"Workshop”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DB_HOSTNAME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value: 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postgres.kb.dk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”</a:t>
            </a:r>
            <a:b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From </a:t>
            </a:r>
            <a:r>
              <a:rPr lang="en-GB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or Secrets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envFrom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configMapRef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my-app-env-</a:t>
            </a:r>
            <a:r>
              <a:rPr lang="en-GB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secretRef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my-app-env-secrets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key: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DB_PASSWORD</a:t>
            </a:r>
          </a:p>
        </p:txBody>
      </p:sp>
    </p:spTree>
    <p:extLst>
      <p:ext uri="{BB962C8B-B14F-4D97-AF65-F5344CB8AC3E}">
        <p14:creationId xmlns:p14="http://schemas.microsoft.com/office/powerpoint/2010/main" val="12571904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6EF8-E01F-8274-8796-6AB8A7B4D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0727C89-C450-2D47-2B8E-BCF3ECBEEA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9DBF7BFE-4372-6038-BB70-6A63D55934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6159755" cy="2884543"/>
          </a:xfrm>
        </p:spPr>
        <p:txBody>
          <a:bodyPr>
            <a:normAutofit/>
          </a:bodyPr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 err="1"/>
              <a:t>Config</a:t>
            </a:r>
            <a:r>
              <a:rPr lang="da-DK" dirty="0"/>
              <a:t> &amp; Environment</a:t>
            </a:r>
          </a:p>
          <a:p>
            <a:endParaRPr lang="da-DK" sz="2400" dirty="0"/>
          </a:p>
          <a:p>
            <a:r>
              <a:rPr lang="en-DK" sz="2400" dirty="0"/>
              <a:t>Følg instrukser i </a:t>
            </a:r>
            <a:r>
              <a:rPr lang="en-DK" sz="2400" b="1" dirty="0"/>
              <a:t>2-config-and-env</a:t>
            </a:r>
            <a:endParaRPr lang="da-DK" sz="2400" b="1" dirty="0"/>
          </a:p>
        </p:txBody>
      </p:sp>
    </p:spTree>
    <p:extLst>
      <p:ext uri="{BB962C8B-B14F-4D97-AF65-F5344CB8AC3E}">
        <p14:creationId xmlns:p14="http://schemas.microsoft.com/office/powerpoint/2010/main" val="40833533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975C-19E4-989C-13D3-1B638FA02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 - Persistence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2668B6-060D-CE1D-FFA3-F9AD4AA5E0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4802186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Storage Class</a:t>
            </a:r>
          </a:p>
          <a:p>
            <a:pPr marL="1028700" lvl="1" indent="-342900"/>
            <a:r>
              <a:rPr lang="en-DK" u="sng" dirty="0"/>
              <a:t>En type af storage</a:t>
            </a:r>
          </a:p>
          <a:p>
            <a:pPr marL="1485900" lvl="2" indent="-342900"/>
            <a:r>
              <a:rPr lang="en-DK" dirty="0"/>
              <a:t>Fx. Local-path, NFS, SMB, Longhorn, S3.</a:t>
            </a:r>
          </a:p>
          <a:p>
            <a:pPr marL="1028700" lvl="1" indent="-342900"/>
            <a:r>
              <a:rPr lang="en-DK" dirty="0"/>
              <a:t>Each class has a storage-controller that handles PVC -&gt; PV binding (bestykning). </a:t>
            </a:r>
            <a:br>
              <a:rPr lang="en-DK" dirty="0"/>
            </a:b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 Claim</a:t>
            </a:r>
          </a:p>
          <a:p>
            <a:pPr marL="1028700" lvl="1" indent="-342900"/>
            <a:r>
              <a:rPr lang="en-DK" u="sng" dirty="0"/>
              <a:t>Et ønske om en mængde storage</a:t>
            </a:r>
          </a:p>
          <a:p>
            <a:pPr marL="1028700" lvl="1" indent="-342900"/>
            <a:r>
              <a:rPr lang="en-DK" dirty="0"/>
              <a:t>A request for storage of a specified class, size and access-mode.</a:t>
            </a:r>
          </a:p>
          <a:p>
            <a:pPr marL="1485900" lvl="2" indent="-342900"/>
            <a:r>
              <a:rPr lang="en-DK" i="1" dirty="0"/>
              <a:t>storageClass</a:t>
            </a:r>
            <a:r>
              <a:rPr lang="en-DK" dirty="0"/>
              <a:t> = Which type of storage do you need.</a:t>
            </a:r>
          </a:p>
          <a:p>
            <a:pPr marL="1485900" lvl="2" indent="-342900"/>
            <a:r>
              <a:rPr lang="en-DK" i="1" dirty="0"/>
              <a:t>accessModes</a:t>
            </a:r>
            <a:r>
              <a:rPr lang="en-DK" dirty="0"/>
              <a:t> = Read-only or Write, Single-node or Multi-node.</a:t>
            </a:r>
          </a:p>
          <a:p>
            <a:pPr marL="1028700" lvl="1" indent="-342900"/>
            <a:r>
              <a:rPr lang="en-DK" dirty="0"/>
              <a:t>E.g. giv mig 10 GB storage af NFS (distributed) klassen, i RWX mode (multi-node writable).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Volumes</a:t>
            </a:r>
          </a:p>
          <a:p>
            <a:pPr marL="1028700" lvl="1" indent="-342900"/>
            <a:r>
              <a:rPr lang="en-DK" u="sng" dirty="0"/>
              <a:t>Et konkret stykke dedikeret storage på clusteren.</a:t>
            </a:r>
          </a:p>
          <a:p>
            <a:pPr marL="1028700" lvl="1" indent="-342900"/>
            <a:r>
              <a:rPr lang="en-DK" dirty="0"/>
              <a:t>May be </a:t>
            </a:r>
            <a:r>
              <a:rPr lang="en-DK" b="1" i="1" dirty="0"/>
              <a:t>bound</a:t>
            </a:r>
            <a:r>
              <a:rPr lang="en-DK" b="1" dirty="0"/>
              <a:t> </a:t>
            </a:r>
            <a:r>
              <a:rPr lang="en-DK" dirty="0"/>
              <a:t>by a PVC or </a:t>
            </a:r>
            <a:r>
              <a:rPr lang="en-DK" b="1" i="1" dirty="0"/>
              <a:t>released </a:t>
            </a:r>
            <a:r>
              <a:rPr lang="en-DK" i="1" dirty="0"/>
              <a:t>if no longer used</a:t>
            </a:r>
            <a:r>
              <a:rPr lang="en-DK" dirty="0"/>
              <a:t>.</a:t>
            </a:r>
          </a:p>
          <a:p>
            <a:pPr marL="1028700" lvl="1" indent="-342900"/>
            <a:r>
              <a:rPr lang="en-DK" dirty="0"/>
              <a:t>⚠️  ReclaimPolicy: Retain vs. Delete ⚠️</a:t>
            </a:r>
          </a:p>
        </p:txBody>
      </p:sp>
    </p:spTree>
    <p:extLst>
      <p:ext uri="{BB962C8B-B14F-4D97-AF65-F5344CB8AC3E}">
        <p14:creationId xmlns:p14="http://schemas.microsoft.com/office/powerpoint/2010/main" val="25317532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856E82-82C3-A3E0-8D2F-DAC89FC54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2" t="13327" r="2239" b="4120"/>
          <a:stretch>
            <a:fillRect/>
          </a:stretch>
        </p:blipFill>
        <p:spPr>
          <a:xfrm>
            <a:off x="537004" y="247318"/>
            <a:ext cx="11117991" cy="636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0599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D22F2-7996-0951-BA31-BA03DA2BD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8B74632-D966-089D-BF4B-01BF763B26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5F74642-EA7D-63CC-DE75-65B403D88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922011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/>
              <a:t>Volume Mounts</a:t>
            </a:r>
          </a:p>
          <a:p>
            <a:endParaRPr lang="da-DK" sz="2400" dirty="0"/>
          </a:p>
          <a:p>
            <a:r>
              <a:rPr lang="en-DK" sz="2400" dirty="0">
                <a:solidFill>
                  <a:srgbClr val="C54D02"/>
                </a:solidFill>
              </a:rPr>
              <a:t>Show &amp; Copy </a:t>
            </a:r>
            <a:r>
              <a:rPr lang="en-DK" sz="2400" dirty="0"/>
              <a:t>af </a:t>
            </a:r>
            <a:r>
              <a:rPr lang="en-DK" sz="2400" b="1" dirty="0"/>
              <a:t>3-volumes-and-persistence</a:t>
            </a:r>
          </a:p>
        </p:txBody>
      </p:sp>
    </p:spTree>
    <p:extLst>
      <p:ext uri="{BB962C8B-B14F-4D97-AF65-F5344CB8AC3E}">
        <p14:creationId xmlns:p14="http://schemas.microsoft.com/office/powerpoint/2010/main" val="12157954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B379AB-2542-3C49-D9C4-73D452B28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8.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C13D03-DA13-4C99-9A7E-44673762BC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051550" cy="2884543"/>
          </a:xfrm>
        </p:spPr>
        <p:txBody>
          <a:bodyPr>
            <a:normAutofit/>
          </a:bodyPr>
          <a:lstStyle/>
          <a:p>
            <a:r>
              <a:rPr lang="en-DK" dirty="0"/>
              <a:t>Orchestration</a:t>
            </a:r>
            <a:br>
              <a:rPr lang="en-DK" dirty="0"/>
            </a:br>
            <a:r>
              <a:rPr lang="en-DK" sz="3200" dirty="0">
                <a:solidFill>
                  <a:srgbClr val="005DE0"/>
                </a:solidFill>
              </a:rPr>
              <a:t>Health &amp; Resources</a:t>
            </a:r>
            <a:endParaRPr lang="en-DK" dirty="0">
              <a:solidFill>
                <a:srgbClr val="005DE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8730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D72A1-C579-C7DD-236B-2A359C2FD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9466C-7FA2-743D-7D86-1E0B171A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Health Probes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DF9E5B-B9FD-CED2-3A2D-B971F81E41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5272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Kubernetes’ health probes kan svare på følgende spørgsmål om en container: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sz="1900" dirty="0"/>
              <a:t>Probe mechanisms (same for all three):</a:t>
            </a:r>
          </a:p>
          <a:p>
            <a:r>
              <a:rPr lang="en-DK" sz="1900" b="1" dirty="0"/>
              <a:t>httpGet</a:t>
            </a:r>
            <a:r>
              <a:rPr lang="en-DK" sz="1900" dirty="0"/>
              <a:t> (most common),</a:t>
            </a:r>
          </a:p>
          <a:p>
            <a:r>
              <a:rPr lang="en-DK" sz="1900" b="1" dirty="0"/>
              <a:t>exec</a:t>
            </a:r>
            <a:r>
              <a:rPr lang="en-DK" sz="1900" dirty="0"/>
              <a:t> (run a command, exit 0 = healthy)</a:t>
            </a:r>
          </a:p>
          <a:p>
            <a:r>
              <a:rPr lang="en-DK" sz="1900" b="1" dirty="0"/>
              <a:t>tcpSocket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5FF4B-BCC4-08AD-85A4-99AF6A1B0D40}"/>
              </a:ext>
            </a:extLst>
          </p:cNvPr>
          <p:cNvSpPr txBox="1"/>
          <p:nvPr/>
        </p:nvSpPr>
        <p:spPr>
          <a:xfrm>
            <a:off x="5412259" y="4318053"/>
            <a:ext cx="6425513" cy="146423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"Running" is not the same as "ready”</a:t>
            </a:r>
            <a:br>
              <a:rPr lang="en-GB" sz="2000" dirty="0"/>
            </a:br>
            <a:r>
              <a:rPr lang="en-GB" sz="2000" dirty="0"/>
              <a:t>A container can be up while the app inside is still booting, deadlocked, or cut off from its database. Probes let Kubernetes tell the difference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6B89F9-47BE-FE20-13AE-A0CD10FBA7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771567"/>
              </p:ext>
            </p:extLst>
          </p:nvPr>
        </p:nvGraphicFramePr>
        <p:xfrm>
          <a:off x="838132" y="2297680"/>
          <a:ext cx="10838757" cy="1554480"/>
        </p:xfrm>
        <a:graphic>
          <a:graphicData uri="http://schemas.openxmlformats.org/drawingml/2006/table">
            <a:tbl>
              <a:tblPr/>
              <a:tblGrid>
                <a:gridCol w="2261684">
                  <a:extLst>
                    <a:ext uri="{9D8B030D-6E8A-4147-A177-3AD203B41FA5}">
                      <a16:colId xmlns:a16="http://schemas.microsoft.com/office/drawing/2014/main" val="2666288890"/>
                    </a:ext>
                  </a:extLst>
                </a:gridCol>
                <a:gridCol w="3236976">
                  <a:extLst>
                    <a:ext uri="{9D8B030D-6E8A-4147-A177-3AD203B41FA5}">
                      <a16:colId xmlns:a16="http://schemas.microsoft.com/office/drawing/2014/main" val="1317145243"/>
                    </a:ext>
                  </a:extLst>
                </a:gridCol>
                <a:gridCol w="5340097">
                  <a:extLst>
                    <a:ext uri="{9D8B030D-6E8A-4147-A177-3AD203B41FA5}">
                      <a16:colId xmlns:a16="http://schemas.microsoft.com/office/drawing/2014/main" val="38169464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Probe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Question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 dirty="0">
                          <a:effectLst/>
                        </a:rPr>
                        <a:t>On failure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012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livenessProbe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Is the process alive?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>
                          <a:effectLst/>
                        </a:rPr>
                        <a:t>Restart</a:t>
                      </a:r>
                      <a:r>
                        <a:rPr lang="en-DK">
                          <a:effectLst/>
                        </a:rPr>
                        <a:t> the container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162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readinessProbe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Can it serve traffic </a:t>
                      </a:r>
                      <a:r>
                        <a:rPr lang="en-DK" i="1" dirty="0">
                          <a:effectLst/>
                        </a:rPr>
                        <a:t>right now</a:t>
                      </a:r>
                      <a:r>
                        <a:rPr lang="en-DK" dirty="0">
                          <a:effectLst/>
                        </a:rPr>
                        <a:t>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Remove</a:t>
                      </a:r>
                      <a:r>
                        <a:rPr lang="en-DK" dirty="0">
                          <a:effectLst/>
                        </a:rPr>
                        <a:t> Pod from the Service's endpoints (no restart)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5607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startupProbe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Has the app finished booting?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Hold off other probes until OK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260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197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67641-7707-1544-5A01-090E8A51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Health Probes for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D089C4-2822-00FD-0EF6-F0CDF15297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It’s best-practice for API-based containers to have health-probe endpoints:</a:t>
            </a:r>
          </a:p>
          <a:p>
            <a:endParaRPr lang="en-DK" dirty="0"/>
          </a:p>
          <a:p>
            <a:endParaRPr lang="en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F3D08C-9674-9AB3-1DCD-BA2F07EDD6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405399"/>
              </p:ext>
            </p:extLst>
          </p:nvPr>
        </p:nvGraphicFramePr>
        <p:xfrm>
          <a:off x="1139884" y="2202212"/>
          <a:ext cx="10015796" cy="1440180"/>
        </p:xfrm>
        <a:graphic>
          <a:graphicData uri="http://schemas.openxmlformats.org/drawingml/2006/table">
            <a:tbl>
              <a:tblPr/>
              <a:tblGrid>
                <a:gridCol w="2255618">
                  <a:extLst>
                    <a:ext uri="{9D8B030D-6E8A-4147-A177-3AD203B41FA5}">
                      <a16:colId xmlns:a16="http://schemas.microsoft.com/office/drawing/2014/main" val="2220533658"/>
                    </a:ext>
                  </a:extLst>
                </a:gridCol>
                <a:gridCol w="1926306">
                  <a:extLst>
                    <a:ext uri="{9D8B030D-6E8A-4147-A177-3AD203B41FA5}">
                      <a16:colId xmlns:a16="http://schemas.microsoft.com/office/drawing/2014/main" val="1720144918"/>
                    </a:ext>
                  </a:extLst>
                </a:gridCol>
                <a:gridCol w="5833872">
                  <a:extLst>
                    <a:ext uri="{9D8B030D-6E8A-4147-A177-3AD203B41FA5}">
                      <a16:colId xmlns:a16="http://schemas.microsoft.com/office/drawing/2014/main" val="9575016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Endpoint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Probe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 dirty="0">
                          <a:effectLst/>
                        </a:rPr>
                        <a:t>Should check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314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  <a:latin typeface="ui-monospace"/>
                        </a:rPr>
                        <a:t>/healthz</a:t>
                      </a:r>
                      <a:endParaRPr lang="en-DK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</a:rPr>
                        <a:t>liveness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effectLst/>
                        </a:rPr>
                        <a:t>P</a:t>
                      </a:r>
                      <a:r>
                        <a:rPr lang="en-DK" dirty="0">
                          <a:effectLst/>
                        </a:rPr>
                        <a:t>rocess is alive and API service is running.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507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  <a:latin typeface="ui-monospace"/>
                        </a:rPr>
                        <a:t>/readyz</a:t>
                      </a:r>
                      <a:endParaRPr lang="en-DK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</a:rPr>
                        <a:t>readiness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Operational dependencies are up &amp; we’re ready for traffic.</a:t>
                      </a:r>
                      <a:br>
                        <a:rPr lang="en-DK" dirty="0">
                          <a:effectLst/>
                        </a:rPr>
                      </a:br>
                      <a:r>
                        <a:rPr lang="en-DK" dirty="0">
                          <a:effectLst/>
                        </a:rPr>
                        <a:t>e.g. DB connection is up and migrations applied.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93601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29655EE-BB6D-53EA-5E40-04A2317B3336}"/>
              </a:ext>
            </a:extLst>
          </p:cNvPr>
          <p:cNvSpPr txBox="1"/>
          <p:nvPr/>
        </p:nvSpPr>
        <p:spPr>
          <a:xfrm>
            <a:off x="5803358" y="4528254"/>
            <a:ext cx="5550408" cy="146423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TRAP: Liveness should NOT check dependencies</a:t>
            </a:r>
            <a:r>
              <a:rPr lang="en-GB" sz="2000" dirty="0"/>
              <a:t> If liveness depends on the DB and the DB is flaky, every replica would fail liveness and restart — a self-inflicted outage.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A1339C-F6E9-E19F-0D3E-8E7FA38DA83B}"/>
              </a:ext>
            </a:extLst>
          </p:cNvPr>
          <p:cNvSpPr txBox="1"/>
          <p:nvPr/>
        </p:nvSpPr>
        <p:spPr>
          <a:xfrm>
            <a:off x="987552" y="3803904"/>
            <a:ext cx="678936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readinessProbe: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httpGet: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path: /readyz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port: 8080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initialDelaySeconds: 5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periodSeconds: 5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203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  <p:bldP spid="8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1EC3-E2F2-1914-7C51-45BAF37B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Resource limits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A9A173-EDA6-B17E-A116-AFB0DDA331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DK" dirty="0"/>
              <a:t>Kubernetes distributes and monitors Pods based on resource requests &amp; limits.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Request</a:t>
            </a:r>
            <a:r>
              <a:rPr lang="en-DK" dirty="0"/>
              <a:t>: Minimum ressourcer Kubernetes lover din Pod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Garanterede ressourcer en Pod har til rådighed.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Afgør hvilken “node” din Pod startes på.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Hvis ingen node har nødvendige ressource </a:t>
            </a:r>
            <a:r>
              <a:rPr lang="en-DK" dirty="0">
                <a:sym typeface="Wingdings" pitchFamily="2" charset="2"/>
              </a:rPr>
              <a:t> Ingen Pod</a:t>
            </a:r>
            <a:br>
              <a:rPr lang="en-DK" dirty="0">
                <a:sym typeface="Wingdings" pitchFamily="2" charset="2"/>
              </a:rPr>
            </a:br>
            <a:endParaRPr lang="en-DK" dirty="0">
              <a:sym typeface="Wingdings" pitchFamily="2" charset="2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en-DK" b="1" dirty="0">
                <a:sym typeface="Wingdings" pitchFamily="2" charset="2"/>
              </a:rPr>
              <a:t>Limits:</a:t>
            </a:r>
            <a:r>
              <a:rPr lang="en-DK" dirty="0">
                <a:sym typeface="Wingdings" pitchFamily="2" charset="2"/>
              </a:rPr>
              <a:t> Regulering af din Pods ressourcer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ym typeface="Wingdings" pitchFamily="2" charset="2"/>
              </a:rPr>
              <a:t>Loft for ressourcer din Container </a:t>
            </a:r>
            <a:r>
              <a:rPr lang="en-DK" u="sng" dirty="0">
                <a:sym typeface="Wingdings" pitchFamily="2" charset="2"/>
              </a:rPr>
              <a:t>ikke må eller kan overskride</a:t>
            </a:r>
            <a:r>
              <a:rPr lang="en-DK" dirty="0">
                <a:sym typeface="Wingdings" pitchFamily="2" charset="2"/>
              </a:rPr>
              <a:t>.</a:t>
            </a: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Beskyttelse imod “noisy neighbor” problemer.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Consequence: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Reach CPU limit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Throttled execution.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Reach RAM limit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</a:t>
            </a:r>
            <a:r>
              <a:rPr lang="en-DK" b="1" dirty="0"/>
              <a:t>OOM killed </a:t>
            </a:r>
            <a:r>
              <a:rPr lang="en-DK" dirty="0"/>
              <a:t>if exceed.</a:t>
            </a:r>
          </a:p>
        </p:txBody>
      </p:sp>
    </p:spTree>
    <p:extLst>
      <p:ext uri="{BB962C8B-B14F-4D97-AF65-F5344CB8AC3E}">
        <p14:creationId xmlns:p14="http://schemas.microsoft.com/office/powerpoint/2010/main" val="1710603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54EC9F4-CCBC-05D3-EE68-D1BAEFDED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06" t="8151" r="13557" b="2683"/>
          <a:stretch>
            <a:fillRect/>
          </a:stretch>
        </p:blipFill>
        <p:spPr>
          <a:xfrm>
            <a:off x="2180967" y="242608"/>
            <a:ext cx="7830066" cy="6372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58540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E4646-62C6-7358-7868-DEDF9B482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757134-F624-0AA3-FDC5-876BA7D335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9.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376A57-BCD4-038D-6AB4-A0EFCA9C503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051550" cy="2884543"/>
          </a:xfrm>
        </p:spPr>
        <p:txBody>
          <a:bodyPr>
            <a:normAutofit/>
          </a:bodyPr>
          <a:lstStyle/>
          <a:p>
            <a:r>
              <a:rPr lang="en-DK" dirty="0"/>
              <a:t>Complex systems</a:t>
            </a:r>
            <a:br>
              <a:rPr lang="en-DK" sz="6600" dirty="0"/>
            </a:br>
            <a:br>
              <a:rPr lang="en-DK" dirty="0"/>
            </a:br>
            <a:r>
              <a:rPr lang="en-DK" sz="2400" dirty="0"/>
              <a:t>Systemer bestående af flere Deployments,</a:t>
            </a:r>
            <a:br>
              <a:rPr lang="en-DK" sz="2400" dirty="0"/>
            </a:br>
            <a:r>
              <a:rPr lang="en-DK" sz="2400" dirty="0"/>
              <a:t>som skal kunne snakke sammen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98530042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24C2F-6574-F7A0-E960-0C846DA72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84C0F1-B3A6-E24C-9E32-04B3DAF77E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614862"/>
          </a:xfrm>
        </p:spPr>
        <p:txBody>
          <a:bodyPr>
            <a:normAutofit/>
          </a:bodyPr>
          <a:lstStyle/>
          <a:p>
            <a:r>
              <a:rPr lang="en-DK" dirty="0"/>
              <a:t>Et system består som regel af flere separate komponenter</a:t>
            </a:r>
          </a:p>
          <a:p>
            <a:pPr lvl="1"/>
            <a:r>
              <a:rPr lang="en-DK" dirty="0"/>
              <a:t>Backend og Database skal kunne skalere forskelligt </a:t>
            </a:r>
            <a:r>
              <a:rPr lang="en-DK" dirty="0">
                <a:sym typeface="Wingdings" pitchFamily="2" charset="2"/>
              </a:rPr>
              <a:t> Derfor hver sin Deployment</a:t>
            </a:r>
          </a:p>
          <a:p>
            <a:pPr lvl="1"/>
            <a:endParaRPr lang="en-DK" dirty="0"/>
          </a:p>
          <a:p>
            <a:r>
              <a:rPr lang="en-DK" dirty="0"/>
              <a:t>Hvordan får man flere Pods/komponenter til at snakke sammen?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Services (intern DNS)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Konfiguration af apps (backing services)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DB_HOSTNAME=database.svc.cluster.local</a:t>
            </a:r>
          </a:p>
          <a:p>
            <a:pPr marL="914400" lvl="2" indent="0">
              <a:buNone/>
            </a:pPr>
            <a:endParaRPr lang="en-DK" dirty="0"/>
          </a:p>
          <a:p>
            <a:r>
              <a:rPr lang="en-DK" dirty="0"/>
              <a:t>Systemarkitektur - Hvorfor micro-services fungerer godt i Kubernetes</a:t>
            </a:r>
          </a:p>
          <a:p>
            <a:pPr marL="0" indent="0">
              <a:buNone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70053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41868-EB45-50FC-5766-8A7FDECE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Show &amp; Copy: Composite Systems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070E38-5EFC-069A-BF89-7D5931C84C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Følg med og kopier, når jeg løser øvelse </a:t>
            </a:r>
            <a:r>
              <a:rPr lang="en-DK" b="1" dirty="0"/>
              <a:t>5-composite-system</a:t>
            </a:r>
          </a:p>
          <a:p>
            <a:endParaRPr lang="en-DK" dirty="0"/>
          </a:p>
          <a:p>
            <a:r>
              <a:rPr lang="en-DK" dirty="0"/>
              <a:t>En Spring Boot + Postgres app, vi kender fra Workshop #1</a:t>
            </a:r>
            <a:br>
              <a:rPr lang="en-DK" dirty="0"/>
            </a:b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Pushed til GitHub Container registry (ghcr.io):</a:t>
            </a:r>
            <a:b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notalib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/workshop-containerisation/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edu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-spring-boot</a:t>
            </a:r>
          </a:p>
          <a:p>
            <a:pPr lvl="1"/>
            <a:endParaRPr lang="en-DK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Opgave: 	Få vores Spring Boot backend til at snakke</a:t>
            </a:r>
            <a:br>
              <a:rPr lang="en-DK" dirty="0"/>
            </a:br>
            <a:r>
              <a:rPr lang="en-DK" dirty="0"/>
              <a:t>                	med en Postgres database i kubernetes</a:t>
            </a:r>
          </a:p>
        </p:txBody>
      </p:sp>
    </p:spTree>
    <p:extLst>
      <p:ext uri="{BB962C8B-B14F-4D97-AF65-F5344CB8AC3E}">
        <p14:creationId xmlns:p14="http://schemas.microsoft.com/office/powerpoint/2010/main" val="386707449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F031-EFF8-8F2A-D7DA-404C577FA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 – Helm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A9DE6-A35A-D8F2-0F8A-68133F0FB4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Hvad hvis vi kunne pakke vores store fagsystemer til ét samlet versioneret release der kan køre i Kubernetes?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Og samtidig kunne ændre på konfigurationen når vi installerer det.</a:t>
            </a:r>
          </a:p>
          <a:p>
            <a:endParaRPr lang="en-DK" dirty="0"/>
          </a:p>
          <a:p>
            <a:r>
              <a:rPr lang="en-DK" dirty="0"/>
              <a:t>Det er her </a:t>
            </a:r>
            <a:r>
              <a:rPr lang="en-DK" b="1" dirty="0"/>
              <a:t>Helm Charts </a:t>
            </a:r>
            <a:r>
              <a:rPr lang="en-DK" dirty="0"/>
              <a:t>kommer ind, fokus for workshop #3.</a:t>
            </a:r>
          </a:p>
          <a:p>
            <a:pPr lvl="1"/>
            <a:r>
              <a:rPr lang="en-DK" u="sng" dirty="0"/>
              <a:t>Packages all manifests for a complex system into a .zip file</a:t>
            </a:r>
          </a:p>
          <a:p>
            <a:pPr lvl="1"/>
            <a:r>
              <a:rPr lang="en-DK" dirty="0"/>
              <a:t>Exposes configuration knobs instead of forcing you to edit raw YAML</a:t>
            </a:r>
          </a:p>
          <a:p>
            <a:endParaRPr lang="en-DK" dirty="0"/>
          </a:p>
          <a:p>
            <a:r>
              <a:rPr lang="en-DK" dirty="0">
                <a:solidFill>
                  <a:schemeClr val="tx1"/>
                </a:solidFill>
              </a:rPr>
              <a:t>Teaser til næste workshop:</a:t>
            </a:r>
            <a:br>
              <a:rPr lang="en-DK" dirty="0">
                <a:solidFill>
                  <a:srgbClr val="005DE0"/>
                </a:solidFill>
              </a:rPr>
            </a:br>
            <a:r>
              <a:rPr lang="en-DK" dirty="0">
                <a:solidFill>
                  <a:srgbClr val="005DE0"/>
                </a:solidFill>
              </a:rPr>
              <a:t>Demo af DT-DIT helm charts</a:t>
            </a:r>
          </a:p>
        </p:txBody>
      </p:sp>
    </p:spTree>
    <p:extLst>
      <p:ext uri="{BB962C8B-B14F-4D97-AF65-F5344CB8AC3E}">
        <p14:creationId xmlns:p14="http://schemas.microsoft.com/office/powerpoint/2010/main" val="1787843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C31F27-B13D-50DC-F363-EE9A52C623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D7DF13-2D40-344F-F512-2905785005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12916719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Debugging Pods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3725" y="1690688"/>
            <a:ext cx="11215171" cy="4442517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https://kubernetes.io/docs/tasks/debug/debug-application/debug-running-pod/</a:t>
            </a:r>
            <a:endParaRPr lang="en-GB" dirty="0"/>
          </a:p>
          <a:p>
            <a:endParaRPr lang="en-GB" dirty="0"/>
          </a:p>
          <a:p>
            <a:r>
              <a:rPr lang="en-GB" dirty="0"/>
              <a:t>Debug a </a:t>
            </a:r>
            <a:r>
              <a:rPr lang="en-GB" i="1" dirty="0"/>
              <a:t>running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registry.k8s.io/pause:3.1 --restart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Never</a:t>
            </a: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-it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busybox:1.28 --target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chemeClr val="tx1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pause</a:t>
            </a:r>
          </a:p>
          <a:p>
            <a:endParaRPr lang="en-GB" dirty="0">
              <a:solidFill>
                <a:srgbClr val="222222"/>
              </a:solidFill>
              <a:highlight>
                <a:srgbClr val="F8F8F8"/>
              </a:highlight>
              <a:latin typeface="SFMono-Regular"/>
            </a:endParaRPr>
          </a:p>
          <a:p>
            <a:r>
              <a:rPr lang="en-GB" dirty="0"/>
              <a:t>Debug a </a:t>
            </a:r>
            <a:r>
              <a:rPr lang="en-GB" i="1" dirty="0"/>
              <a:t>crashing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--image=busybox:1.28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 false</a:t>
            </a: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-it --copy-to=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-debug --container=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--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endParaRPr lang="en-GB" sz="18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29385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EFF76-B0ED-E0F5-1392-044B056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StatefulSet &amp; DaemonSet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648290-1AC3-842B-70DE-8C7C60F4D0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b="1" dirty="0"/>
              <a:t>DaemonSet</a:t>
            </a:r>
          </a:p>
          <a:p>
            <a:pPr lvl="1"/>
            <a:r>
              <a:rPr lang="en-DK" dirty="0"/>
              <a:t>Deployment med garanti for at 1 Pod kører på hver node/maskine.</a:t>
            </a:r>
          </a:p>
          <a:p>
            <a:pPr lvl="1"/>
            <a:r>
              <a:rPr lang="en-DK" dirty="0"/>
              <a:t>Kan bruges til cluster-wide værktøjer der bør køre på alle noder i clusteren.</a:t>
            </a:r>
          </a:p>
          <a:p>
            <a:pPr lvl="1"/>
            <a:endParaRPr lang="en-DK" dirty="0"/>
          </a:p>
          <a:p>
            <a:r>
              <a:rPr lang="en-DK" b="1" dirty="0"/>
              <a:t>StatefulSet</a:t>
            </a:r>
          </a:p>
          <a:p>
            <a:pPr lvl="1"/>
            <a:r>
              <a:rPr lang="en-DK" dirty="0"/>
              <a:t>Et specifikt antal Pods, som hver får et unikt og persistent ID (såkaldt sticky Pod ID).</a:t>
            </a:r>
          </a:p>
          <a:p>
            <a:pPr lvl="1"/>
            <a:r>
              <a:rPr lang="en-DK" dirty="0"/>
              <a:t>Kan f.eks bruges til at et cluster af ens Pods, hvor de kan kende forskel på hinanden og få den samme storage mounted hver gang.</a:t>
            </a:r>
          </a:p>
          <a:p>
            <a:pPr lvl="1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305666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0CB12-88A0-0A98-5E4B-E2CE15A6F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Test images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A16B-DA1F-4AB9-A24F-69C36CCA0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8200" y="1498181"/>
            <a:ext cx="5257800" cy="542373"/>
          </a:xfrm>
        </p:spPr>
        <p:txBody>
          <a:bodyPr>
            <a:normAutofit fontScale="85000" lnSpcReduction="10000"/>
          </a:bodyPr>
          <a:lstStyle/>
          <a:p>
            <a:r>
              <a:rPr lang="en-DK" dirty="0"/>
              <a:t>For debugging and playing around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FBED-8495-040E-10C9-0F508B1422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HTTP debugging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nginx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whoami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mendhak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/http-https-echo (ports 8080 &amp; 8443)</a:t>
            </a: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/>
              <a:t>General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busybox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(very slim!)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wbitt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/network-multitool (:extra tag for additional tools)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nicolaka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netshoot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swiss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-army knife)</a:t>
            </a:r>
          </a:p>
        </p:txBody>
      </p:sp>
    </p:spTree>
    <p:extLst>
      <p:ext uri="{BB962C8B-B14F-4D97-AF65-F5344CB8AC3E}">
        <p14:creationId xmlns:p14="http://schemas.microsoft.com/office/powerpoint/2010/main" val="1435473304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45290</TotalTime>
  <Words>3906</Words>
  <Application>Microsoft Macintosh PowerPoint</Application>
  <PresentationFormat>Widescreen</PresentationFormat>
  <Paragraphs>640</Paragraphs>
  <Slides>69</Slides>
  <Notes>25</Notes>
  <HiddenSlides>6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69</vt:i4>
      </vt:variant>
    </vt:vector>
  </HeadingPairs>
  <TitlesOfParts>
    <vt:vector size="80" baseType="lpstr">
      <vt:lpstr>Arial</vt:lpstr>
      <vt:lpstr>Calibri</vt:lpstr>
      <vt:lpstr>Calibri Light</vt:lpstr>
      <vt:lpstr>Consolas</vt:lpstr>
      <vt:lpstr>Courier New</vt:lpstr>
      <vt:lpstr>SFMono-Regular</vt:lpstr>
      <vt:lpstr>Times New Roman</vt:lpstr>
      <vt:lpstr>ui-monospace</vt:lpstr>
      <vt:lpstr>Wingdings</vt:lpstr>
      <vt:lpstr>Indhold</vt:lpstr>
      <vt:lpstr>Pause og overgange</vt:lpstr>
      <vt:lpstr>Kubernetes Workshop </vt:lpstr>
      <vt:lpstr>PowerPoint Presentation</vt:lpstr>
      <vt:lpstr>PowerPoint Presentation</vt:lpstr>
      <vt:lpstr>PowerPoint Presentation</vt:lpstr>
      <vt:lpstr>Container = Legoklods</vt:lpstr>
      <vt:lpstr>Containerization</vt:lpstr>
      <vt:lpstr>Docker vs Kubernetes (k8s)</vt:lpstr>
      <vt:lpstr>PowerPoint Presentation</vt:lpstr>
      <vt:lpstr>PowerPoint Presentation</vt:lpstr>
      <vt:lpstr>Docker Compose vs. Kubernetes</vt:lpstr>
      <vt:lpstr>Hvad er Kubernetes?</vt:lpstr>
      <vt:lpstr>Kubernetes Cluster</vt:lpstr>
      <vt:lpstr>Control Plane (“The Brain”) </vt:lpstr>
      <vt:lpstr>Worker Nodes (“The Muscle”)</vt:lpstr>
      <vt:lpstr>Kubernetes API</vt:lpstr>
      <vt:lpstr>Hvordan bruger man så Kubernetes?</vt:lpstr>
      <vt:lpstr>PowerPoint Presentation</vt:lpstr>
      <vt:lpstr>2. Demo – Smagsprøve på k8s</vt:lpstr>
      <vt:lpstr>Kubernetes Manifests (YAML)</vt:lpstr>
      <vt:lpstr>Namespaces</vt:lpstr>
      <vt:lpstr>What is a Pod?</vt:lpstr>
      <vt:lpstr>PowerPoint Presentation</vt:lpstr>
      <vt:lpstr>Pod manifest</vt:lpstr>
      <vt:lpstr>What is a Deployment?</vt:lpstr>
      <vt:lpstr>Deployment manifest</vt:lpstr>
      <vt:lpstr>PowerPoint Presentation</vt:lpstr>
      <vt:lpstr>Setup a local Kubernetes cluster</vt:lpstr>
      <vt:lpstr>Workshop Repo</vt:lpstr>
      <vt:lpstr>Exercise recap</vt:lpstr>
      <vt:lpstr>PowerPoint Presentation</vt:lpstr>
      <vt:lpstr>Services</vt:lpstr>
      <vt:lpstr>Service - Manifest</vt:lpstr>
      <vt:lpstr>Services &amp; Ingress</vt:lpstr>
      <vt:lpstr>Expose a service</vt:lpstr>
      <vt:lpstr>PowerPoint Presentation</vt:lpstr>
      <vt:lpstr>Exercise recap</vt:lpstr>
      <vt:lpstr>PowerPoint Presentation</vt:lpstr>
      <vt:lpstr>Manifest vs. Controller</vt:lpstr>
      <vt:lpstr>Core Kubernetes loop</vt:lpstr>
      <vt:lpstr>PowerPoint Presentation</vt:lpstr>
      <vt:lpstr>Kubernetes Tools</vt:lpstr>
      <vt:lpstr>Kubectl commands</vt:lpstr>
      <vt:lpstr>Kubectl commands</vt:lpstr>
      <vt:lpstr>Kubectl commands</vt:lpstr>
      <vt:lpstr>Exec &amp; Logs</vt:lpstr>
      <vt:lpstr>Kubectl apply</vt:lpstr>
      <vt:lpstr>PowerPoint Presentation</vt:lpstr>
      <vt:lpstr>PowerPoint Presentation</vt:lpstr>
      <vt:lpstr>Containerisation – The 12 factor app</vt:lpstr>
      <vt:lpstr>Volume Mounts</vt:lpstr>
      <vt:lpstr>Volume Mount – Example</vt:lpstr>
      <vt:lpstr>Environment variables</vt:lpstr>
      <vt:lpstr>PowerPoint Presentation</vt:lpstr>
      <vt:lpstr>Volume Mounts - Persistence</vt:lpstr>
      <vt:lpstr>PowerPoint Presentation</vt:lpstr>
      <vt:lpstr>PowerPoint Presentation</vt:lpstr>
      <vt:lpstr>PowerPoint Presentation</vt:lpstr>
      <vt:lpstr>Orchestration – Health Probes</vt:lpstr>
      <vt:lpstr>Orchestration – Health Probes for API</vt:lpstr>
      <vt:lpstr>Orchestration – Resource limits</vt:lpstr>
      <vt:lpstr>PowerPoint Presentation</vt:lpstr>
      <vt:lpstr>PowerPoint Presentation</vt:lpstr>
      <vt:lpstr>Komplekse systemer</vt:lpstr>
      <vt:lpstr>Show &amp; Copy: Composite Systems</vt:lpstr>
      <vt:lpstr>Komplekse systemer – Helm</vt:lpstr>
      <vt:lpstr>PowerPoint Presentation</vt:lpstr>
      <vt:lpstr>Debugging Pods</vt:lpstr>
      <vt:lpstr>StatefulSet &amp; DaemonSet</vt:lpstr>
      <vt:lpstr>Test images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328</cp:revision>
  <dcterms:created xsi:type="dcterms:W3CDTF">2021-06-21T11:45:03Z</dcterms:created>
  <dcterms:modified xsi:type="dcterms:W3CDTF">2026-06-15T22:16:11Z</dcterms:modified>
</cp:coreProperties>
</file>