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64"/>
  </p:notesMasterIdLst>
  <p:sldIdLst>
    <p:sldId id="280" r:id="rId3"/>
    <p:sldId id="437" r:id="rId4"/>
    <p:sldId id="438" r:id="rId5"/>
    <p:sldId id="439" r:id="rId6"/>
    <p:sldId id="398" r:id="rId7"/>
    <p:sldId id="440" r:id="rId8"/>
    <p:sldId id="386" r:id="rId9"/>
    <p:sldId id="354" r:id="rId10"/>
    <p:sldId id="418" r:id="rId11"/>
    <p:sldId id="436" r:id="rId12"/>
    <p:sldId id="452" r:id="rId13"/>
    <p:sldId id="453" r:id="rId14"/>
    <p:sldId id="455" r:id="rId15"/>
    <p:sldId id="456" r:id="rId16"/>
    <p:sldId id="361" r:id="rId17"/>
    <p:sldId id="355" r:id="rId18"/>
    <p:sldId id="454" r:id="rId19"/>
    <p:sldId id="348" r:id="rId20"/>
    <p:sldId id="426" r:id="rId21"/>
    <p:sldId id="466" r:id="rId22"/>
    <p:sldId id="363" r:id="rId23"/>
    <p:sldId id="460" r:id="rId24"/>
    <p:sldId id="462" r:id="rId25"/>
    <p:sldId id="459" r:id="rId26"/>
    <p:sldId id="381" r:id="rId27"/>
    <p:sldId id="349" r:id="rId28"/>
    <p:sldId id="443" r:id="rId29"/>
    <p:sldId id="444" r:id="rId30"/>
    <p:sldId id="357" r:id="rId31"/>
    <p:sldId id="445" r:id="rId32"/>
    <p:sldId id="393" r:id="rId33"/>
    <p:sldId id="457" r:id="rId34"/>
    <p:sldId id="446" r:id="rId35"/>
    <p:sldId id="447" r:id="rId36"/>
    <p:sldId id="463" r:id="rId37"/>
    <p:sldId id="358" r:id="rId38"/>
    <p:sldId id="374" r:id="rId39"/>
    <p:sldId id="370" r:id="rId40"/>
    <p:sldId id="384" r:id="rId41"/>
    <p:sldId id="364" r:id="rId42"/>
    <p:sldId id="376" r:id="rId43"/>
    <p:sldId id="464" r:id="rId44"/>
    <p:sldId id="465" r:id="rId45"/>
    <p:sldId id="415" r:id="rId46"/>
    <p:sldId id="367" r:id="rId47"/>
    <p:sldId id="448" r:id="rId48"/>
    <p:sldId id="369" r:id="rId49"/>
    <p:sldId id="368" r:id="rId50"/>
    <p:sldId id="471" r:id="rId51"/>
    <p:sldId id="362" r:id="rId52"/>
    <p:sldId id="352" r:id="rId53"/>
    <p:sldId id="375" r:id="rId54"/>
    <p:sldId id="470" r:id="rId55"/>
    <p:sldId id="468" r:id="rId56"/>
    <p:sldId id="380" r:id="rId57"/>
    <p:sldId id="469" r:id="rId58"/>
    <p:sldId id="458" r:id="rId59"/>
    <p:sldId id="472" r:id="rId60"/>
    <p:sldId id="450" r:id="rId61"/>
    <p:sldId id="350" r:id="rId62"/>
    <p:sldId id="372" r:id="rId63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E0"/>
    <a:srgbClr val="0074D9"/>
    <a:srgbClr val="C54D02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05" autoAdjust="0"/>
    <p:restoredTop sz="88943"/>
  </p:normalViewPr>
  <p:slideViewPr>
    <p:cSldViewPr snapToGrid="0">
      <p:cViewPr>
        <p:scale>
          <a:sx n="114" d="100"/>
          <a:sy n="114" d="100"/>
        </p:scale>
        <p:origin x="1056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29/05/2026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Reminder fra sidste workshop. Imperative vs. Declarative.</a:t>
            </a:r>
          </a:p>
          <a:p>
            <a:endParaRPr lang="en-DK" dirty="0"/>
          </a:p>
          <a:p>
            <a:r>
              <a:rPr lang="en-DK" dirty="0"/>
              <a:t>Både D</a:t>
            </a:r>
            <a:r>
              <a:rPr lang="en-GB" dirty="0"/>
              <a:t>o</a:t>
            </a:r>
            <a:r>
              <a:rPr lang="en-DK" dirty="0"/>
              <a:t>cker Compose og Kubernetes har declarative som 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2191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7662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kubernetes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-workshop/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README.md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2748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Visualisering evt. </a:t>
            </a:r>
            <a:r>
              <a:rPr lang="en-GB" dirty="0"/>
              <a:t>f</a:t>
            </a:r>
            <a:r>
              <a:rPr lang="en-DK" dirty="0"/>
              <a:t>ra Asgers slides. Hvorfor ift. Docker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479470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37973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58498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09572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702731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/>
              <a:t>Se på eksempel i Rancher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32304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DK" dirty="0"/>
              <a:t>orkshop-kubernetes/helm-teaser/README.md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2277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maj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29.05.2026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overview/components/#kube-apiserver" TargetMode="External"/><Relationship Id="rId2" Type="http://schemas.openxmlformats.org/officeDocument/2006/relationships/hyperlink" Target="https://kubernetes.io/docs/reference/glossary/?all=true#term-control-plane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otalib/workshop-kubernetes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replicaset/" TargetMode="External"/><Relationship Id="rId2" Type="http://schemas.openxmlformats.org/officeDocument/2006/relationships/hyperlink" Target="https://kubernetes.io/docs/concepts/workloads/pods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.wiki/MHUu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ervices/connect-applications-service/#creating-a-service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tateless-application/guestbook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debug/debug-application/debug-running-pod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#2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juni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52497D8-102A-F34E-8052-7799AF571F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1"/>
          </a:xfrm>
        </p:spPr>
        <p:txBody>
          <a:bodyPr>
            <a:normAutofit/>
          </a:bodyPr>
          <a:lstStyle/>
          <a:p>
            <a:r>
              <a:rPr lang="da-DK" sz="2400" dirty="0"/>
              <a:t>Part #2</a:t>
            </a:r>
          </a:p>
        </p:txBody>
      </p:sp>
    </p:spTree>
    <p:extLst>
      <p:ext uri="{BB962C8B-B14F-4D97-AF65-F5344CB8AC3E}">
        <p14:creationId xmlns:p14="http://schemas.microsoft.com/office/powerpoint/2010/main" val="22525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8"/>
            <a:ext cx="8924631" cy="4369672"/>
          </a:xfrm>
        </p:spPr>
        <p:txBody>
          <a:bodyPr>
            <a:normAutofit fontScale="925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Kubernetes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 Demo - appetitvækker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b="1" dirty="0"/>
              <a:t>Exercise</a:t>
            </a:r>
            <a:r>
              <a:rPr lang="en-DK" sz="3600" dirty="0"/>
              <a:t>: Deployments &amp; Pods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Manifests &amp; Reconciliation</a:t>
            </a:r>
          </a:p>
          <a:p>
            <a:pPr marL="914400" indent="-914400">
              <a:buFont typeface="+mj-lt"/>
              <a:buAutoNum type="arabicPeriod"/>
            </a:pPr>
            <a:r>
              <a:rPr lang="en-GB" sz="3600" dirty="0"/>
              <a:t>K</a:t>
            </a:r>
            <a:r>
              <a:rPr lang="en-DK" sz="3600" dirty="0"/>
              <a:t>ubectl &amp; k9s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b="1" dirty="0"/>
              <a:t>Demo</a:t>
            </a:r>
            <a:r>
              <a:rPr lang="en-DK" sz="3600" dirty="0"/>
              <a:t>: Kubernetes + Rancher UI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Volume mounts &amp; Environment (+Exercise)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Exposing containers (+Exercise)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Complex systems (+Exercise)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 err="1"/>
              <a:t>Kubernetes</a:t>
            </a:r>
            <a:r>
              <a:rPr lang="da-DK" dirty="0"/>
              <a:t> Basics</a:t>
            </a: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Også legoklodser vi ikke selv kender opskriften på eller har bygget.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Legoklodser kan hentes fra forskellige forretninger (repositories).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Vi kan bygge vores egen legoklodser ovenpå andres.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E971C68-95C2-D1B8-622B-609A03D8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360"/>
          <a:stretch>
            <a:fillRect/>
          </a:stretch>
        </p:blipFill>
        <p:spPr>
          <a:xfrm>
            <a:off x="8728233" y="724795"/>
            <a:ext cx="2341640" cy="12618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Containerization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= Opskrift på en containerized applikation.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= Den 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051377-DB27-605A-F6EB-29524A5D141E}"/>
              </a:ext>
            </a:extLst>
          </p:cNvPr>
          <p:cNvSpPr/>
          <p:nvPr/>
        </p:nvSpPr>
        <p:spPr>
          <a:xfrm>
            <a:off x="838132" y="4187952"/>
            <a:ext cx="7217732" cy="12618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2F81A2C-1359-A5EC-C89A-F9109B804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7928" y="1616036"/>
            <a:ext cx="1502864" cy="146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B168C44-07F9-CD0F-12E8-812DBF74C046}"/>
              </a:ext>
            </a:extLst>
          </p:cNvPr>
          <p:cNvSpPr txBox="1"/>
          <p:nvPr/>
        </p:nvSpPr>
        <p:spPr>
          <a:xfrm>
            <a:off x="774898" y="5449824"/>
            <a:ext cx="1639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FF0000"/>
                </a:solidFill>
              </a:rPr>
              <a:t>Vores fokus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112581-CEBA-F5F7-CEE6-91024BDD00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826978" y="4042531"/>
            <a:ext cx="2857500" cy="1460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287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1E1A7-0C52-2C18-7A45-A724672D2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OCI – Standardisering af Containers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1336B-37F5-0FA6-AF45-43643CE657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Open Container Initiative (OCI) created specs for: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Image format</a:t>
            </a:r>
            <a:r>
              <a:rPr lang="en-GB" dirty="0"/>
              <a:t> → OCI Image Format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Runtime interface</a:t>
            </a:r>
            <a:r>
              <a:rPr lang="en-GB" dirty="0"/>
              <a:t> → OCI Runtime Specification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Distribution protocol</a:t>
            </a:r>
            <a:r>
              <a:rPr lang="en-GB" dirty="0"/>
              <a:t> → OCI Distribution Specification</a:t>
            </a:r>
          </a:p>
          <a:p>
            <a:endParaRPr lang="en-DK" dirty="0"/>
          </a:p>
          <a:p>
            <a:pPr marL="0" indent="0">
              <a:buNone/>
            </a:pPr>
            <a:r>
              <a:rPr lang="en-GB" dirty="0"/>
              <a:t>These ensure that: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An image built by one tool can run anywhere.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Runtimes like </a:t>
            </a:r>
            <a:r>
              <a:rPr lang="en-GB" dirty="0" err="1"/>
              <a:t>containerd</a:t>
            </a:r>
            <a:r>
              <a:rPr lang="en-GB" dirty="0"/>
              <a:t>, CRI-O, or Docker can execute the same image.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Registries can distribute the same artifacts.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5948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3872363" y="5009493"/>
            <a:ext cx="7919303" cy="112371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Docker</a:t>
            </a:r>
            <a:r>
              <a:rPr lang="en-GB" sz="2000" dirty="0"/>
              <a:t> creates and runs containers,</a:t>
            </a:r>
            <a:br>
              <a:rPr lang="en-GB" sz="2000" dirty="0"/>
            </a:br>
            <a:r>
              <a:rPr lang="en-GB" sz="2000" dirty="0"/>
              <a:t>while </a:t>
            </a:r>
            <a:r>
              <a:rPr lang="en-GB" sz="2000" b="1" dirty="0"/>
              <a:t>Kubernetes</a:t>
            </a:r>
            <a:r>
              <a:rPr lang="en-GB" sz="2000" dirty="0"/>
              <a:t> </a:t>
            </a:r>
            <a:r>
              <a:rPr lang="en-GB" sz="2000" i="1" dirty="0"/>
              <a:t>also</a:t>
            </a:r>
            <a:r>
              <a:rPr lang="en-GB" sz="2000" dirty="0"/>
              <a:t> ensures those containers</a:t>
            </a:r>
            <a:br>
              <a:rPr lang="en-GB" sz="2000" dirty="0"/>
            </a:br>
            <a:r>
              <a:rPr lang="en-GB" sz="2000" dirty="0"/>
              <a:t>stay </a:t>
            </a:r>
            <a:r>
              <a:rPr lang="en-GB" sz="2000" b="1" dirty="0"/>
              <a:t>available, scalable, and reliable </a:t>
            </a:r>
            <a:r>
              <a:rPr lang="en-GB" sz="2000" dirty="0"/>
              <a:t>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300831"/>
            <a:ext cx="9639300" cy="58562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41DDA9-7FDF-EAD3-3697-828F515CAE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594" t="40636" r="7346" b="23946"/>
          <a:stretch>
            <a:fillRect/>
          </a:stretch>
        </p:blipFill>
        <p:spPr>
          <a:xfrm>
            <a:off x="5864086" y="2912165"/>
            <a:ext cx="4343401" cy="2276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483113" y="362731"/>
            <a:ext cx="10136458" cy="6014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B53F-9E38-2828-55E8-6BE97AC2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vs. Kubernetes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6EFF4-0F36-BF02-2EB8-E0E087B591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Både Docker Compose og Kubernetes er </a:t>
            </a:r>
            <a:r>
              <a:rPr lang="en-DK" b="1" dirty="0"/>
              <a:t>deklarative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Du </a:t>
            </a:r>
            <a:r>
              <a:rPr lang="en-DK" u="sng" dirty="0"/>
              <a:t>beskriver en ønsket tilstand</a:t>
            </a:r>
            <a:r>
              <a:rPr lang="en-DK" dirty="0"/>
              <a:t> for din IT arkitektur.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Platformen forsøger at gøre denne til virkelighed.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Docker Compose er primært: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Single-host orkestrering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Udvikler-fokuseret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Begrænset scaling, load-balancing og self-healing.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Docker hosten dør, er dine systemer bare nede.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DK" dirty="0"/>
          </a:p>
          <a:p>
            <a:r>
              <a:rPr lang="en-DK" dirty="0"/>
              <a:t>Compose     = Deklarativ opstart af infrastruktur</a:t>
            </a:r>
          </a:p>
          <a:p>
            <a:r>
              <a:rPr lang="en-DK" dirty="0"/>
              <a:t>Kubernetes = Deklarativ </a:t>
            </a:r>
            <a:r>
              <a:rPr lang="en-DK" u="sng" dirty="0"/>
              <a:t>kontinuerlig drift</a:t>
            </a:r>
            <a:r>
              <a:rPr lang="en-DK" dirty="0"/>
              <a:t> af infrastruktur</a:t>
            </a:r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FA078691-EE60-C647-7410-99B41A490E31}"/>
              </a:ext>
            </a:extLst>
          </p:cNvPr>
          <p:cNvSpPr/>
          <p:nvPr/>
        </p:nvSpPr>
        <p:spPr>
          <a:xfrm>
            <a:off x="9207157" y="42064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9F8AC-F311-0230-2997-68549F7FB2A9}"/>
              </a:ext>
            </a:extLst>
          </p:cNvPr>
          <p:cNvSpPr txBox="1"/>
          <p:nvPr/>
        </p:nvSpPr>
        <p:spPr>
          <a:xfrm>
            <a:off x="7848566" y="2213319"/>
            <a:ext cx="4192859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network create </a:t>
            </a:r>
            <a:r>
              <a:rPr lang="en-GB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mynet</a:t>
            </a:r>
            <a:endParaRPr lang="en-GB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volume create my-data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ocker run -d --network=mynet my-app</a:t>
            </a:r>
          </a:p>
          <a:p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47B3F-09E3-65A2-4F8A-5B4F904F034B}"/>
              </a:ext>
            </a:extLst>
          </p:cNvPr>
          <p:cNvSpPr txBox="1"/>
          <p:nvPr/>
        </p:nvSpPr>
        <p:spPr>
          <a:xfrm>
            <a:off x="9319598" y="1876253"/>
            <a:ext cx="155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Commands:</a:t>
            </a: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16FD2180-D68B-5568-B4C3-8B7785A9C78E}"/>
              </a:ext>
            </a:extLst>
          </p:cNvPr>
          <p:cNvSpPr/>
          <p:nvPr/>
        </p:nvSpPr>
        <p:spPr>
          <a:xfrm>
            <a:off x="9359557" y="43588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8" name="Folded Corner 7">
            <a:extLst>
              <a:ext uri="{FF2B5EF4-FFF2-40B4-BE49-F238E27FC236}">
                <a16:creationId xmlns:a16="http://schemas.microsoft.com/office/drawing/2014/main" id="{A5B032BD-03E2-0909-390B-8D41ABC377E3}"/>
              </a:ext>
            </a:extLst>
          </p:cNvPr>
          <p:cNvSpPr/>
          <p:nvPr/>
        </p:nvSpPr>
        <p:spPr>
          <a:xfrm>
            <a:off x="9511957" y="45112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7B9F2-4A1F-04A1-B888-EBABAB34A96E}"/>
              </a:ext>
            </a:extLst>
          </p:cNvPr>
          <p:cNvSpPr txBox="1"/>
          <p:nvPr/>
        </p:nvSpPr>
        <p:spPr>
          <a:xfrm>
            <a:off x="9381860" y="3628502"/>
            <a:ext cx="990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028106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1616-C8F5-E0FB-517D-7628002A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B69C7-EAD7-6D5F-A326-169044F2CF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050919"/>
          </a:xfrm>
        </p:spPr>
        <p:txBody>
          <a:bodyPr>
            <a:normAutofit/>
          </a:bodyPr>
          <a:lstStyle/>
          <a:p>
            <a:r>
              <a:rPr lang="en-DK" u="sng" dirty="0"/>
              <a:t>Et multi-node high-availability container runtime.</a:t>
            </a:r>
            <a:br>
              <a:rPr lang="en-DK" u="sng" dirty="0"/>
            </a:br>
            <a:endParaRPr lang="en-DK" u="sng" dirty="0"/>
          </a:p>
          <a:p>
            <a:r>
              <a:rPr lang="en-DK" dirty="0"/>
              <a:t>I forhold til Docker Compose får vi også:</a:t>
            </a:r>
          </a:p>
          <a:p>
            <a:pPr lvl="1"/>
            <a:r>
              <a:rPr lang="en-GB" b="1" dirty="0" err="1"/>
              <a:t>Orkestrering</a:t>
            </a:r>
            <a:r>
              <a:rPr lang="en-GB" dirty="0"/>
              <a:t>: Automatic management of containerized applications across multiple servers</a:t>
            </a:r>
          </a:p>
          <a:p>
            <a:pPr lvl="1"/>
            <a:r>
              <a:rPr lang="en-GB" b="1" dirty="0"/>
              <a:t>Service  &amp; Load Balancing</a:t>
            </a:r>
            <a:r>
              <a:rPr lang="en-GB" dirty="0"/>
              <a:t>: Automatic service detection and internal traffic distribution</a:t>
            </a:r>
          </a:p>
          <a:p>
            <a:pPr lvl="1"/>
            <a:r>
              <a:rPr lang="en-GB" b="1" dirty="0" err="1"/>
              <a:t>Automatiseret</a:t>
            </a:r>
            <a:r>
              <a:rPr lang="en-GB" b="1" dirty="0"/>
              <a:t> </a:t>
            </a:r>
            <a:r>
              <a:rPr lang="en-GB" b="1" dirty="0" err="1"/>
              <a:t>udrulning</a:t>
            </a:r>
            <a:r>
              <a:rPr lang="en-GB" dirty="0"/>
              <a:t>: Streamlined application rollouts, updates, and rollbacks</a:t>
            </a:r>
          </a:p>
          <a:p>
            <a:pPr lvl="1"/>
            <a:r>
              <a:rPr lang="en-GB" b="1" dirty="0"/>
              <a:t>Self-healing features</a:t>
            </a:r>
            <a:r>
              <a:rPr lang="en-GB" dirty="0"/>
              <a:t>: Continuously monitors health to automatically restart, replace, or reschedule failed containers, maintaining service uptime.</a:t>
            </a:r>
          </a:p>
          <a:p>
            <a:pPr lvl="1"/>
            <a:r>
              <a:rPr lang="en-GB" b="1" dirty="0" err="1"/>
              <a:t>Ressource</a:t>
            </a:r>
            <a:r>
              <a:rPr lang="en-GB" b="1" dirty="0"/>
              <a:t> </a:t>
            </a:r>
            <a:r>
              <a:rPr lang="en-GB" b="1" dirty="0" err="1"/>
              <a:t>styring</a:t>
            </a:r>
            <a:r>
              <a:rPr lang="en-GB" dirty="0"/>
              <a:t>: Optimization of CPU, memory, and storage usage through precise configuration and dynamic allocation, maximizing hardware utilization.</a:t>
            </a:r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2ABD-1B84-3930-21E4-8732C08D267B}"/>
              </a:ext>
            </a:extLst>
          </p:cNvPr>
          <p:cNvSpPr txBox="1"/>
          <p:nvPr/>
        </p:nvSpPr>
        <p:spPr>
          <a:xfrm>
            <a:off x="3303651" y="5461523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Kubernetes is a declarative control plane that continuously reconciles desired cluster state against actual runtime state.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8D7F1-B4E5-5B05-AD70-E30492142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392370" y="109668"/>
            <a:ext cx="2350516" cy="12014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F16FBD-60C0-8A1F-0CB6-FDBE5EC1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045588" y="710397"/>
            <a:ext cx="2181455" cy="11150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F87D20-0DBB-A3FC-C466-7EB2E8E35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912348" y="1070537"/>
            <a:ext cx="2181455" cy="111504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EF99A41-BBD2-3E00-05E1-04961A0D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42" y="361222"/>
            <a:ext cx="1236223" cy="1201459"/>
          </a:xfrm>
          <a:prstGeom prst="rect">
            <a:avLst/>
          </a:prstGeom>
          <a:noFill/>
          <a:effectLst>
            <a:outerShdw blurRad="71843" dist="89017" dir="2700000" sx="104233" sy="104233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4D549BF-E6D8-164A-D1D2-F0B18B2649EB}"/>
              </a:ext>
            </a:extLst>
          </p:cNvPr>
          <p:cNvSpPr/>
          <p:nvPr/>
        </p:nvSpPr>
        <p:spPr>
          <a:xfrm>
            <a:off x="8720488" y="778801"/>
            <a:ext cx="770021" cy="510984"/>
          </a:xfrm>
          <a:custGeom>
            <a:avLst/>
            <a:gdLst>
              <a:gd name="csX0" fmla="*/ 0 w 770021"/>
              <a:gd name="csY0" fmla="*/ 510984 h 510984"/>
              <a:gd name="csX1" fmla="*/ 404261 w 770021"/>
              <a:gd name="csY1" fmla="*/ 20096 h 510984"/>
              <a:gd name="csX2" fmla="*/ 770021 w 770021"/>
              <a:gd name="csY2" fmla="*/ 125974 h 510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0021" h="510984">
                <a:moveTo>
                  <a:pt x="0" y="510984"/>
                </a:moveTo>
                <a:cubicBezTo>
                  <a:pt x="137962" y="297624"/>
                  <a:pt x="275924" y="84264"/>
                  <a:pt x="404261" y="20096"/>
                </a:cubicBezTo>
                <a:cubicBezTo>
                  <a:pt x="532598" y="-44072"/>
                  <a:pt x="701040" y="60201"/>
                  <a:pt x="770021" y="12597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795248-9093-1144-5FA4-3DE6F70B75EB}"/>
              </a:ext>
            </a:extLst>
          </p:cNvPr>
          <p:cNvSpPr/>
          <p:nvPr/>
        </p:nvSpPr>
        <p:spPr>
          <a:xfrm>
            <a:off x="10616129" y="983710"/>
            <a:ext cx="722431" cy="710336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683F1A9-DD73-FD14-1CE8-78E425736D8C}"/>
              </a:ext>
            </a:extLst>
          </p:cNvPr>
          <p:cNvSpPr/>
          <p:nvPr/>
        </p:nvSpPr>
        <p:spPr>
          <a:xfrm>
            <a:off x="10357980" y="495172"/>
            <a:ext cx="516297" cy="343397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19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02D8C-289F-E420-28DB-5D66C9D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Control Plane (“The Brain”)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21456-BEA4-5091-B7D8-C14FFEC8F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710112"/>
          </a:xfrm>
        </p:spPr>
        <p:txBody>
          <a:bodyPr>
            <a:normAutofit fontScale="92500" lnSpcReduction="20000"/>
          </a:bodyPr>
          <a:lstStyle/>
          <a:p>
            <a:r>
              <a:rPr lang="en-DK" b="1" dirty="0"/>
              <a:t>kube-apiserver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Central API entrypoint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&amp; validates desired state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 components communicate through it </a:t>
            </a:r>
          </a:p>
          <a:p>
            <a:r>
              <a:rPr lang="en-DK" b="1" dirty="0"/>
              <a:t>etcd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Distributed cluster database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all cluster state/configuration </a:t>
            </a:r>
          </a:p>
          <a:p>
            <a:r>
              <a:rPr lang="en-DK" b="1" dirty="0"/>
              <a:t>kube-controller-manager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actual state matches desired state via “reconciliation loops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 </a:t>
            </a:r>
          </a:p>
          <a:p>
            <a:pPr lvl="2"/>
            <a:r>
              <a:rPr lang="en-DK" dirty="0"/>
              <a:t>Deployment controller </a:t>
            </a:r>
          </a:p>
          <a:p>
            <a:pPr lvl="2"/>
            <a:r>
              <a:rPr lang="en-DK" dirty="0"/>
              <a:t>Node controller </a:t>
            </a:r>
          </a:p>
          <a:p>
            <a:pPr lvl="2"/>
            <a:r>
              <a:rPr lang="en-DK" dirty="0"/>
              <a:t>ReplicaSet controller </a:t>
            </a:r>
          </a:p>
          <a:p>
            <a:r>
              <a:rPr lang="en-DK" b="1" dirty="0"/>
              <a:t>kube-scheduler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Decides </a:t>
            </a:r>
            <a:r>
              <a:rPr lang="en-DK" i="1" dirty="0"/>
              <a:t>where</a:t>
            </a:r>
            <a:r>
              <a:rPr lang="en-DK" dirty="0"/>
              <a:t> Pods should run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Considers: resources, affinity, taints/tolerations and more.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23688-B8E6-6214-23B3-53F8277F4F24}"/>
              </a:ext>
            </a:extLst>
          </p:cNvPr>
          <p:cNvSpPr txBox="1"/>
          <p:nvPr/>
        </p:nvSpPr>
        <p:spPr>
          <a:xfrm>
            <a:off x="8158942" y="601872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2030034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8D512-4A86-6EED-D1A5-F4FD0658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Worker Nodes (“The Muscle”)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FE6FA-DDC9-3B17-46F2-AB057E1F21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b="1" dirty="0"/>
              <a:t>kubelet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Node agent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Pods are running correctly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Talks to API server – “What state should I be in?”</a:t>
            </a:r>
          </a:p>
          <a:p>
            <a:r>
              <a:rPr lang="en-DK" b="1" dirty="0"/>
              <a:t>Container Runtime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containerd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CRI-O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Responsible for: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pulling images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starting/stopping containers </a:t>
            </a:r>
          </a:p>
          <a:p>
            <a:r>
              <a:rPr lang="en-DK" b="1" dirty="0"/>
              <a:t>kube-proxy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Cluster networking/load balancing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 routing rules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74BA9-0A55-7769-995B-CE91C5DCF11F}"/>
              </a:ext>
            </a:extLst>
          </p:cNvPr>
          <p:cNvSpPr txBox="1"/>
          <p:nvPr/>
        </p:nvSpPr>
        <p:spPr>
          <a:xfrm>
            <a:off x="8660747" y="590720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2843846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541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252084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6004102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1947745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8750-7BE5-890B-208A-8CA4034E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E5D-02E5-61D2-E6D2-EF168E4EB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/>
            <a:r>
              <a:rPr lang="en-GB" dirty="0"/>
              <a:t>The core of Kubernetes' </a:t>
            </a:r>
            <a:r>
              <a:rPr lang="en-GB" dirty="0">
                <a:hlinkClick r:id="rId2"/>
              </a:rPr>
              <a:t>control plane</a:t>
            </a:r>
            <a:r>
              <a:rPr lang="en-GB" dirty="0"/>
              <a:t> is the </a:t>
            </a:r>
            <a:r>
              <a:rPr lang="en-GB" dirty="0">
                <a:hlinkClick r:id="rId3"/>
              </a:rPr>
              <a:t>API server</a:t>
            </a:r>
            <a:r>
              <a:rPr lang="en-GB" dirty="0"/>
              <a:t>. The API server exposes an HTTP API that lets end-users, parts of your cluster, and external components communicate with one another.</a:t>
            </a:r>
            <a:br>
              <a:rPr lang="en-GB" dirty="0"/>
            </a:br>
            <a:endParaRPr lang="en-GB" dirty="0"/>
          </a:p>
          <a:p>
            <a:pPr algn="l"/>
            <a:r>
              <a:rPr lang="en-GB" dirty="0"/>
              <a:t>Query and manipulate the state of API objects in Kubernetes</a:t>
            </a:r>
          </a:p>
          <a:p>
            <a:pPr lvl="1"/>
            <a:r>
              <a:rPr lang="en-GB" dirty="0" err="1"/>
              <a:t>Fx</a:t>
            </a:r>
            <a:r>
              <a:rPr lang="en-GB" dirty="0"/>
              <a:t>. Namespaces, Deployments, Pods, </a:t>
            </a:r>
            <a:r>
              <a:rPr lang="en-GB" dirty="0" err="1"/>
              <a:t>ConfigMaps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These objects (or manifests) simply describes the desired state of the cluster.</a:t>
            </a:r>
          </a:p>
          <a:p>
            <a:pPr algn="l"/>
            <a:endParaRPr lang="en-GB" dirty="0"/>
          </a:p>
          <a:p>
            <a:pPr algn="l"/>
            <a:r>
              <a:rPr lang="en-GB" b="1" dirty="0" err="1">
                <a:solidFill>
                  <a:srgbClr val="005DE0"/>
                </a:solidFill>
              </a:rPr>
              <a:t>kubectl</a:t>
            </a:r>
            <a:r>
              <a:rPr lang="en-GB" dirty="0"/>
              <a:t> </a:t>
            </a:r>
            <a:r>
              <a:rPr lang="en-GB" sz="2000" dirty="0"/>
              <a:t>(&amp; other CLI)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==</a:t>
            </a:r>
            <a:r>
              <a:rPr lang="en-GB" dirty="0"/>
              <a:t> just easy ways to interact with the API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4829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8323-5920-816F-6C41-5C70265B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Hvordan bruger man så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B3432-0AC5-C360-75A4-8C7EEDE327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CLI værktøjet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</a:p>
          <a:p>
            <a:r>
              <a:rPr lang="en-DK" dirty="0"/>
              <a:t>Meget ens med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-DK" dirty="0"/>
              <a:t> og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(cmds og flag)</a:t>
            </a:r>
          </a:p>
          <a:p>
            <a:endParaRPr lang="en-DK" dirty="0"/>
          </a:p>
          <a:p>
            <a:r>
              <a:rPr lang="en-DK" dirty="0"/>
              <a:t>Faktisk laver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DK" dirty="0"/>
              <a:t> bare API kald der opretter og redigerer dokumenter.</a:t>
            </a:r>
          </a:p>
          <a:p>
            <a:endParaRPr lang="en-DK" dirty="0"/>
          </a:p>
          <a:p>
            <a:r>
              <a:rPr lang="en-DK" sz="2800" dirty="0"/>
              <a:t>Lad os prøve at oprette en Deployment!</a:t>
            </a:r>
            <a:br>
              <a:rPr lang="en-DK" sz="2800" dirty="0"/>
            </a:br>
            <a:br>
              <a:rPr lang="en-DK" sz="2800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create deployment web --image=nginx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all -o wide</a:t>
            </a:r>
            <a:endParaRPr lang="en-DK" sz="28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8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CLI demo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237047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2. Demo – Smagsprøve på k8s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Let’s create a Deployment and mess </a:t>
            </a:r>
            <a:r>
              <a:rPr lang="en-GB" dirty="0" err="1"/>
              <a:t>wi</a:t>
            </a:r>
            <a:r>
              <a:rPr lang="en-DK" dirty="0"/>
              <a:t>th it!</a:t>
            </a:r>
          </a:p>
          <a:p>
            <a:pPr marL="457200" lvl="1" indent="0">
              <a:buNone/>
            </a:pPr>
            <a:r>
              <a:rPr lang="en-DK" dirty="0"/>
              <a:t>Deployment </a:t>
            </a:r>
            <a:r>
              <a:rPr lang="en-DK" dirty="0">
                <a:sym typeface="Wingdings" pitchFamily="2" charset="2"/>
              </a:rPr>
              <a:t> ReplicaSet  Pod</a:t>
            </a:r>
          </a:p>
          <a:p>
            <a:pPr marL="457200" lvl="1" indent="0">
              <a:buNone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Destroy stuff and watch Kubernetes reconcile 😈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Let’s horizontally scale our Deployment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Zero-downtime changes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Reach a container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A peek inside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9A0-5356-C8A0-9E54-858EC42F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4116DA8-0C0C-6DD5-9601-C911D2345A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8921C93-43F1-9C31-D61E-07D43B44A8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b="1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dirty="0"/>
              <a:t>Deployments &amp; </a:t>
            </a:r>
            <a:r>
              <a:rPr lang="da-DK" dirty="0" err="1"/>
              <a:t>Pods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886160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70DD-688B-711D-5120-8EF8FEA2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Setup a local Kubernetes cluster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2ED35-65E3-ADE1-8425-62C77CB78A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Windows: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ind (choco install)</a:t>
            </a:r>
            <a:br>
              <a:rPr lang="en-DK" dirty="0"/>
            </a:br>
            <a:endParaRPr lang="en-DK" dirty="0"/>
          </a:p>
          <a:p>
            <a:r>
              <a:rPr lang="en-GB" dirty="0"/>
              <a:t>Linux / Mac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DK" dirty="0"/>
              <a:t>kind</a:t>
            </a:r>
            <a:endParaRPr lang="en-GB" dirty="0"/>
          </a:p>
          <a:p>
            <a:pPr lvl="1"/>
            <a:r>
              <a:rPr lang="en-GB" dirty="0"/>
              <a:t>k</a:t>
            </a:r>
            <a:r>
              <a:rPr lang="en-DK" dirty="0"/>
              <a:t>3d</a:t>
            </a:r>
          </a:p>
          <a:p>
            <a:pPr lvl="1"/>
            <a:endParaRPr lang="en-DK" dirty="0"/>
          </a:p>
          <a:p>
            <a:r>
              <a:rPr lang="en-DK" dirty="0"/>
              <a:t>Have the docs at hand!</a:t>
            </a:r>
          </a:p>
          <a:p>
            <a:pPr lvl="1"/>
            <a:r>
              <a:rPr lang="en-GB" dirty="0">
                <a:hlinkClick r:id="rId3"/>
              </a:rPr>
              <a:t>https://kubernetes.io/docs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ChatGPT or similar LLM knows lots about Kubernetes!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4348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Tjek at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nodes</a:t>
            </a:r>
            <a:r>
              <a:rPr lang="en-DK" dirty="0"/>
              <a:t> 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 ned </a:t>
            </a:r>
            <a:r>
              <a:rPr lang="en-DK" dirty="0">
                <a:hlinkClick r:id="rId2"/>
              </a:rPr>
              <a:t>https://github.com/notalib/workshop-kubernetes</a:t>
            </a:r>
            <a:r>
              <a:rPr lang="en-DK" dirty="0"/>
              <a:t> </a:t>
            </a:r>
            <a:br>
              <a:rPr lang="en-DK" dirty="0"/>
            </a:b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1-deployments-pods/README.md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Først kører vi tingene via cmds (imperative)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Så skriver vi det samme som manifester (declarative).</a:t>
            </a:r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472AF-C387-00FE-4978-1A82B3D2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A01B9D8-1C24-512A-0FB1-882C120FD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F3DD706-C8D0-81A4-2EDB-CDDA9503B3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Manifests &amp; </a:t>
            </a:r>
            <a:r>
              <a:rPr lang="da-DK" dirty="0" err="1"/>
              <a:t>Reconciliation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129454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3DC07-C2A9-85B8-C699-182DA18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Manifests (YAML)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F301F-8CD3-E01C-146D-9B94F70184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YAML manifests are the documents describing our desired state.</a:t>
            </a:r>
          </a:p>
          <a:p>
            <a:endParaRPr lang="en-DK" dirty="0"/>
          </a:p>
          <a:p>
            <a:r>
              <a:rPr lang="en-DK" dirty="0"/>
              <a:t>Let’s look at a Manifest (YAML) for one of our objects.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# From imperative to declarative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ubectl create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…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deploy –o yaml &gt; deploy.yml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# From gone to re-applied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delete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… 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apply deploy.yml</a:t>
            </a: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29508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443B2-14AC-D8A1-84D8-ED8D8396B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Namespaces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80C1D-A0D4-DA8F-64F9-DA4C3C069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A way to group Kubernetes resources together (aka. </a:t>
            </a:r>
            <a:r>
              <a:rPr lang="en-GB" dirty="0"/>
              <a:t>A</a:t>
            </a:r>
            <a:r>
              <a:rPr lang="en-DK" dirty="0"/>
              <a:t> </a:t>
            </a:r>
            <a:r>
              <a:rPr lang="en-GB" dirty="0"/>
              <a:t>l</a:t>
            </a:r>
            <a:r>
              <a:rPr lang="en-DK" dirty="0"/>
              <a:t>abeled fence).</a:t>
            </a:r>
          </a:p>
          <a:p>
            <a:r>
              <a:rPr lang="en-DK" dirty="0"/>
              <a:t>Organizational + policy boundary.</a:t>
            </a:r>
            <a:br>
              <a:rPr lang="en-DK" dirty="0"/>
            </a:br>
            <a:endParaRPr lang="en-DK" dirty="0"/>
          </a:p>
          <a:p>
            <a:r>
              <a:rPr lang="en-DK" dirty="0"/>
              <a:t>Optionally:</a:t>
            </a:r>
          </a:p>
          <a:p>
            <a:pPr lvl="1"/>
            <a:r>
              <a:rPr lang="en-DK" dirty="0"/>
              <a:t>Group-wide resource limits.</a:t>
            </a:r>
          </a:p>
          <a:p>
            <a:pPr lvl="1"/>
            <a:r>
              <a:rPr lang="en-DK" dirty="0"/>
              <a:t>Role-based access.</a:t>
            </a:r>
          </a:p>
          <a:p>
            <a:pPr lvl="1"/>
            <a:r>
              <a:rPr lang="en-DK" dirty="0"/>
              <a:t>Network separation.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20BC78-265C-1344-1F09-767F1DED823C}"/>
              </a:ext>
            </a:extLst>
          </p:cNvPr>
          <p:cNvSpPr txBox="1"/>
          <p:nvPr/>
        </p:nvSpPr>
        <p:spPr>
          <a:xfrm>
            <a:off x="6600825" y="3479006"/>
            <a:ext cx="41219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800" dirty="0">
                <a:solidFill>
                  <a:srgbClr val="FF0000"/>
                </a:solidFill>
              </a:rPr>
              <a:t>TODO: Insert visualization</a:t>
            </a:r>
          </a:p>
        </p:txBody>
      </p:sp>
    </p:spTree>
    <p:extLst>
      <p:ext uri="{BB962C8B-B14F-4D97-AF65-F5344CB8AC3E}">
        <p14:creationId xmlns:p14="http://schemas.microsoft.com/office/powerpoint/2010/main" val="6039077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</a:t>
            </a:r>
            <a:r>
              <a:rPr lang="en-GB" dirty="0"/>
              <a:t>h</a:t>
            </a:r>
            <a:r>
              <a:rPr lang="en-DK" dirty="0"/>
              <a:t>at is a Pod?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37312" cy="4442517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“Pods are the </a:t>
            </a:r>
            <a:r>
              <a:rPr lang="en-GB" b="1" dirty="0"/>
              <a:t>smallest deployable unit </a:t>
            </a:r>
            <a:r>
              <a:rPr lang="en-GB" dirty="0"/>
              <a:t>you can create and manage in Kubernetes.”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er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der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enhed</a:t>
            </a:r>
            <a:r>
              <a:rPr lang="en-GB" dirty="0"/>
              <a:t>. De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samme</a:t>
            </a:r>
            <a:r>
              <a:rPr lang="en-GB" dirty="0"/>
              <a:t> “</a:t>
            </a:r>
            <a:r>
              <a:rPr lang="en-GB" dirty="0" err="1"/>
              <a:t>kravlegård</a:t>
            </a:r>
            <a:r>
              <a:rPr lang="en-GB" dirty="0"/>
              <a:t>” </a:t>
            </a:r>
            <a:r>
              <a:rPr lang="en-GB" dirty="0" err="1"/>
              <a:t>ift</a:t>
            </a:r>
            <a:r>
              <a:rPr lang="en-GB" dirty="0"/>
              <a:t>. </a:t>
            </a:r>
            <a:r>
              <a:rPr lang="en-GB" dirty="0" err="1"/>
              <a:t>ressourcer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deler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intern IP </a:t>
            </a:r>
            <a:r>
              <a:rPr lang="en-GB" dirty="0" err="1"/>
              <a:t>adresse</a:t>
            </a:r>
            <a:r>
              <a:rPr lang="en-GB" dirty="0"/>
              <a:t>.</a:t>
            </a:r>
          </a:p>
          <a:p>
            <a:pPr algn="l"/>
            <a:endParaRPr lang="en-GB" dirty="0"/>
          </a:p>
          <a:p>
            <a:pPr algn="l"/>
            <a:r>
              <a:rPr lang="en-GB" dirty="0" err="1"/>
              <a:t>Hver</a:t>
            </a:r>
            <a:r>
              <a:rPr lang="en-GB" dirty="0"/>
              <a:t> container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hvert</a:t>
            </a:r>
            <a:r>
              <a:rPr lang="en-GB" dirty="0"/>
              <a:t> </a:t>
            </a:r>
            <a:r>
              <a:rPr lang="en-GB" dirty="0" err="1"/>
              <a:t>deres</a:t>
            </a:r>
            <a:r>
              <a:rPr lang="en-GB" dirty="0"/>
              <a:t> </a:t>
            </a:r>
            <a:r>
              <a:rPr lang="en-GB" dirty="0" err="1"/>
              <a:t>filsystem</a:t>
            </a:r>
            <a:r>
              <a:rPr lang="en-GB" dirty="0"/>
              <a:t>, men </a:t>
            </a:r>
            <a:r>
              <a:rPr lang="en-GB" dirty="0" err="1"/>
              <a:t>kan</a:t>
            </a:r>
            <a:r>
              <a:rPr lang="en-GB" dirty="0"/>
              <a:t> dele </a:t>
            </a:r>
            <a:r>
              <a:rPr lang="en-GB" dirty="0" err="1"/>
              <a:t>enkelte</a:t>
            </a:r>
            <a:r>
              <a:rPr lang="en-GB" dirty="0"/>
              <a:t> mounts.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normale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– </a:t>
            </a:r>
            <a:r>
              <a:rPr lang="en-GB" dirty="0" err="1"/>
              <a:t>Oftest</a:t>
            </a:r>
            <a:r>
              <a:rPr lang="en-GB" dirty="0"/>
              <a:t> bare 1.</a:t>
            </a:r>
          </a:p>
          <a:p>
            <a:pPr lvl="1"/>
            <a:r>
              <a:rPr lang="en-GB" dirty="0"/>
              <a:t>Kan </a:t>
            </a:r>
            <a:r>
              <a:rPr lang="en-GB" dirty="0" err="1"/>
              <a:t>også</a:t>
            </a:r>
            <a:r>
              <a:rPr lang="en-GB" dirty="0"/>
              <a:t> have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b="1" dirty="0" err="1"/>
              <a:t>init</a:t>
            </a:r>
            <a:r>
              <a:rPr lang="en-GB" b="1" dirty="0"/>
              <a:t> containers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container der </a:t>
            </a:r>
            <a:r>
              <a:rPr lang="en-GB" dirty="0" err="1"/>
              <a:t>skal</a:t>
            </a:r>
            <a:r>
              <a:rPr lang="en-GB" dirty="0"/>
              <a:t> </a:t>
            </a:r>
            <a:r>
              <a:rPr lang="en-GB" dirty="0" err="1"/>
              <a:t>køre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exit </a:t>
            </a:r>
            <a:r>
              <a:rPr lang="en-GB" dirty="0" err="1"/>
              <a:t>uden</a:t>
            </a:r>
            <a:r>
              <a:rPr lang="en-GB" dirty="0"/>
              <a:t> </a:t>
            </a:r>
            <a:r>
              <a:rPr lang="en-GB" dirty="0" err="1"/>
              <a:t>fejl</a:t>
            </a:r>
            <a:r>
              <a:rPr lang="en-GB" dirty="0"/>
              <a:t> </a:t>
            </a:r>
            <a:r>
              <a:rPr lang="en-GB" dirty="0" err="1"/>
              <a:t>før</a:t>
            </a:r>
            <a:r>
              <a:rPr lang="en-GB" dirty="0"/>
              <a:t> de </a:t>
            </a:r>
            <a:r>
              <a:rPr lang="en-GB" dirty="0" err="1"/>
              <a:t>normale</a:t>
            </a:r>
            <a:r>
              <a:rPr lang="en-GB" dirty="0"/>
              <a:t> starter.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324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01FCB-575A-FE71-B38D-22185408A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visualisering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CBBB2F-565D-1AF4-544C-99325C671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En Pod der indeholder en </a:t>
            </a:r>
            <a:r>
              <a:rPr lang="en-DK" b="1" dirty="0"/>
              <a:t>MainApp</a:t>
            </a:r>
            <a:r>
              <a:rPr lang="en-DK" dirty="0"/>
              <a:t> container,</a:t>
            </a:r>
            <a:br>
              <a:rPr lang="en-DK" dirty="0"/>
            </a:br>
            <a:r>
              <a:rPr lang="en-DK" dirty="0"/>
              <a:t>samt en </a:t>
            </a:r>
            <a:r>
              <a:rPr lang="en-DK" b="1" dirty="0"/>
              <a:t>Logger</a:t>
            </a:r>
            <a:r>
              <a:rPr lang="en-DK" dirty="0"/>
              <a:t> container.</a:t>
            </a:r>
            <a:br>
              <a:rPr lang="en-DK" dirty="0"/>
            </a:br>
            <a:endParaRPr lang="en-DK" dirty="0"/>
          </a:p>
          <a:p>
            <a:r>
              <a:rPr lang="en-DK" dirty="0"/>
              <a:t>De har samme interne IP - deler porte &amp; ressourcer,</a:t>
            </a:r>
            <a:br>
              <a:rPr lang="en-DK" dirty="0"/>
            </a:br>
            <a:r>
              <a:rPr lang="en-DK" dirty="0"/>
              <a:t>men som udgangspunkt </a:t>
            </a:r>
            <a:r>
              <a:rPr lang="en-DK" b="1" dirty="0"/>
              <a:t>ikke filsystem</a:t>
            </a:r>
            <a:r>
              <a:rPr lang="en-DK" dirty="0"/>
              <a:t>.</a:t>
            </a:r>
          </a:p>
          <a:p>
            <a:pPr lvl="1"/>
            <a:r>
              <a:rPr lang="en-DK" dirty="0"/>
              <a:t>Data kan dog mountes på tværs efter behov.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C27400-3874-4CC4-C071-1ED91B66DE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1"/>
          <a:stretch>
            <a:fillRect/>
          </a:stretch>
        </p:blipFill>
        <p:spPr bwMode="auto">
          <a:xfrm>
            <a:off x="7761417" y="921428"/>
            <a:ext cx="4160090" cy="5015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2531-CA05-6F17-A308-64E2058C4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6733-AF53-51A2-2C1C-AE19630417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44449" cy="4442517"/>
          </a:xfrm>
        </p:spPr>
        <p:txBody>
          <a:bodyPr/>
          <a:lstStyle/>
          <a:p>
            <a:r>
              <a:rPr lang="en-DK" dirty="0"/>
              <a:t>Manifests describe a desired “state” of the cluster.</a:t>
            </a:r>
            <a:br>
              <a:rPr lang="en-DK" dirty="0"/>
            </a:br>
            <a:endParaRPr lang="en-DK" dirty="0"/>
          </a:p>
          <a:p>
            <a:r>
              <a:rPr lang="en-DK" dirty="0"/>
              <a:t>This manifest says:</a:t>
            </a:r>
          </a:p>
          <a:p>
            <a:pPr lvl="1"/>
            <a:r>
              <a:rPr lang="en-DK" dirty="0"/>
              <a:t>A Pod should exist</a:t>
            </a:r>
          </a:p>
          <a:p>
            <a:pPr lvl="1"/>
            <a:r>
              <a:rPr lang="en-DK" dirty="0"/>
              <a:t>It should be named “nginx”</a:t>
            </a:r>
          </a:p>
          <a:p>
            <a:pPr lvl="1"/>
            <a:r>
              <a:rPr lang="en-DK" dirty="0"/>
              <a:t>It should have a container also named “nginx”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This container should use the Docker image “nginx:1.14.2”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Like Docker, default repository is </a:t>
            </a:r>
            <a:r>
              <a:rPr lang="en-GB" dirty="0">
                <a:hlinkClick r:id="rId2"/>
              </a:rPr>
              <a:t>hub.docker.com</a:t>
            </a:r>
            <a:endParaRPr lang="en-DK" dirty="0"/>
          </a:p>
          <a:p>
            <a:pPr lvl="1"/>
            <a:endParaRPr lang="en-DK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8F92C31-FFD6-86AE-47FA-A0082A67B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908" y="1690688"/>
            <a:ext cx="3471219" cy="290051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7644655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2F636-7244-0E71-F685-E7289B0D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Deployment?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66593-0B01-7CD6-E5C3-AF8C5AD67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A Deployment provides declarative updates for </a:t>
            </a:r>
            <a:r>
              <a:rPr lang="en-GB" dirty="0">
                <a:hlinkClick r:id="rId2"/>
              </a:rPr>
              <a:t>Pods</a:t>
            </a:r>
            <a:r>
              <a:rPr lang="en-GB" dirty="0"/>
              <a:t> and </a:t>
            </a:r>
            <a:r>
              <a:rPr lang="en-GB" dirty="0">
                <a:hlinkClick r:id="rId3"/>
              </a:rPr>
              <a:t>ReplicaSets</a:t>
            </a:r>
            <a:r>
              <a:rPr lang="en-GB" dirty="0"/>
              <a:t>.</a:t>
            </a:r>
          </a:p>
          <a:p>
            <a:endParaRPr lang="en-GB" dirty="0"/>
          </a:p>
          <a:p>
            <a:pPr algn="l"/>
            <a:r>
              <a:rPr lang="en-GB" dirty="0"/>
              <a:t>A </a:t>
            </a:r>
            <a:r>
              <a:rPr lang="en-GB" b="1" dirty="0" err="1"/>
              <a:t>ReplicaSet</a:t>
            </a:r>
            <a:r>
              <a:rPr lang="en-GB" dirty="0"/>
              <a:t> must maintain a stable set of replicas of the same Pod.</a:t>
            </a:r>
          </a:p>
          <a:p>
            <a:pPr lvl="1"/>
            <a:r>
              <a:rPr lang="en-GB" dirty="0"/>
              <a:t>Replicas must be running at any given time (self-correcting).</a:t>
            </a:r>
          </a:p>
          <a:p>
            <a:pPr lvl="1"/>
            <a:r>
              <a:rPr lang="en-GB" dirty="0"/>
              <a:t>Used to guarantee availability of a specified number of identical Pods.</a:t>
            </a:r>
            <a:br>
              <a:rPr lang="en-GB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86168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961F-E50D-9EE5-81B5-48ECBEAAC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Deployment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6D830-E3C6-072D-D779-CF3A8DF96D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429500" cy="4442517"/>
          </a:xfrm>
        </p:spPr>
        <p:txBody>
          <a:bodyPr/>
          <a:lstStyle/>
          <a:p>
            <a:r>
              <a:rPr lang="en-DK" dirty="0"/>
              <a:t>This manifest says:</a:t>
            </a:r>
          </a:p>
          <a:p>
            <a:pPr lvl="1"/>
            <a:r>
              <a:rPr lang="en-DK" dirty="0"/>
              <a:t>There should exist a </a:t>
            </a:r>
            <a:r>
              <a:rPr lang="en-DK" b="1" dirty="0"/>
              <a:t>Deployment</a:t>
            </a:r>
            <a:r>
              <a:rPr lang="en-DK" dirty="0"/>
              <a:t> named “nginx-deployment”</a:t>
            </a:r>
          </a:p>
          <a:p>
            <a:pPr lvl="1"/>
            <a:r>
              <a:rPr lang="en-GB" dirty="0"/>
              <a:t>I</a:t>
            </a:r>
            <a:r>
              <a:rPr lang="en-DK" dirty="0"/>
              <a:t>t should contain 3 identical </a:t>
            </a:r>
            <a:r>
              <a:rPr lang="en-DK" b="1" dirty="0"/>
              <a:t>Pods</a:t>
            </a:r>
          </a:p>
          <a:p>
            <a:pPr lvl="2"/>
            <a:r>
              <a:rPr lang="en-DK" dirty="0"/>
              <a:t>with label </a:t>
            </a:r>
            <a:r>
              <a:rPr lang="en-DK" b="1" dirty="0"/>
              <a:t>app=nginx</a:t>
            </a:r>
            <a:endParaRPr lang="en-DK" dirty="0"/>
          </a:p>
          <a:p>
            <a:pPr lvl="1"/>
            <a:r>
              <a:rPr lang="en-DK" dirty="0"/>
              <a:t>All 3 Pods should be created from the given template</a:t>
            </a:r>
          </a:p>
          <a:p>
            <a:pPr lvl="2"/>
            <a:r>
              <a:rPr lang="en-DK" dirty="0"/>
              <a:t>Template says each Pod has 1 container using </a:t>
            </a:r>
            <a:r>
              <a:rPr lang="en-DK" b="1" dirty="0"/>
              <a:t>nginx:1.14.2 </a:t>
            </a:r>
            <a:r>
              <a:rPr lang="en-DK" dirty="0"/>
              <a:t>image</a:t>
            </a:r>
          </a:p>
          <a:p>
            <a:pPr lvl="2"/>
            <a:r>
              <a:rPr lang="en-DK" dirty="0"/>
              <a:t>It identifies its “owned” pods from a selector</a:t>
            </a:r>
          </a:p>
          <a:p>
            <a:pPr lvl="1"/>
            <a:endParaRPr lang="en-DK" dirty="0"/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D9DD8-701E-5206-6D0F-68E424229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5" t="17855" r="1628"/>
          <a:stretch>
            <a:fillRect/>
          </a:stretch>
        </p:blipFill>
        <p:spPr>
          <a:xfrm>
            <a:off x="8420066" y="836044"/>
            <a:ext cx="3086100" cy="51859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338970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372B-E9A8-1FEA-2B7D-01E2621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Manifest vs.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54678-5B87-7544-E190-91D011A047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b="1" dirty="0"/>
              <a:t>Manifest</a:t>
            </a:r>
          </a:p>
          <a:p>
            <a:pPr lvl="1"/>
            <a:r>
              <a:rPr lang="en-DK" sz="1800" dirty="0"/>
              <a:t>Definition of desired state in YAML for a resource type.</a:t>
            </a:r>
          </a:p>
          <a:p>
            <a:pPr lvl="1"/>
            <a:r>
              <a:rPr lang="en-DK" sz="1800" dirty="0"/>
              <a:t>Fx.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MyDeployment.yaml, MyIngress.yaml</a:t>
            </a:r>
          </a:p>
          <a:p>
            <a:pPr lvl="1"/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Multiple manifests per file possible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Split with a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 line</a:t>
            </a:r>
          </a:p>
          <a:p>
            <a:endParaRPr lang="en-DK" sz="2000" dirty="0"/>
          </a:p>
          <a:p>
            <a:r>
              <a:rPr lang="en-DK" sz="2000" b="1" dirty="0"/>
              <a:t>Controller</a:t>
            </a:r>
          </a:p>
          <a:p>
            <a:pPr lvl="1"/>
            <a:r>
              <a:rPr lang="en-DK" sz="1800" dirty="0"/>
              <a:t>Code responsible for reaching desired state as defined by manifests.</a:t>
            </a:r>
          </a:p>
          <a:p>
            <a:pPr lvl="1"/>
            <a:r>
              <a:rPr lang="en-DK" sz="1800" dirty="0"/>
              <a:t>Usually responsible for 1 type of Manifest each.</a:t>
            </a:r>
          </a:p>
          <a:p>
            <a:pPr lvl="1"/>
            <a:r>
              <a:rPr lang="en-DK" sz="1800" dirty="0"/>
              <a:t>Fx. Pod Controller -&gt; Make sure Pods are running as described by Pod manifests.</a:t>
            </a:r>
          </a:p>
          <a:p>
            <a:pPr lvl="1"/>
            <a:r>
              <a:rPr lang="en-DK" sz="1800" dirty="0"/>
              <a:t>Ingress Controller -&gt; Make sure traffic reaches the desired Service as described by Ingress manifests.</a:t>
            </a:r>
          </a:p>
        </p:txBody>
      </p:sp>
    </p:spTree>
    <p:extLst>
      <p:ext uri="{BB962C8B-B14F-4D97-AF65-F5344CB8AC3E}">
        <p14:creationId xmlns:p14="http://schemas.microsoft.com/office/powerpoint/2010/main" val="3693021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E22C-2172-E6BC-D183-9E6D10EE2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Core Kubernetes loop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3E19F-A911-D008-F4EB-E56195363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" t="20367" r="1470" b="8113"/>
          <a:stretch>
            <a:fillRect/>
          </a:stretch>
        </p:blipFill>
        <p:spPr>
          <a:xfrm>
            <a:off x="457831" y="1690688"/>
            <a:ext cx="11276337" cy="41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36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C57-3D62-40F2-B494-24DC7923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A22000-0FCF-6A51-C10A-51DAFDC423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555591" cy="4442517"/>
          </a:xfrm>
        </p:spPr>
        <p:txBody>
          <a:bodyPr/>
          <a:lstStyle/>
          <a:p>
            <a:r>
              <a:rPr lang="en-DK" dirty="0"/>
              <a:t>One stable DNS name &amp; IP for one type of Pod(s)</a:t>
            </a:r>
            <a:br>
              <a:rPr lang="en-DK" dirty="0"/>
            </a:br>
            <a:endParaRPr lang="en-DK" dirty="0"/>
          </a:p>
          <a:p>
            <a:r>
              <a:rPr lang="en-DK" dirty="0"/>
              <a:t>Query-based binding between a service-name</a:t>
            </a:r>
            <a:br>
              <a:rPr lang="en-DK" dirty="0"/>
            </a:br>
            <a:r>
              <a:rPr lang="en-DK" dirty="0"/>
              <a:t>and Pod workloads</a:t>
            </a:r>
            <a:br>
              <a:rPr lang="en-DK" dirty="0"/>
            </a:br>
            <a:endParaRPr lang="en-DK" dirty="0"/>
          </a:p>
          <a:p>
            <a:r>
              <a:rPr lang="en-DK" dirty="0"/>
              <a:t>Service (long-lived)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Pod (short-lived)</a:t>
            </a:r>
          </a:p>
          <a:p>
            <a:pPr lvl="1"/>
            <a:r>
              <a:rPr lang="en-DK" dirty="0"/>
              <a:t>Abstracts away the need </a:t>
            </a:r>
            <a:r>
              <a:rPr lang="en-DK" sz="1800" dirty="0"/>
              <a:t>to</a:t>
            </a:r>
            <a:r>
              <a:rPr lang="en-DK" dirty="0"/>
              <a:t> know Pod IP addresses.</a:t>
            </a:r>
          </a:p>
          <a:p>
            <a:endParaRPr lang="en-DK" dirty="0"/>
          </a:p>
          <a:p>
            <a:r>
              <a:rPr lang="en-DK" dirty="0"/>
              <a:t>A cluster’s “Internal DNS”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8E49-DFD1-E9F0-4B7A-1C0BD186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5" t="14523" r="3844" b="17975"/>
          <a:stretch>
            <a:fillRect/>
          </a:stretch>
        </p:blipFill>
        <p:spPr>
          <a:xfrm>
            <a:off x="7957039" y="1690688"/>
            <a:ext cx="4087760" cy="36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756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0D79-0943-27C1-4CBB-B09EDBC6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 -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E469C-93CA-AD1D-2630-518D8AEB5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670944" cy="4442517"/>
          </a:xfrm>
        </p:spPr>
        <p:txBody>
          <a:bodyPr/>
          <a:lstStyle/>
          <a:p>
            <a:r>
              <a:rPr lang="en-DK" dirty="0">
                <a:solidFill>
                  <a:srgbClr val="FF0000"/>
                </a:solidFill>
              </a:rPr>
              <a:t>TODO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20E20B-07E8-576C-F543-A020F225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58" t="19268" r="4958" b="32105"/>
          <a:stretch>
            <a:fillRect/>
          </a:stretch>
        </p:blipFill>
        <p:spPr>
          <a:xfrm>
            <a:off x="7721599" y="1790700"/>
            <a:ext cx="3797301" cy="3225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78303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FD764C-689F-13B2-84CF-4B94142F43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5.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0EFDF-E06A-FD9A-BF38-7BA00FF259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K" dirty="0"/>
              <a:t>ubectl &amp; k9s</a:t>
            </a:r>
          </a:p>
        </p:txBody>
      </p:sp>
    </p:spTree>
    <p:extLst>
      <p:ext uri="{BB962C8B-B14F-4D97-AF65-F5344CB8AC3E}">
        <p14:creationId xmlns:p14="http://schemas.microsoft.com/office/powerpoint/2010/main" val="30745931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F8103-AE53-6AC4-9A64-760FB493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DE1B-1108-ACC8-8A12-2959F32CE8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003912" cy="4442517"/>
          </a:xfrm>
        </p:spPr>
        <p:txBody>
          <a:bodyPr>
            <a:normAutofit fontScale="70000" lnSpcReduction="20000"/>
          </a:bodyPr>
          <a:lstStyle/>
          <a:p>
            <a:r>
              <a:rPr lang="en-DK" dirty="0"/>
              <a:t>Most Docker commands have an analogous kubectl command</a:t>
            </a:r>
          </a:p>
          <a:p>
            <a:pPr lvl="1"/>
            <a:r>
              <a:rPr lang="en-DK" b="1" dirty="0"/>
              <a:t>kubectl run|exec|cp|logs</a:t>
            </a:r>
            <a:r>
              <a:rPr lang="en-DK" dirty="0"/>
              <a:t> etc.</a:t>
            </a:r>
          </a:p>
          <a:p>
            <a:pPr lvl="1"/>
            <a:r>
              <a:rPr lang="en-GB" dirty="0"/>
              <a:t>TIP: source &lt;(</a:t>
            </a:r>
            <a:r>
              <a:rPr lang="en-GB" dirty="0" err="1"/>
              <a:t>kubectl</a:t>
            </a:r>
            <a:r>
              <a:rPr lang="en-GB" dirty="0"/>
              <a:t> completion bash)</a:t>
            </a:r>
            <a:br>
              <a:rPr lang="en-GB" dirty="0"/>
            </a:br>
            <a:endParaRPr lang="en-DK" dirty="0"/>
          </a:p>
          <a:p>
            <a:r>
              <a:rPr lang="en-DK" dirty="0"/>
              <a:t>Basic CRUD operations</a:t>
            </a:r>
            <a:br>
              <a:rPr lang="en-DK" dirty="0"/>
            </a:br>
            <a:br>
              <a:rPr lang="en-DK" dirty="0"/>
            </a:br>
            <a: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create/get/edit/delete &lt;resource-type&gt;/&lt;name&gt;</a:t>
            </a:r>
            <a:b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/>
              <a:t>What is in my Kubernetes?</a:t>
            </a:r>
            <a:br>
              <a:rPr lang="en-DK" dirty="0"/>
            </a:br>
            <a:br>
              <a:rPr lang="en-DK" dirty="0"/>
            </a:b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get all/deployment/configmap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r>
              <a:rPr lang="en-DK" dirty="0"/>
              <a:t>Run a Pod:  (ephemeral)</a:t>
            </a:r>
            <a:br>
              <a:rPr lang="en-DK" dirty="0"/>
            </a:b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run test -it --image busybox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Create a Deployment:</a:t>
            </a:r>
            <a:br>
              <a:rPr lang="en-GB" dirty="0"/>
            </a:b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deployment test --image=nginx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(default namespace!)</a:t>
            </a:r>
          </a:p>
        </p:txBody>
      </p:sp>
    </p:spTree>
    <p:extLst>
      <p:ext uri="{BB962C8B-B14F-4D97-AF65-F5344CB8AC3E}">
        <p14:creationId xmlns:p14="http://schemas.microsoft.com/office/powerpoint/2010/main" val="7476833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AA81F-84A4-08F2-A0C6-A2A09FE7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7AF1-2585-1F27-2998-645AD658C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61980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Get help &amp; examples for any commands: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–help</a:t>
            </a:r>
          </a:p>
          <a:p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Have </a:t>
            </a:r>
            <a:r>
              <a:rPr lang="en-GB" dirty="0" err="1"/>
              <a:t>kubectl</a:t>
            </a:r>
            <a:r>
              <a:rPr lang="en-GB" dirty="0"/>
              <a:t> explain any </a:t>
            </a:r>
            <a:r>
              <a:rPr lang="en-GB" dirty="0" err="1"/>
              <a:t>yaml</a:t>
            </a:r>
            <a:r>
              <a:rPr lang="en-GB" dirty="0"/>
              <a:t> property: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explain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Deployment.spec</a:t>
            </a:r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r>
              <a:rPr lang="en-GB" dirty="0"/>
              <a:t>Describe a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&lt;type&gt;/&lt;name&gt;</a:t>
            </a:r>
            <a:endParaRPr lang="en-GB" sz="24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&lt;type&gt;/&lt;name&gt; (--namespace &lt;namespace&gt; or --all-namespaces)</a:t>
            </a:r>
          </a:p>
          <a:p>
            <a:pPr lvl="1"/>
            <a:endParaRPr lang="en-GB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1800" dirty="0">
                <a:latin typeface="Calibri" panose="020F0502020204030204" pitchFamily="34" charset="0"/>
                <a:cs typeface="Calibri" panose="020F0502020204030204" pitchFamily="34" charset="0"/>
              </a:rPr>
              <a:t>Output format: </a:t>
            </a:r>
            <a:r>
              <a:rPr lang="en-GB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–o </a:t>
            </a:r>
            <a:r>
              <a:rPr lang="en-GB" sz="1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wide|json|yaml</a:t>
            </a:r>
            <a:b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Some examples:</a:t>
            </a:r>
            <a:br>
              <a:rPr lang="en-GB" dirty="0"/>
            </a:b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deployment/test –o wide</a:t>
            </a:r>
            <a:b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confimap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–o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&gt; 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config.yaml</a:t>
            </a:r>
            <a:b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pod –A</a:t>
            </a:r>
            <a:b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events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994846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CB66-CC14-8A50-48B1-87AA15C8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230D3-F4BB-5127-632C-1575E5F212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Edit any resource:</a:t>
            </a: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edit deployment/test</a:t>
            </a:r>
          </a:p>
          <a:p>
            <a:endParaRPr lang="en-DK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Use KUBE_EDITOR, or EDITOR to specify editor app</a:t>
            </a:r>
          </a:p>
          <a:p>
            <a:pPr lvl="1"/>
            <a:r>
              <a:rPr lang="en-GB" dirty="0"/>
              <a:t>Use </a:t>
            </a:r>
            <a:r>
              <a:rPr lang="en-GB" dirty="0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-o </a:t>
            </a:r>
            <a:r>
              <a:rPr lang="en-GB" dirty="0" err="1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to edit in JSON instead of YAML</a:t>
            </a:r>
            <a:endParaRPr lang="en-DK" dirty="0"/>
          </a:p>
          <a:p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Scale a deployment</a:t>
            </a: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scale --replicas=3 deployment/test</a:t>
            </a:r>
          </a:p>
          <a:p>
            <a:endParaRPr lang="en-GB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Interact with your deployment!</a:t>
            </a:r>
            <a:br>
              <a:rPr lang="en-DK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port-forward deployment/test 8888:80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local:pod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Target can also be service/my-service or pod/my-pod</a:t>
            </a:r>
          </a:p>
        </p:txBody>
      </p:sp>
    </p:spTree>
    <p:extLst>
      <p:ext uri="{BB962C8B-B14F-4D97-AF65-F5344CB8AC3E}">
        <p14:creationId xmlns:p14="http://schemas.microsoft.com/office/powerpoint/2010/main" val="32090952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3C87-D614-9F3D-7143-4494852E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Exec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1F14A-4B6B-E144-DDCE-038128141A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Get logs for a pod or deployment</a:t>
            </a:r>
          </a:p>
          <a:p>
            <a:pPr lvl="1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Contents of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stdout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and stderr</a:t>
            </a:r>
          </a:p>
          <a:p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logs &lt;pod-name&gt; (-c &lt;container-name&gt;)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Monitor: 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--follow / -f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Before crash: 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--previous / -p</a:t>
            </a:r>
            <a:b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Execute into running container</a:t>
            </a:r>
          </a:p>
          <a:p>
            <a:pPr marL="457200" lvl="1" indent="0">
              <a:buNone/>
            </a:pPr>
            <a:r>
              <a:rPr lang="en-GB" sz="16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&lt;pod-name&gt; -- date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 		(do stuff)</a:t>
            </a:r>
          </a:p>
          <a:p>
            <a:pPr marL="457200" lvl="1" indent="0">
              <a:buNone/>
            </a:pPr>
            <a:r>
              <a:rPr lang="en-GB" sz="16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-it deployment/demo -- /bin/</a:t>
            </a:r>
            <a:r>
              <a:rPr lang="en-GB" sz="16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	(interactive shell)</a:t>
            </a:r>
          </a:p>
          <a:p>
            <a:endParaRPr lang="en-DK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4581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A755-B8C3-03C7-840D-D48887E4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F94B2-CEE5-D340-86C8-A289295A5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48220" cy="4442517"/>
          </a:xfrm>
        </p:spPr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Create k8s resources from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yaml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files (local or remote):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./my-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29238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DF0-C92F-15FE-7E11-17F39728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595F3-C453-94E5-A3FC-61026941C4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sz="2800" b="1" dirty="0"/>
              <a:t>Terminal CLI</a:t>
            </a:r>
          </a:p>
          <a:p>
            <a:pPr lvl="1"/>
            <a:r>
              <a:rPr lang="en-GB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brew install derailed/k9s/k9s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Quick demo</a:t>
            </a:r>
          </a:p>
          <a:p>
            <a:pPr lvl="2"/>
            <a:endParaRPr lang="en-GB" sz="22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endParaRPr lang="en-GB" sz="2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Has its own plugin eco-system via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krew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Recommendations: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kubectx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kubens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neat, radar, resource-capacity</a:t>
            </a:r>
            <a:br>
              <a:rPr lang="en-DK" sz="2000" dirty="0"/>
            </a:br>
            <a:endParaRPr lang="en-DK" sz="2000" dirty="0"/>
          </a:p>
          <a:p>
            <a:r>
              <a:rPr lang="en-DK" sz="2800" b="1" dirty="0"/>
              <a:t>GUI</a:t>
            </a:r>
          </a:p>
          <a:p>
            <a:pPr lvl="1"/>
            <a:r>
              <a:rPr lang="en-DK" sz="2400" dirty="0"/>
              <a:t>Rancher (Web UI + RBAC)</a:t>
            </a:r>
          </a:p>
          <a:p>
            <a:pPr lvl="1"/>
            <a:r>
              <a:rPr lang="en-DK" sz="2400" dirty="0"/>
              <a:t>Headlamp (Desktop)</a:t>
            </a:r>
          </a:p>
          <a:p>
            <a:pPr lvl="1"/>
            <a:r>
              <a:rPr lang="en-DK" sz="2400" dirty="0"/>
              <a:t>Kubernetes Dashboard (Web UI)</a:t>
            </a:r>
          </a:p>
        </p:txBody>
      </p:sp>
    </p:spTree>
    <p:extLst>
      <p:ext uri="{BB962C8B-B14F-4D97-AF65-F5344CB8AC3E}">
        <p14:creationId xmlns:p14="http://schemas.microsoft.com/office/powerpoint/2010/main" val="17389910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0CEB-FE32-80E7-B049-F85CE3CA9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DAA7F4-D874-A629-F9E3-8F3612AA5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37067-253D-0A2E-C9D8-05C4EB208F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b="1" dirty="0"/>
              <a:t>Demo</a:t>
            </a:r>
            <a:br>
              <a:rPr lang="da-DK" dirty="0"/>
            </a:br>
            <a:r>
              <a:rPr lang="da-DK" dirty="0" err="1"/>
              <a:t>Kubernetes</a:t>
            </a:r>
            <a:r>
              <a:rPr lang="da-DK" dirty="0"/>
              <a:t> + Rancher UI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F028E6-99B7-EF50-8106-55C8CA875AC8}"/>
              </a:ext>
            </a:extLst>
          </p:cNvPr>
          <p:cNvSpPr txBox="1"/>
          <p:nvPr/>
        </p:nvSpPr>
        <p:spPr>
          <a:xfrm>
            <a:off x="6445250" y="5195995"/>
            <a:ext cx="4610100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If you installed Rancher Desktop,</a:t>
            </a:r>
            <a:br>
              <a:rPr lang="en-GB" sz="2000" dirty="0"/>
            </a:br>
            <a:r>
              <a:rPr lang="en-GB" sz="2000" b="1" dirty="0"/>
              <a:t>you already have Rancher UI installed!</a:t>
            </a:r>
          </a:p>
        </p:txBody>
      </p:sp>
    </p:spTree>
    <p:extLst>
      <p:ext uri="{BB962C8B-B14F-4D97-AF65-F5344CB8AC3E}">
        <p14:creationId xmlns:p14="http://schemas.microsoft.com/office/powerpoint/2010/main" val="319060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EF64-FCBF-84D6-F1DC-4D117EE6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C1F4-C00F-25FB-99CD-FEFDFCF917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BD23-F1AA-6860-8A3D-4D0EE5EB24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dirty="0"/>
              <a:t>Environment &amp;</a:t>
            </a:r>
          </a:p>
          <a:p>
            <a:r>
              <a:rPr lang="da-DK" dirty="0"/>
              <a:t>Volume </a:t>
            </a:r>
            <a:r>
              <a:rPr lang="da-DK" dirty="0" err="1"/>
              <a:t>mounts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09876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Aka. ”Cloud-native apps”</a:t>
            </a:r>
          </a:p>
          <a:p>
            <a:pPr lvl="1"/>
            <a:r>
              <a:rPr lang="en-GB" dirty="0"/>
              <a:t>Goal: Be portable and scalable!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applikationer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Baked-in dependencies</a:t>
            </a:r>
          </a:p>
          <a:p>
            <a:pPr lvl="2"/>
            <a:r>
              <a:rPr lang="en-GB" dirty="0"/>
              <a:t>Explicitly declared and baked into image.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etc…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151" y="2844684"/>
            <a:ext cx="2233867" cy="2233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9324151" y="5167312"/>
            <a:ext cx="2712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Required reading:</a:t>
            </a:r>
            <a:br>
              <a:rPr lang="en-GB" dirty="0"/>
            </a:br>
            <a:r>
              <a:rPr lang="en-GB" dirty="0">
                <a:hlinkClick r:id="rId3"/>
              </a:rPr>
              <a:t>https://12factor.net/</a:t>
            </a:r>
            <a:r>
              <a:rPr lang="en-GB" dirty="0"/>
              <a:t> or </a:t>
            </a:r>
            <a:r>
              <a:rPr lang="en-GB" dirty="0">
                <a:hlinkClick r:id="rId4"/>
              </a:rPr>
              <a:t>https://w.wiki/MHUu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CAC72-620D-FDB6-2392-C421CF47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B1A88-DBE1-2F9E-6DD2-89FAAE5C52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10393"/>
            <a:ext cx="10515600" cy="4622811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A Kubernetes volume mount is a directory or file injected into a container at runtime.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Data that comes from outside the container </a:t>
            </a:r>
            <a:r>
              <a:rPr lang="en-GB" sz="2000" dirty="0">
                <a:sym typeface="Wingdings" pitchFamily="2" charset="2"/>
              </a:rPr>
              <a:t> </a:t>
            </a:r>
            <a:r>
              <a:rPr lang="en-GB" sz="2000" dirty="0"/>
              <a:t>share or externalize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E.g. configuration files, credentials, shared files between containers in a Pod,</a:t>
            </a:r>
            <a:br>
              <a:rPr lang="en-GB" sz="2000" dirty="0"/>
            </a:br>
            <a:r>
              <a:rPr lang="en-GB" sz="2000" dirty="0"/>
              <a:t>or </a:t>
            </a:r>
            <a:r>
              <a:rPr lang="en-GB" sz="2000" b="1" dirty="0"/>
              <a:t>data that must survive container restarts (persistence)</a:t>
            </a:r>
            <a:r>
              <a:rPr lang="en-GB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Can be: </a:t>
            </a:r>
            <a:r>
              <a:rPr lang="en-GB" sz="2000" dirty="0" err="1"/>
              <a:t>ConfigMap</a:t>
            </a:r>
            <a:r>
              <a:rPr lang="en-GB" sz="2000" dirty="0"/>
              <a:t>, Secret, PVC, </a:t>
            </a:r>
            <a:r>
              <a:rPr lang="en-GB" sz="2000" dirty="0" err="1"/>
              <a:t>emptyDir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ConfigMaps</a:t>
            </a: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Secrets</a:t>
            </a:r>
            <a:br>
              <a:rPr lang="en-DK" sz="2000" dirty="0"/>
            </a:br>
            <a:r>
              <a:rPr lang="en-DK" sz="1400" dirty="0"/>
              <a:t>(base64, </a:t>
            </a:r>
            <a:r>
              <a:rPr lang="en-DK" sz="1400" b="1" dirty="0"/>
              <a:t>not secured!</a:t>
            </a:r>
            <a:r>
              <a:rPr lang="en-DK" sz="14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sz="2000" dirty="0"/>
          </a:p>
          <a:p>
            <a:endParaRPr lang="en-DK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41BA6-7D07-4110-9197-D8DBE8CFE3C5}"/>
              </a:ext>
            </a:extLst>
          </p:cNvPr>
          <p:cNvSpPr txBox="1"/>
          <p:nvPr/>
        </p:nvSpPr>
        <p:spPr>
          <a:xfrm>
            <a:off x="3220923" y="3343715"/>
            <a:ext cx="2842419" cy="160043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my-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key1: value1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key2: value2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3EC74C-BEFE-89B9-DB20-A78BD316E0ED}"/>
              </a:ext>
            </a:extLst>
          </p:cNvPr>
          <p:cNvSpPr txBox="1"/>
          <p:nvPr/>
        </p:nvSpPr>
        <p:spPr>
          <a:xfrm>
            <a:off x="6814140" y="3384332"/>
            <a:ext cx="5102679" cy="310854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container:</a:t>
            </a:r>
            <a:b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-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name: nginx-config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- name: nginx-config 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name: my-nginx-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A96DF-205A-5317-26DA-2013ADDA2211}"/>
              </a:ext>
            </a:extLst>
          </p:cNvPr>
          <p:cNvSpPr txBox="1"/>
          <p:nvPr/>
        </p:nvSpPr>
        <p:spPr>
          <a:xfrm>
            <a:off x="3220924" y="5107880"/>
            <a:ext cx="2842419" cy="138499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Secret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secret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key1: c2hoLWl0cy1hLX==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E62844-205F-7E00-F8C1-114B5A6D0C96}"/>
              </a:ext>
            </a:extLst>
          </p:cNvPr>
          <p:cNvSpPr txBox="1"/>
          <p:nvPr/>
        </p:nvSpPr>
        <p:spPr>
          <a:xfrm>
            <a:off x="6732588" y="3015000"/>
            <a:ext cx="131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Usage:</a:t>
            </a:r>
          </a:p>
        </p:txBody>
      </p:sp>
    </p:spTree>
    <p:extLst>
      <p:ext uri="{BB962C8B-B14F-4D97-AF65-F5344CB8AC3E}">
        <p14:creationId xmlns:p14="http://schemas.microsoft.com/office/powerpoint/2010/main" val="2118680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F453D-AFC2-8BB5-A1DA-0CD6613B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2317-52F5-3957-AFA0-2BD76D1B67C7}"/>
              </a:ext>
            </a:extLst>
          </p:cNvPr>
          <p:cNvSpPr txBox="1"/>
          <p:nvPr/>
        </p:nvSpPr>
        <p:spPr>
          <a:xfrm>
            <a:off x="6667183" y="1903874"/>
            <a:ext cx="5102679" cy="310854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container:</a:t>
            </a:r>
            <a:b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- name: </a:t>
            </a:r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 </a:t>
            </a:r>
          </a:p>
          <a:p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1400" dirty="0" err="1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- name: </a:t>
            </a:r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name: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sz="1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379FD-0DD7-DA81-C060-B48B2F6C4890}"/>
              </a:ext>
            </a:extLst>
          </p:cNvPr>
          <p:cNvSpPr txBox="1"/>
          <p:nvPr/>
        </p:nvSpPr>
        <p:spPr>
          <a:xfrm>
            <a:off x="6585631" y="1534542"/>
            <a:ext cx="2991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Usage in Deployment: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F60B-72DA-4557-9E1D-583572BB6D9B}"/>
              </a:ext>
            </a:extLst>
          </p:cNvPr>
          <p:cNvSpPr txBox="1"/>
          <p:nvPr/>
        </p:nvSpPr>
        <p:spPr>
          <a:xfrm>
            <a:off x="919752" y="1903874"/>
            <a:ext cx="5102679" cy="332398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sz="1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1400" dirty="0" err="1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|-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server {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listen 80;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server_name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_;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error_page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404 @sorry;</a:t>
            </a:r>
            <a:b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location @sorry {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404 ”Dead-end\n";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C4D67-80D8-48F9-7AF2-F6955CA1AFFF}"/>
              </a:ext>
            </a:extLst>
          </p:cNvPr>
          <p:cNvSpPr txBox="1"/>
          <p:nvPr/>
        </p:nvSpPr>
        <p:spPr>
          <a:xfrm>
            <a:off x="838200" y="1534542"/>
            <a:ext cx="131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ConfigMap: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7BDAC5-9D51-7AE4-6973-13D37502F454}"/>
              </a:ext>
            </a:extLst>
          </p:cNvPr>
          <p:cNvSpPr txBox="1"/>
          <p:nvPr/>
        </p:nvSpPr>
        <p:spPr>
          <a:xfrm>
            <a:off x="910114" y="5323458"/>
            <a:ext cx="71710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/>
              <a:t>Exercises: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Try adding this to your test deployment!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Try removing the subPath</a:t>
            </a:r>
          </a:p>
        </p:txBody>
      </p:sp>
    </p:spTree>
    <p:extLst>
      <p:ext uri="{BB962C8B-B14F-4D97-AF65-F5344CB8AC3E}">
        <p14:creationId xmlns:p14="http://schemas.microsoft.com/office/powerpoint/2010/main" val="29612765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975C-19E4-989C-13D3-1B638FA0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- Persistence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668B6-060D-CE1D-FFA3-F9AD4AA5E0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Storage Class</a:t>
            </a:r>
          </a:p>
          <a:p>
            <a:pPr marL="1028700" lvl="1" indent="-342900"/>
            <a:r>
              <a:rPr lang="en-DK" dirty="0"/>
              <a:t>Type of storage</a:t>
            </a:r>
          </a:p>
          <a:p>
            <a:pPr marL="1028700" lvl="1" indent="-342900"/>
            <a:r>
              <a:rPr lang="en-DK" dirty="0"/>
              <a:t>E.g. Local-path, NFS, SMB, Longhorn, S3.</a:t>
            </a:r>
          </a:p>
          <a:p>
            <a:pPr marL="1028700" lvl="1" indent="-342900"/>
            <a:r>
              <a:rPr lang="en-DK" dirty="0"/>
              <a:t>A storage controller handles PVC -&gt; PV binding. 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 Claim</a:t>
            </a:r>
          </a:p>
          <a:p>
            <a:pPr marL="1028700" lvl="1" indent="-342900"/>
            <a:r>
              <a:rPr lang="en-DK" dirty="0"/>
              <a:t>A request for storage of a specified class, size and access-mode.</a:t>
            </a:r>
          </a:p>
          <a:p>
            <a:pPr marL="1028700" lvl="1" indent="-342900"/>
            <a:r>
              <a:rPr lang="en-DK" i="1" dirty="0"/>
              <a:t>storageClass</a:t>
            </a:r>
            <a:r>
              <a:rPr lang="en-DK" dirty="0"/>
              <a:t> = Which type of storage do you need.</a:t>
            </a:r>
          </a:p>
          <a:p>
            <a:pPr marL="1028700" lvl="1" indent="-342900"/>
            <a:r>
              <a:rPr lang="en-DK" i="1" dirty="0"/>
              <a:t>accessModes</a:t>
            </a:r>
            <a:r>
              <a:rPr lang="en-DK" dirty="0"/>
              <a:t> = Read-only or Write, Single-node or Multi-node.</a:t>
            </a:r>
          </a:p>
          <a:p>
            <a:pPr marL="1028700" lvl="1" indent="-342900"/>
            <a:r>
              <a:rPr lang="en-DK" dirty="0"/>
              <a:t>E.g. give me 10 GB storage of class Longhorn (distributed) supporting RWX (multi-node writable) mode.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Volumes</a:t>
            </a:r>
          </a:p>
          <a:p>
            <a:pPr marL="1028700" lvl="1" indent="-342900"/>
            <a:r>
              <a:rPr lang="en-DK" dirty="0"/>
              <a:t>An actual "piece” of dedicated persistent storage on the cluster.</a:t>
            </a:r>
          </a:p>
          <a:p>
            <a:pPr marL="1028700" lvl="1" indent="-342900"/>
            <a:r>
              <a:rPr lang="en-DK" dirty="0"/>
              <a:t>May be </a:t>
            </a:r>
            <a:r>
              <a:rPr lang="en-DK" i="1" dirty="0"/>
              <a:t>bound</a:t>
            </a:r>
            <a:r>
              <a:rPr lang="en-DK" dirty="0"/>
              <a:t> by a PVC or </a:t>
            </a:r>
            <a:r>
              <a:rPr lang="en-DK" i="1" dirty="0"/>
              <a:t>released</a:t>
            </a:r>
            <a:r>
              <a:rPr lang="en-DK" dirty="0"/>
              <a:t>.</a:t>
            </a:r>
          </a:p>
          <a:p>
            <a:pPr marL="1028700" lvl="1" indent="-342900"/>
            <a:r>
              <a:rPr lang="en-DK" dirty="0"/>
              <a:t>⚠️  ReclaimPolicy: Retain vs. Delete ⚠️</a:t>
            </a:r>
          </a:p>
          <a:p>
            <a:pPr marL="1028700" lvl="1" indent="-342900"/>
            <a:endParaRPr lang="en-DK" dirty="0"/>
          </a:p>
          <a:p>
            <a:pPr marL="342900" indent="-342900"/>
            <a:r>
              <a:rPr lang="en-GB" dirty="0">
                <a:effectLst/>
                <a:latin typeface="inherit"/>
              </a:rPr>
              <a:t>Pod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PVC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PV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Storage (Local, NFS, SMB)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17532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D0D-628A-54FA-CCF9-A016CC87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Environment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92C0-299F-1F5C-50FC-8B2CEA1C84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Standard way to configure a cloud-ready app.</a:t>
            </a:r>
          </a:p>
          <a:p>
            <a:endParaRPr lang="en-DK" sz="2000" dirty="0"/>
          </a:p>
          <a:p>
            <a:r>
              <a:rPr lang="en-DK" sz="2000" dirty="0"/>
              <a:t>Many options: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Define key/value directly on the Deployment.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Import from a volume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000" dirty="0"/>
              <a:t>From ConfigMap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000" dirty="0"/>
              <a:t>From Secret</a:t>
            </a:r>
          </a:p>
          <a:p>
            <a:pPr lvl="1" indent="0">
              <a:buNone/>
            </a:pPr>
            <a:endParaRPr lang="en-DK" sz="2000" dirty="0"/>
          </a:p>
          <a:p>
            <a:r>
              <a:rPr lang="en-DK" sz="2000" b="1" dirty="0"/>
              <a:t>Exercises:</a:t>
            </a:r>
          </a:p>
          <a:p>
            <a:r>
              <a:rPr lang="en-DK" sz="2000" dirty="0"/>
              <a:t>Follow instructions in </a:t>
            </a:r>
            <a:r>
              <a:rPr lang="en-DK" sz="2000" b="1" dirty="0"/>
              <a:t>2-config-and-env</a:t>
            </a:r>
          </a:p>
        </p:txBody>
      </p:sp>
    </p:spTree>
    <p:extLst>
      <p:ext uri="{BB962C8B-B14F-4D97-AF65-F5344CB8AC3E}">
        <p14:creationId xmlns:p14="http://schemas.microsoft.com/office/powerpoint/2010/main" val="12571904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06E47-7055-29FB-4C96-E86C3A4DF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F6559-52C8-CA25-7866-271DF2E00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Exercise: Volumes &amp; Persistence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62DE83-7A9D-EDAD-0508-E8DBBBCB88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2120900"/>
            <a:ext cx="10515600" cy="4012305"/>
          </a:xfrm>
        </p:spPr>
        <p:txBody>
          <a:bodyPr/>
          <a:lstStyle/>
          <a:p>
            <a:r>
              <a:rPr lang="en-DK" dirty="0"/>
              <a:t>Følg instrukser i </a:t>
            </a:r>
            <a:r>
              <a:rPr lang="en-DK" b="1" dirty="0"/>
              <a:t>3-volumes-and-persistence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9613260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8.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263173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br>
              <a:rPr lang="da-DK" dirty="0"/>
            </a:br>
            <a:r>
              <a:rPr lang="da-DK" dirty="0" err="1"/>
              <a:t>Exposing</a:t>
            </a:r>
            <a:r>
              <a:rPr lang="da-DK" dirty="0"/>
              <a:t> </a:t>
            </a:r>
            <a:r>
              <a:rPr lang="da-DK" dirty="0" err="1"/>
              <a:t>workloads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40228480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gress can balance the inbound traffic in Kubernetes.">
            <a:extLst>
              <a:ext uri="{FF2B5EF4-FFF2-40B4-BE49-F238E27FC236}">
                <a16:creationId xmlns:a16="http://schemas.microsoft.com/office/drawing/2014/main" id="{00124E4C-1021-2448-3075-B26842E60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1084" y="1690688"/>
            <a:ext cx="6850916" cy="4523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 &amp; Ingress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b="1" dirty="0"/>
              <a:t>Service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Intern DNS</a:t>
            </a:r>
          </a:p>
          <a:p>
            <a:pPr lvl="1"/>
            <a:r>
              <a:rPr lang="en-DK" dirty="0"/>
              <a:t>Fx. my-service.&lt;namespace&gt;.svc.cluster.local</a:t>
            </a:r>
          </a:p>
          <a:p>
            <a:r>
              <a:rPr lang="en-DK" b="1" dirty="0"/>
              <a:t>Ingress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External DNS</a:t>
            </a:r>
          </a:p>
          <a:p>
            <a:pPr lvl="1"/>
            <a:r>
              <a:rPr lang="en-DK" dirty="0"/>
              <a:t>SSL termination</a:t>
            </a:r>
          </a:p>
          <a:p>
            <a:pPr lvl="1"/>
            <a:r>
              <a:rPr lang="en-DK" dirty="0"/>
              <a:t>Connects to services</a:t>
            </a:r>
          </a:p>
          <a:p>
            <a:pPr lvl="1"/>
            <a:r>
              <a:rPr lang="da-DK" dirty="0"/>
              <a:t>Fx. </a:t>
            </a:r>
            <a:r>
              <a:rPr lang="da-DK" dirty="0" err="1"/>
              <a:t>my</a:t>
            </a:r>
            <a:r>
              <a:rPr lang="da-DK" dirty="0"/>
              <a:t>-app</a:t>
            </a:r>
            <a:r>
              <a:rPr lang="en-DK" dirty="0"/>
              <a:t>-devel.kb.dk</a:t>
            </a:r>
          </a:p>
          <a:p>
            <a:pPr marL="0" indent="0">
              <a:buNone/>
            </a:pPr>
            <a:endParaRPr lang="en-DK" dirty="0"/>
          </a:p>
          <a:p>
            <a:r>
              <a:rPr lang="en-DK" sz="2200" dirty="0"/>
              <a:t>Request </a:t>
            </a:r>
            <a:r>
              <a:rPr lang="en-DK" sz="2200" dirty="0">
                <a:sym typeface="Wingdings" pitchFamily="2" charset="2"/>
              </a:rPr>
              <a:t> </a:t>
            </a:r>
            <a:r>
              <a:rPr lang="en-DK" sz="2200" dirty="0"/>
              <a:t>Ingress </a:t>
            </a:r>
            <a:r>
              <a:rPr lang="en-DK" sz="2200" dirty="0">
                <a:sym typeface="Wingdings" pitchFamily="2" charset="2"/>
              </a:rPr>
              <a:t></a:t>
            </a:r>
            <a:r>
              <a:rPr lang="en-DK" sz="2200" dirty="0"/>
              <a:t> Service </a:t>
            </a:r>
            <a:r>
              <a:rPr lang="en-DK" sz="2200" dirty="0">
                <a:sym typeface="Wingdings" pitchFamily="2" charset="2"/>
              </a:rPr>
              <a:t> Pod</a:t>
            </a:r>
            <a:endParaRPr lang="en-DK" sz="2200" dirty="0"/>
          </a:p>
          <a:p>
            <a:endParaRPr lang="en-DK" dirty="0"/>
          </a:p>
          <a:p>
            <a:r>
              <a:rPr lang="en-DK" sz="2200" dirty="0"/>
              <a:t>Se på eksempel i Rancher</a:t>
            </a:r>
          </a:p>
        </p:txBody>
      </p:sp>
    </p:spTree>
    <p:extLst>
      <p:ext uri="{BB962C8B-B14F-4D97-AF65-F5344CB8AC3E}">
        <p14:creationId xmlns:p14="http://schemas.microsoft.com/office/powerpoint/2010/main" val="23481883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C8AD0-4275-B6C0-8508-66AC67AF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Expose a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3CBB0-6729-82F4-9EF6-D2CAD44FB3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095721" cy="4442517"/>
          </a:xfrm>
        </p:spPr>
        <p:txBody>
          <a:bodyPr>
            <a:normAutofit fontScale="85000" lnSpcReduction="20000"/>
          </a:bodyPr>
          <a:lstStyle/>
          <a:p>
            <a:r>
              <a:rPr lang="en-GB" dirty="0">
                <a:hlinkClick r:id="rId2"/>
              </a:rPr>
              <a:t>https://kubernetes.io/docs/tutorials/services/connect-applications-service/#creating-a-service</a:t>
            </a:r>
            <a:endParaRPr lang="en-GB" dirty="0"/>
          </a:p>
          <a:p>
            <a:endParaRPr lang="en-GB" dirty="0"/>
          </a:p>
          <a:p>
            <a:r>
              <a:rPr lang="en-GB" dirty="0"/>
              <a:t>First install an Ingress controller!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expose deployment/test --port 80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SFMono-Regular"/>
              </a:rPr>
              <a:t>Creates a new Service resource!</a:t>
            </a:r>
          </a:p>
          <a:p>
            <a:pPr lvl="1"/>
            <a:endParaRPr lang="en-GB" dirty="0">
              <a:solidFill>
                <a:srgbClr val="222222"/>
              </a:solidFill>
              <a:latin typeface="SFMono-Regular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--rule=host/path=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service:port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(--class=)</a:t>
            </a:r>
          </a:p>
          <a:p>
            <a:endParaRPr lang="en-GB" dirty="0"/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demo.localhost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/=test:80 --class=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edit ingress/test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ingress 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20631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84BA0-5EBC-38A9-DDAA-6C65AE23A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Exposing workloads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70983B-8F5F-686F-5B10-A5554CF0BE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instrukser i øvelse </a:t>
            </a:r>
            <a:r>
              <a:rPr lang="en-DK" b="1" dirty="0"/>
              <a:t>4-exposing-workloads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3591813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B379AB-2542-3C49-D9C4-73D452B28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9.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13D03-DA13-4C99-9A7E-44673762B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Composite systems</a:t>
            </a:r>
            <a:br>
              <a:rPr lang="en-DK" dirty="0"/>
            </a:br>
            <a:br>
              <a:rPr lang="en-DK" dirty="0"/>
            </a:br>
            <a:r>
              <a:rPr lang="en-DK" sz="2400" dirty="0"/>
              <a:t>Systemer bestående af flere Pods der skal kunne snakke sammen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288730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4C2F-6574-F7A0-E960-0C846DA7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4C0F1-B3A6-E24C-9E32-04B3DAF77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Hvordan får man Pods/komponenter til at snakke sammen?</a:t>
            </a:r>
          </a:p>
          <a:p>
            <a:pPr lvl="1"/>
            <a:r>
              <a:rPr lang="en-DK" dirty="0"/>
              <a:t>Primært via: Services og Konfiguration</a:t>
            </a:r>
          </a:p>
          <a:p>
            <a:r>
              <a:rPr lang="en-DK" dirty="0"/>
              <a:t>Systemarkitektur (hvorfor micro-services).</a:t>
            </a:r>
            <a:br>
              <a:rPr lang="en-DK" dirty="0"/>
            </a:br>
            <a:endParaRPr lang="en-DK" dirty="0"/>
          </a:p>
          <a:p>
            <a:r>
              <a:rPr lang="en-DK" dirty="0"/>
              <a:t>Eksempel:</a:t>
            </a:r>
          </a:p>
          <a:p>
            <a:pPr lvl="1"/>
            <a:r>
              <a:rPr lang="en-GB" dirty="0">
                <a:hlinkClick r:id="rId2"/>
              </a:rPr>
              <a:t>https://kubernetes.io/docs/tutorials/stateless-application/guestbook/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005323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41868-EB45-50FC-5766-8A7FDECE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Composite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070E38-5EFC-069A-BF89-7D5931C84C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instrukser i øvelse </a:t>
            </a:r>
            <a:r>
              <a:rPr lang="en-DK" b="1" dirty="0"/>
              <a:t>5-composite-system</a:t>
            </a:r>
          </a:p>
          <a:p>
            <a:endParaRPr lang="en-DK" dirty="0"/>
          </a:p>
          <a:p>
            <a:r>
              <a:rPr lang="en-DK" dirty="0"/>
              <a:t>Tager udgangspunkt i en Spring Boot app med Postgres database</a:t>
            </a:r>
          </a:p>
          <a:p>
            <a:pPr lvl="1"/>
            <a:r>
              <a:rPr lang="en-DK" dirty="0"/>
              <a:t>Bruger et image vi selv byggede i Containerisation workshop’en:</a:t>
            </a:r>
            <a:br>
              <a:rPr lang="en-DK" dirty="0"/>
            </a:b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notalib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/workshop-containerisation/spring-</a:t>
            </a: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postgres</a:t>
            </a:r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Få en Spring Boot backend til at snakke med en Postgres database i k8s.</a:t>
            </a:r>
          </a:p>
        </p:txBody>
      </p:sp>
    </p:spTree>
    <p:extLst>
      <p:ext uri="{BB962C8B-B14F-4D97-AF65-F5344CB8AC3E}">
        <p14:creationId xmlns:p14="http://schemas.microsoft.com/office/powerpoint/2010/main" val="38670744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031-EFF8-8F2A-D7DA-404C577FA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 – Helm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A9DE6-A35A-D8F2-0F8A-68133F0FB4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hvis vi kunne pakke vores store fagsystemet til ét samlet versioneret release der kan køre i Kubernetes?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Og samtidig kunne ændre på konfigurationen når vi installerer det.</a:t>
            </a:r>
          </a:p>
          <a:p>
            <a:endParaRPr lang="en-DK" dirty="0"/>
          </a:p>
          <a:p>
            <a:r>
              <a:rPr lang="en-DK" dirty="0"/>
              <a:t>Det er her </a:t>
            </a:r>
            <a:r>
              <a:rPr lang="en-DK" b="1" dirty="0"/>
              <a:t>Helm Charts </a:t>
            </a:r>
            <a:r>
              <a:rPr lang="en-DK" dirty="0"/>
              <a:t>kommer ind, fokus for workshop #3.</a:t>
            </a:r>
          </a:p>
          <a:p>
            <a:pPr lvl="1"/>
            <a:r>
              <a:rPr lang="en-DK" dirty="0"/>
              <a:t>Helm charts packages all manifests for a complex system into a .zip file</a:t>
            </a:r>
          </a:p>
          <a:p>
            <a:pPr lvl="1"/>
            <a:r>
              <a:rPr lang="en-DK" dirty="0"/>
              <a:t>Helm charts expose configuration knobs instead of forcing you to edit raw YAML</a:t>
            </a:r>
          </a:p>
          <a:p>
            <a:endParaRPr lang="en-DK" dirty="0"/>
          </a:p>
          <a:p>
            <a:r>
              <a:rPr lang="en-DK" dirty="0"/>
              <a:t>Demo af DT-DIT Helm charts</a:t>
            </a:r>
          </a:p>
        </p:txBody>
      </p:sp>
    </p:spTree>
    <p:extLst>
      <p:ext uri="{BB962C8B-B14F-4D97-AF65-F5344CB8AC3E}">
        <p14:creationId xmlns:p14="http://schemas.microsoft.com/office/powerpoint/2010/main" val="17878438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C31F27-B13D-50DC-F363-EE9A52C62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7DF13-2D40-344F-F512-2905785005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916719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EFF76-B0ED-E0F5-1392-044B056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StatefulSet &amp; DaemonSet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48290-1AC3-842B-70DE-8C7C60F4D0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DaemonSet</a:t>
            </a:r>
          </a:p>
          <a:p>
            <a:pPr lvl="1"/>
            <a:r>
              <a:rPr lang="en-DK" dirty="0"/>
              <a:t>Deployment med garanti for at 1 Pod kører på hver node/maskine.</a:t>
            </a:r>
          </a:p>
          <a:p>
            <a:pPr lvl="1"/>
            <a:r>
              <a:rPr lang="en-DK" dirty="0"/>
              <a:t>Kan bruges til cluster-wide værktøjer der bør køre på alle noder i clusteren.</a:t>
            </a:r>
          </a:p>
          <a:p>
            <a:pPr lvl="1"/>
            <a:endParaRPr lang="en-DK" dirty="0"/>
          </a:p>
          <a:p>
            <a:r>
              <a:rPr lang="en-DK" b="1" dirty="0"/>
              <a:t>StatefulSet</a:t>
            </a:r>
          </a:p>
          <a:p>
            <a:pPr lvl="1"/>
            <a:r>
              <a:rPr lang="en-DK" dirty="0"/>
              <a:t>Et specifikt antal Pods, som hver får et unikt og persistent ID (såkaldt sticky Pod ID).</a:t>
            </a:r>
          </a:p>
          <a:p>
            <a:pPr lvl="1"/>
            <a:r>
              <a:rPr lang="en-DK" dirty="0"/>
              <a:t>Kan f.eks bruges til at et cluster af ens Pods, hvor de kan kende forskel på hinanden og få den samme storage mounted hver gang.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05666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Pods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25" y="1690688"/>
            <a:ext cx="11215171" cy="4442517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https://kubernetes.io/docs/tasks/debug/debug-application/debug-running-pod/</a:t>
            </a:r>
            <a:endParaRPr lang="en-GB" dirty="0"/>
          </a:p>
          <a:p>
            <a:endParaRPr lang="en-GB" dirty="0"/>
          </a:p>
          <a:p>
            <a:r>
              <a:rPr lang="en-GB" dirty="0"/>
              <a:t>Debug running Pod</a:t>
            </a:r>
            <a:endParaRPr lang="en-GB" sz="2000" dirty="0"/>
          </a:p>
          <a:p>
            <a:pPr marL="0" indent="0">
              <a:buNone/>
            </a:pP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registry.k8s.io/pause:3.1 --restart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Never</a:t>
            </a: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-it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busybox:1.28 --target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chemeClr val="tx1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pause</a:t>
            </a:r>
          </a:p>
          <a:p>
            <a:endParaRPr lang="en-GB" dirty="0">
              <a:solidFill>
                <a:srgbClr val="222222"/>
              </a:solidFill>
              <a:highlight>
                <a:srgbClr val="F8F8F8"/>
              </a:highlight>
              <a:latin typeface="SFMono-Regular"/>
            </a:endParaRPr>
          </a:p>
          <a:p>
            <a:r>
              <a:rPr lang="en-GB" dirty="0"/>
              <a:t>Debug a crashing Pod</a:t>
            </a:r>
            <a:endParaRPr lang="en-GB" sz="2000" dirty="0"/>
          </a:p>
          <a:p>
            <a:pPr marL="0" indent="0">
              <a:buNone/>
            </a:pP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--image=busybox:1.28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 false</a:t>
            </a: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-it --copy-to=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-debug --container=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--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sz="18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2938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CB12-88A0-0A98-5E4B-E2CE15A6F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Test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A16B-DA1F-4AB9-A24F-69C36CCA0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498181"/>
            <a:ext cx="5257800" cy="542373"/>
          </a:xfrm>
        </p:spPr>
        <p:txBody>
          <a:bodyPr>
            <a:normAutofit fontScale="85000" lnSpcReduction="10000"/>
          </a:bodyPr>
          <a:lstStyle/>
          <a:p>
            <a:r>
              <a:rPr lang="en-DK" dirty="0"/>
              <a:t>For debugging and playing around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FBED-8495-040E-10C9-0F508B142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HTTP 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nginx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whoami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mendhak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/http-https-echo (ports 8080 &amp; 8443)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/>
              <a:t>General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(very slim!)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wbitt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/network-multitool (:extra tag for additional tools)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ubuntu:26.04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547330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37132</TotalTime>
  <Words>3370</Words>
  <Application>Microsoft Macintosh PowerPoint</Application>
  <PresentationFormat>Widescreen</PresentationFormat>
  <Paragraphs>548</Paragraphs>
  <Slides>61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61</vt:i4>
      </vt:variant>
    </vt:vector>
  </HeadingPairs>
  <TitlesOfParts>
    <vt:vector size="72" baseType="lpstr">
      <vt:lpstr>Arial</vt:lpstr>
      <vt:lpstr>Calibri</vt:lpstr>
      <vt:lpstr>Calibri Light</vt:lpstr>
      <vt:lpstr>Consolas</vt:lpstr>
      <vt:lpstr>Courier New</vt:lpstr>
      <vt:lpstr>inherit</vt:lpstr>
      <vt:lpstr>SFMono-Regular</vt:lpstr>
      <vt:lpstr>Times New Roman</vt:lpstr>
      <vt:lpstr>Wingdings</vt:lpstr>
      <vt:lpstr>Indhold</vt:lpstr>
      <vt:lpstr>Pause og overgange</vt:lpstr>
      <vt:lpstr>Kubernetes Workshop </vt:lpstr>
      <vt:lpstr>PowerPoint Presentation</vt:lpstr>
      <vt:lpstr>PowerPoint Presentation</vt:lpstr>
      <vt:lpstr>PowerPoint Presentation</vt:lpstr>
      <vt:lpstr>Container = Legoklods</vt:lpstr>
      <vt:lpstr>Containerization</vt:lpstr>
      <vt:lpstr>OCI – Standardisering af Containers</vt:lpstr>
      <vt:lpstr>Docker vs Kubernetes (k8s)</vt:lpstr>
      <vt:lpstr>PowerPoint Presentation</vt:lpstr>
      <vt:lpstr>PowerPoint Presentation</vt:lpstr>
      <vt:lpstr>Docker Compose vs. Kubernetes</vt:lpstr>
      <vt:lpstr>Hvad er Kubernetes?</vt:lpstr>
      <vt:lpstr>Control Plane (“The Brain”) </vt:lpstr>
      <vt:lpstr>Worker Nodes (“The Muscle”)</vt:lpstr>
      <vt:lpstr>Kubernetes Cluster</vt:lpstr>
      <vt:lpstr>Kubernetes API</vt:lpstr>
      <vt:lpstr>Hvordan bruger man så Kubernetes?</vt:lpstr>
      <vt:lpstr>PowerPoint Presentation</vt:lpstr>
      <vt:lpstr>2. Demo – Smagsprøve på k8s</vt:lpstr>
      <vt:lpstr>PowerPoint Presentation</vt:lpstr>
      <vt:lpstr>Setup a local Kubernetes cluster</vt:lpstr>
      <vt:lpstr>Workshop Repo</vt:lpstr>
      <vt:lpstr>PowerPoint Presentation</vt:lpstr>
      <vt:lpstr>Kubernetes Manifests (YAML)</vt:lpstr>
      <vt:lpstr>Namespaces</vt:lpstr>
      <vt:lpstr>What is a Pod?</vt:lpstr>
      <vt:lpstr>Pod visualisering</vt:lpstr>
      <vt:lpstr>Pod manifest</vt:lpstr>
      <vt:lpstr>What is a Deployment?</vt:lpstr>
      <vt:lpstr>Deployment manifest</vt:lpstr>
      <vt:lpstr>Manifest vs. Controller</vt:lpstr>
      <vt:lpstr>Core Kubernetes loop</vt:lpstr>
      <vt:lpstr>Services</vt:lpstr>
      <vt:lpstr>Service - Manifest</vt:lpstr>
      <vt:lpstr>PowerPoint Presentation</vt:lpstr>
      <vt:lpstr>Kubectl commands</vt:lpstr>
      <vt:lpstr>Kubectl commands</vt:lpstr>
      <vt:lpstr>Kubectl commands</vt:lpstr>
      <vt:lpstr>Exec &amp; Logs</vt:lpstr>
      <vt:lpstr>Kubectl apply</vt:lpstr>
      <vt:lpstr>Kubernetes Tools</vt:lpstr>
      <vt:lpstr>PowerPoint Presentation</vt:lpstr>
      <vt:lpstr>PowerPoint Presentation</vt:lpstr>
      <vt:lpstr>Containerisation – The 12 factor app</vt:lpstr>
      <vt:lpstr>Volume Mounts</vt:lpstr>
      <vt:lpstr>Volume Mount – Example</vt:lpstr>
      <vt:lpstr>Volume Mounts - Persistence</vt:lpstr>
      <vt:lpstr>Environment variables</vt:lpstr>
      <vt:lpstr>Exercise: Volumes &amp; Persistence </vt:lpstr>
      <vt:lpstr>PowerPoint Presentation</vt:lpstr>
      <vt:lpstr>Services &amp; Ingress</vt:lpstr>
      <vt:lpstr>Expose a service</vt:lpstr>
      <vt:lpstr>Exercise: Exposing workloads</vt:lpstr>
      <vt:lpstr>PowerPoint Presentation</vt:lpstr>
      <vt:lpstr>Komplekse systemer</vt:lpstr>
      <vt:lpstr>Exercise: Composite Systems</vt:lpstr>
      <vt:lpstr>Komplekse systemer – Helm</vt:lpstr>
      <vt:lpstr>PowerPoint Presentation</vt:lpstr>
      <vt:lpstr>StatefulSet &amp; DaemonSet</vt:lpstr>
      <vt:lpstr>Debugging Pods</vt:lpstr>
      <vt:lpstr>Test images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284</cp:revision>
  <dcterms:created xsi:type="dcterms:W3CDTF">2021-06-21T11:45:03Z</dcterms:created>
  <dcterms:modified xsi:type="dcterms:W3CDTF">2026-05-29T12:19:36Z</dcterms:modified>
</cp:coreProperties>
</file>