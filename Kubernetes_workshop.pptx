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00" r:id="rId2"/>
  </p:sldMasterIdLst>
  <p:notesMasterIdLst>
    <p:notesMasterId r:id="rId68"/>
  </p:notesMasterIdLst>
  <p:sldIdLst>
    <p:sldId id="280" r:id="rId3"/>
    <p:sldId id="437" r:id="rId4"/>
    <p:sldId id="438" r:id="rId5"/>
    <p:sldId id="439" r:id="rId6"/>
    <p:sldId id="398" r:id="rId7"/>
    <p:sldId id="440" r:id="rId8"/>
    <p:sldId id="354" r:id="rId9"/>
    <p:sldId id="418" r:id="rId10"/>
    <p:sldId id="436" r:id="rId11"/>
    <p:sldId id="452" r:id="rId12"/>
    <p:sldId id="453" r:id="rId13"/>
    <p:sldId id="455" r:id="rId14"/>
    <p:sldId id="456" r:id="rId15"/>
    <p:sldId id="361" r:id="rId16"/>
    <p:sldId id="355" r:id="rId17"/>
    <p:sldId id="454" r:id="rId18"/>
    <p:sldId id="348" r:id="rId19"/>
    <p:sldId id="426" r:id="rId20"/>
    <p:sldId id="459" r:id="rId21"/>
    <p:sldId id="474" r:id="rId22"/>
    <p:sldId id="349" r:id="rId23"/>
    <p:sldId id="443" r:id="rId24"/>
    <p:sldId id="444" r:id="rId25"/>
    <p:sldId id="357" r:id="rId26"/>
    <p:sldId id="445" r:id="rId27"/>
    <p:sldId id="466" r:id="rId28"/>
    <p:sldId id="363" r:id="rId29"/>
    <p:sldId id="460" r:id="rId30"/>
    <p:sldId id="473" r:id="rId31"/>
    <p:sldId id="462" r:id="rId32"/>
    <p:sldId id="393" r:id="rId33"/>
    <p:sldId id="457" r:id="rId34"/>
    <p:sldId id="463" r:id="rId35"/>
    <p:sldId id="358" r:id="rId36"/>
    <p:sldId id="374" r:id="rId37"/>
    <p:sldId id="370" r:id="rId38"/>
    <p:sldId id="384" r:id="rId39"/>
    <p:sldId id="364" r:id="rId40"/>
    <p:sldId id="376" r:id="rId41"/>
    <p:sldId id="464" r:id="rId42"/>
    <p:sldId id="465" r:id="rId43"/>
    <p:sldId id="415" r:id="rId44"/>
    <p:sldId id="367" r:id="rId45"/>
    <p:sldId id="448" r:id="rId46"/>
    <p:sldId id="368" r:id="rId47"/>
    <p:sldId id="477" r:id="rId48"/>
    <p:sldId id="369" r:id="rId49"/>
    <p:sldId id="479" r:id="rId50"/>
    <p:sldId id="362" r:id="rId51"/>
    <p:sldId id="446" r:id="rId52"/>
    <p:sldId id="447" r:id="rId53"/>
    <p:sldId id="352" r:id="rId54"/>
    <p:sldId id="375" r:id="rId55"/>
    <p:sldId id="478" r:id="rId56"/>
    <p:sldId id="468" r:id="rId57"/>
    <p:sldId id="380" r:id="rId58"/>
    <p:sldId id="475" r:id="rId59"/>
    <p:sldId id="476" r:id="rId60"/>
    <p:sldId id="480" r:id="rId61"/>
    <p:sldId id="469" r:id="rId62"/>
    <p:sldId id="458" r:id="rId63"/>
    <p:sldId id="472" r:id="rId64"/>
    <p:sldId id="450" r:id="rId65"/>
    <p:sldId id="350" r:id="rId66"/>
    <p:sldId id="372" r:id="rId6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E0"/>
    <a:srgbClr val="C54D02"/>
    <a:srgbClr val="0074D9"/>
    <a:srgbClr val="002E70"/>
    <a:srgbClr val="B8580A"/>
    <a:srgbClr val="F0FBFF"/>
    <a:srgbClr val="CAF0FE"/>
    <a:srgbClr val="FFFDEE"/>
    <a:srgbClr val="EEFBFA"/>
    <a:srgbClr val="0E70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7" autoAdjust="0"/>
    <p:restoredTop sz="83170"/>
  </p:normalViewPr>
  <p:slideViewPr>
    <p:cSldViewPr snapToGrid="0">
      <p:cViewPr varScale="1">
        <p:scale>
          <a:sx n="133" d="100"/>
          <a:sy n="133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A5A75-67BE-1240-A263-49959E2F2A17}" type="datetimeFigureOut">
              <a:rPr lang="en-DK" smtClean="0"/>
              <a:t>15/06/2026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63D1AB-2AFE-0B44-89C4-90D137365F7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42149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k8s.io/examples/application/nginx-with-request.yaml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/tutorials/stateless-application/guestbook/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dirty="0"/>
              <a:t>Resumé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06800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52175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0097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Reminder fra sidste workshop. Imperative vs. Declarative.</a:t>
            </a:r>
          </a:p>
          <a:p>
            <a:endParaRPr lang="en-DK" dirty="0"/>
          </a:p>
          <a:p>
            <a:r>
              <a:rPr lang="en-DK" dirty="0"/>
              <a:t>Både D</a:t>
            </a:r>
            <a:r>
              <a:rPr lang="en-GB" dirty="0"/>
              <a:t>o</a:t>
            </a:r>
            <a:r>
              <a:rPr lang="en-DK" dirty="0"/>
              <a:t>cker Compose og Kubernetes har declarative som fokus.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46772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52191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07662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Lige nu kører alt dette på jeres lokale maskine </a:t>
            </a:r>
            <a:r>
              <a:rPr lang="en-DK" dirty="0">
                <a:sym typeface="Wingdings" pitchFamily="2" charset="2"/>
              </a:rPr>
              <a:t></a:t>
            </a:r>
            <a:r>
              <a:rPr lang="en-DK" dirty="0"/>
              <a:t> agerer hjerne og muskel på én gang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98647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See API calls with -v=8</a:t>
            </a:r>
          </a:p>
          <a:p>
            <a:endParaRPr lang="en-DK" dirty="0"/>
          </a:p>
          <a:p>
            <a:r>
              <a:rPr lang="en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kubectl get pods -v=8 </a:t>
            </a:r>
          </a:p>
          <a:p>
            <a:endParaRPr lang="en-DK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kubectl create namespace test --dry-run=server -v=8 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67307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kubernetes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-workshop/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kubectl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-demo/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README.md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DK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1535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kubectl create deployment nginx --image=nginx:latest</a:t>
            </a:r>
          </a:p>
          <a:p>
            <a:endParaRPr lang="en-DK" dirty="0"/>
          </a:p>
          <a:p>
            <a:r>
              <a:rPr lang="en-DK" dirty="0"/>
              <a:t>kubectl get deploy/nginx -o yaml my-deployment.yml</a:t>
            </a:r>
          </a:p>
          <a:p>
            <a:endParaRPr lang="en-DK" dirty="0"/>
          </a:p>
          <a:p>
            <a:r>
              <a:rPr lang="en-GB" dirty="0"/>
              <a:t>k</a:t>
            </a:r>
            <a:r>
              <a:rPr lang="en-DK" dirty="0"/>
              <a:t>ubectl delete nginx</a:t>
            </a:r>
          </a:p>
          <a:p>
            <a:endParaRPr lang="en-DK" dirty="0"/>
          </a:p>
          <a:p>
            <a:r>
              <a:rPr lang="en-GB" dirty="0"/>
              <a:t>k</a:t>
            </a:r>
            <a:r>
              <a:rPr lang="en-DK" dirty="0"/>
              <a:t>ubectl apply my-deployment.yml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59056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47947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sz="1200" dirty="0"/>
              <a:t>En Pod der indeholder en </a:t>
            </a:r>
            <a:r>
              <a:rPr lang="en-DK" sz="1200" b="1" dirty="0"/>
              <a:t>App</a:t>
            </a:r>
            <a:r>
              <a:rPr lang="en-DK" sz="1200" dirty="0"/>
              <a:t> container, samt en </a:t>
            </a:r>
            <a:r>
              <a:rPr lang="en-DK" sz="1200" b="1" dirty="0"/>
              <a:t>Sidecar</a:t>
            </a:r>
            <a:r>
              <a:rPr lang="en-DK" sz="1200" dirty="0"/>
              <a:t> container.</a:t>
            </a:r>
          </a:p>
          <a:p>
            <a:r>
              <a:rPr lang="en-DK" sz="1200" dirty="0"/>
              <a:t>De har samme interne IP - deler porte &amp; ressourcer, men som udgangspunkt </a:t>
            </a:r>
            <a:r>
              <a:rPr lang="en-DK" sz="1200" b="1" dirty="0"/>
              <a:t>ikke filsystem.</a:t>
            </a:r>
            <a:endParaRPr lang="en-DK" sz="1200" dirty="0"/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48290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25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53797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89274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28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170604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https://k8s.io/examples/application/nginx-with-request.yaml</a:t>
            </a:r>
            <a:r>
              <a:rPr lang="en-GB" sz="12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38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5849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  <a:p>
            <a:r>
              <a:rPr lang="en-GB" dirty="0"/>
              <a:t>k</a:t>
            </a:r>
            <a:r>
              <a:rPr lang="en-DK" dirty="0"/>
              <a:t>ubectl krew install ctx / ns </a:t>
            </a:r>
            <a:r>
              <a:rPr lang="en-DK" dirty="0">
                <a:sym typeface="Wingdings" pitchFamily="2" charset="2"/>
              </a:rPr>
              <a:t> Now you have </a:t>
            </a:r>
            <a:r>
              <a:rPr lang="en-GB" dirty="0">
                <a:sym typeface="Wingdings" pitchFamily="2" charset="2"/>
              </a:rPr>
              <a:t>k</a:t>
            </a:r>
            <a:r>
              <a:rPr lang="en-DK" dirty="0"/>
              <a:t>ubectl ctx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39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99294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43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709572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45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70273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200" dirty="0"/>
              <a:t>Se på eksempel i Rancher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K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https://</a:t>
            </a:r>
            <a:r>
              <a:rPr lang="en-GB" sz="1200" dirty="0" err="1"/>
              <a:t>kubernetes.io</a:t>
            </a:r>
            <a:r>
              <a:rPr lang="en-GB" sz="1200" dirty="0"/>
              <a:t>/docs/concepts/services-networking/</a:t>
            </a:r>
            <a:r>
              <a:rPr lang="en-GB" sz="1200" dirty="0" err="1"/>
              <a:t>dns</a:t>
            </a:r>
            <a:r>
              <a:rPr lang="en-GB" sz="1200" dirty="0"/>
              <a:t>-pod-service/#namespaces-of-services</a:t>
            </a:r>
            <a:endParaRPr lang="en-DK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52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432304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Eksempel:</a:t>
            </a:r>
          </a:p>
          <a:p>
            <a:pPr lvl="1"/>
            <a:r>
              <a:rPr lang="en-GB" dirty="0">
                <a:hlinkClick r:id="rId3"/>
              </a:rPr>
              <a:t>https://kubernetes.io/docs/tutorials/stateless-application/guestbook/</a:t>
            </a:r>
            <a:r>
              <a:rPr lang="en-GB" dirty="0"/>
              <a:t> 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56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98038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</a:t>
            </a:r>
            <a:r>
              <a:rPr lang="en-DK" dirty="0"/>
              <a:t>orkshop-kubernetes/helm-teaser/README.md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61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22773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hub.docker.com</a:t>
            </a:r>
            <a:r>
              <a:rPr lang="en-GB" dirty="0"/>
              <a:t>/r/</a:t>
            </a:r>
            <a:r>
              <a:rPr lang="en-GB" dirty="0" err="1"/>
              <a:t>wbitt</a:t>
            </a:r>
            <a:r>
              <a:rPr lang="en-GB" dirty="0"/>
              <a:t>/network-multitool</a:t>
            </a:r>
          </a:p>
          <a:p>
            <a:endParaRPr lang="en-GB" dirty="0"/>
          </a:p>
          <a:p>
            <a:r>
              <a:rPr lang="en-GB" dirty="0"/>
              <a:t>https://</a:t>
            </a:r>
            <a:r>
              <a:rPr lang="en-GB" dirty="0" err="1"/>
              <a:t>hub.docker.com</a:t>
            </a:r>
            <a:r>
              <a:rPr lang="en-GB" dirty="0"/>
              <a:t>/r/</a:t>
            </a:r>
            <a:r>
              <a:rPr lang="en-GB" dirty="0" err="1"/>
              <a:t>nicolaka</a:t>
            </a:r>
            <a:r>
              <a:rPr lang="en-GB" dirty="0"/>
              <a:t>/</a:t>
            </a:r>
            <a:r>
              <a:rPr lang="en-GB" dirty="0" err="1"/>
              <a:t>netshoot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65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51892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lkom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6000">
                <a:solidFill>
                  <a:srgbClr val="383838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D6322BA-113E-4248-84BD-F20CA49A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498181"/>
            <a:ext cx="4398963" cy="542373"/>
          </a:xfrm>
        </p:spPr>
        <p:txBody>
          <a:bodyPr>
            <a:normAutofit/>
          </a:bodyPr>
          <a:lstStyle>
            <a:lvl1pPr marL="0" indent="0">
              <a:buNone/>
              <a:defRPr sz="3200" b="0" i="0">
                <a:solidFill>
                  <a:srgbClr val="C54D0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Undertitel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A419BB4A-8E47-C046-AB2F-15C7404526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300575"/>
            <a:ext cx="10515600" cy="37059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Introduktionstekst.</a:t>
            </a:r>
          </a:p>
          <a:p>
            <a:pPr lvl="0"/>
            <a:r>
              <a:rPr lang="da-DK" dirty="0"/>
              <a:t>Dagens program kan også indsættes her. </a:t>
            </a:r>
          </a:p>
        </p:txBody>
      </p:sp>
    </p:spTree>
    <p:extLst>
      <p:ext uri="{BB962C8B-B14F-4D97-AF65-F5344CB8AC3E}">
        <p14:creationId xmlns:p14="http://schemas.microsoft.com/office/powerpoint/2010/main" val="199080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opsti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8E3407F-DFCF-8B4C-A4AF-3EDD6899B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rgbClr val="C54D02"/>
                </a:solidFill>
              </a:defRPr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E1B61AE-EC69-6B45-9C53-AA716FDB84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690688"/>
            <a:ext cx="10515600" cy="444251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Niveau 1</a:t>
            </a:r>
          </a:p>
          <a:p>
            <a:pPr lvl="1"/>
            <a:r>
              <a:rPr lang="da-DK" dirty="0"/>
              <a:t>Niveau 2</a:t>
            </a:r>
          </a:p>
          <a:p>
            <a:pPr lvl="2"/>
            <a:r>
              <a:rPr lang="da-DK" dirty="0"/>
              <a:t>Niveau 3</a:t>
            </a:r>
          </a:p>
        </p:txBody>
      </p:sp>
    </p:spTree>
    <p:extLst>
      <p:ext uri="{BB962C8B-B14F-4D97-AF65-F5344CB8AC3E}">
        <p14:creationId xmlns:p14="http://schemas.microsoft.com/office/powerpoint/2010/main" val="210249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opstilling sammenligning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8E3407F-DFCF-8B4C-A4AF-3EDD6899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E1B61AE-EC69-6B45-9C53-AA716FDB84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708917"/>
            <a:ext cx="10515600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9975FEBE-BC5F-6942-83A3-2388470F8A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32" y="2176608"/>
            <a:ext cx="10515668" cy="141121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8" name="Pladsholder til tekst 5">
            <a:extLst>
              <a:ext uri="{FF2B5EF4-FFF2-40B4-BE49-F238E27FC236}">
                <a16:creationId xmlns:a16="http://schemas.microsoft.com/office/drawing/2014/main" id="{31705999-6D0C-A44B-BFD2-BFCCF8B1A1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32" y="3722575"/>
            <a:ext cx="10515600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0" name="Pladsholder til tekst 4">
            <a:extLst>
              <a:ext uri="{FF2B5EF4-FFF2-40B4-BE49-F238E27FC236}">
                <a16:creationId xmlns:a16="http://schemas.microsoft.com/office/drawing/2014/main" id="{0B53754C-0308-C645-A05E-241A7A13AF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132" y="4190266"/>
            <a:ext cx="10515668" cy="14906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417414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opstilling sammenligning horis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8" name="Pladsholder til tekst 5">
            <a:extLst>
              <a:ext uri="{FF2B5EF4-FFF2-40B4-BE49-F238E27FC236}">
                <a16:creationId xmlns:a16="http://schemas.microsoft.com/office/drawing/2014/main" id="{3E0F637B-5CDC-F543-BC89-0C1A94818B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708911"/>
            <a:ext cx="5181669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1" name="Pladsholder til tekst 5">
            <a:extLst>
              <a:ext uri="{FF2B5EF4-FFF2-40B4-BE49-F238E27FC236}">
                <a16:creationId xmlns:a16="http://schemas.microsoft.com/office/drawing/2014/main" id="{77340784-F8E6-FC4D-9E0D-3AEA5C1776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2199" y="1708911"/>
            <a:ext cx="5181669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3" name="Pladsholder til tekst 4">
            <a:extLst>
              <a:ext uri="{FF2B5EF4-FFF2-40B4-BE49-F238E27FC236}">
                <a16:creationId xmlns:a16="http://schemas.microsoft.com/office/drawing/2014/main" id="{62F6FCA6-1117-CE4C-8EDE-7471C1E44F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32" y="2176602"/>
            <a:ext cx="5181669" cy="349147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14" name="Pladsholder til tekst 4">
            <a:extLst>
              <a:ext uri="{FF2B5EF4-FFF2-40B4-BE49-F238E27FC236}">
                <a16:creationId xmlns:a16="http://schemas.microsoft.com/office/drawing/2014/main" id="{1D6A4F8C-7DB7-D54E-A508-970B7AFD45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198" y="2176601"/>
            <a:ext cx="5181669" cy="349147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218301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8E3407F-DFCF-8B4C-A4AF-3EDD6899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E1B61AE-EC69-6B45-9C53-AA716FDB84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690689"/>
            <a:ext cx="10515600" cy="444251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da-DK" dirty="0"/>
              <a:t>Brødtekst</a:t>
            </a:r>
          </a:p>
        </p:txBody>
      </p:sp>
    </p:spTree>
    <p:extLst>
      <p:ext uri="{BB962C8B-B14F-4D97-AF65-F5344CB8AC3E}">
        <p14:creationId xmlns:p14="http://schemas.microsoft.com/office/powerpoint/2010/main" val="309450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kt (hel s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99449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B4D71B68-4C9C-9849-8415-AB51D29C36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84574"/>
            <a:ext cx="10515600" cy="357810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</p:spTree>
    <p:extLst>
      <p:ext uri="{BB962C8B-B14F-4D97-AF65-F5344CB8AC3E}">
        <p14:creationId xmlns:p14="http://schemas.microsoft.com/office/powerpoint/2010/main" val="140537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objekt (sidesti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516216" y="1690689"/>
            <a:ext cx="5837583" cy="399600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B4D71B68-4C9C-9849-8415-AB51D29C36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16216" y="5774635"/>
            <a:ext cx="5837584" cy="338691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  <p:sp>
        <p:nvSpPr>
          <p:cNvPr id="7" name="Pladsholder til tekst 5">
            <a:extLst>
              <a:ext uri="{FF2B5EF4-FFF2-40B4-BE49-F238E27FC236}">
                <a16:creationId xmlns:a16="http://schemas.microsoft.com/office/drawing/2014/main" id="{55622C08-9FA7-464B-B26D-783B1DC3E7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32" y="1690688"/>
            <a:ext cx="4538938" cy="39960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Niveau 1</a:t>
            </a:r>
          </a:p>
          <a:p>
            <a:pPr lvl="1"/>
            <a:r>
              <a:rPr lang="da-DK" dirty="0"/>
              <a:t>Niveau 2</a:t>
            </a:r>
          </a:p>
          <a:p>
            <a:pPr lvl="2"/>
            <a:r>
              <a:rPr lang="da-DK" dirty="0"/>
              <a:t>Niveau 3</a:t>
            </a:r>
          </a:p>
        </p:txBody>
      </p:sp>
    </p:spTree>
    <p:extLst>
      <p:ext uri="{BB962C8B-B14F-4D97-AF65-F5344CB8AC3E}">
        <p14:creationId xmlns:p14="http://schemas.microsoft.com/office/powerpoint/2010/main" val="417863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objekt (b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516217" y="3554125"/>
            <a:ext cx="5837583" cy="2635489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7" name="Pladsholder til tekst 5">
            <a:extLst>
              <a:ext uri="{FF2B5EF4-FFF2-40B4-BE49-F238E27FC236}">
                <a16:creationId xmlns:a16="http://schemas.microsoft.com/office/drawing/2014/main" id="{EE19EB5F-DB21-B04C-8318-B9FBCB4D8D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690689"/>
            <a:ext cx="10515600" cy="18634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Niveau 1</a:t>
            </a:r>
          </a:p>
          <a:p>
            <a:pPr lvl="1"/>
            <a:r>
              <a:rPr lang="da-DK" dirty="0"/>
              <a:t>Niveau 2</a:t>
            </a:r>
          </a:p>
          <a:p>
            <a:pPr lvl="2"/>
            <a:r>
              <a:rPr lang="da-DK" dirty="0"/>
              <a:t>Niveau 3</a:t>
            </a:r>
          </a:p>
        </p:txBody>
      </p:sp>
    </p:spTree>
    <p:extLst>
      <p:ext uri="{BB962C8B-B14F-4D97-AF65-F5344CB8AC3E}">
        <p14:creationId xmlns:p14="http://schemas.microsoft.com/office/powerpoint/2010/main" val="302905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1" y="1690688"/>
            <a:ext cx="5181600" cy="39698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1" y="1690688"/>
            <a:ext cx="5181600" cy="39698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6" name="Pladsholder til tekst 9">
            <a:extLst>
              <a:ext uri="{FF2B5EF4-FFF2-40B4-BE49-F238E27FC236}">
                <a16:creationId xmlns:a16="http://schemas.microsoft.com/office/drawing/2014/main" id="{71D40CD9-7EF4-684D-BA77-18389F1A25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52484"/>
            <a:ext cx="5181600" cy="410682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  <p:sp>
        <p:nvSpPr>
          <p:cNvPr id="8" name="Pladsholder til tekst 9">
            <a:extLst>
              <a:ext uri="{FF2B5EF4-FFF2-40B4-BE49-F238E27FC236}">
                <a16:creationId xmlns:a16="http://schemas.microsoft.com/office/drawing/2014/main" id="{6EADE04F-1DDF-4542-BF49-5E6D1C7C81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72201" y="5752484"/>
            <a:ext cx="5181599" cy="410682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</p:spTree>
    <p:extLst>
      <p:ext uri="{BB962C8B-B14F-4D97-AF65-F5344CB8AC3E}">
        <p14:creationId xmlns:p14="http://schemas.microsoft.com/office/powerpoint/2010/main" val="176789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k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40BFE59-D0F2-0545-A8FE-C2A7D4E5B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2183380"/>
            <a:ext cx="10515599" cy="1325563"/>
          </a:xfrm>
        </p:spPr>
        <p:txBody>
          <a:bodyPr>
            <a:normAutofit/>
          </a:bodyPr>
          <a:lstStyle>
            <a:lvl1pPr marL="0" indent="0" algn="ctr">
              <a:buNone/>
              <a:defRPr sz="7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Fakta</a:t>
            </a:r>
          </a:p>
        </p:txBody>
      </p:sp>
      <p:sp>
        <p:nvSpPr>
          <p:cNvPr id="8" name="Pladsholder til tekst 3">
            <a:extLst>
              <a:ext uri="{FF2B5EF4-FFF2-40B4-BE49-F238E27FC236}">
                <a16:creationId xmlns:a16="http://schemas.microsoft.com/office/drawing/2014/main" id="{2BDAB250-9F0F-BE4C-9AF8-262BDAFD5E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3796832"/>
            <a:ext cx="10515599" cy="1325563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da-DK" dirty="0"/>
              <a:t>Beskrivelse af fakta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F63AA675-F399-D147-A7E0-F1FD67F000FF}"/>
              </a:ext>
            </a:extLst>
          </p:cNvPr>
          <p:cNvSpPr/>
          <p:nvPr userDrawn="1"/>
        </p:nvSpPr>
        <p:spPr>
          <a:xfrm flipV="1">
            <a:off x="4113242" y="3463224"/>
            <a:ext cx="3965512" cy="45719"/>
          </a:xfrm>
          <a:prstGeom prst="rect">
            <a:avLst/>
          </a:prstGeom>
          <a:solidFill>
            <a:srgbClr val="C54D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18921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40BFE59-D0F2-0545-A8FE-C2A7D4E5B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27255" y="1982823"/>
            <a:ext cx="6737485" cy="3055707"/>
          </a:xfrm>
        </p:spPr>
        <p:txBody>
          <a:bodyPr>
            <a:normAutofit/>
          </a:bodyPr>
          <a:lstStyle>
            <a:lvl1pPr marL="0" indent="0" algn="ctr">
              <a:buNone/>
              <a:defRPr sz="4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Citat indsættes her</a:t>
            </a:r>
          </a:p>
          <a:p>
            <a:pPr lvl="0"/>
            <a:r>
              <a:rPr lang="da-DK" dirty="0"/>
              <a:t>Husk ” før og efter</a:t>
            </a:r>
          </a:p>
        </p:txBody>
      </p:sp>
      <p:sp>
        <p:nvSpPr>
          <p:cNvPr id="8" name="Pladsholder til tekst 3">
            <a:extLst>
              <a:ext uri="{FF2B5EF4-FFF2-40B4-BE49-F238E27FC236}">
                <a16:creationId xmlns:a16="http://schemas.microsoft.com/office/drawing/2014/main" id="{2BDAB250-9F0F-BE4C-9AF8-262BDAFD5E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5173613"/>
            <a:ext cx="10515599" cy="382239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 dirty="0"/>
              <a:t>Kilde til citat skrives her</a:t>
            </a:r>
          </a:p>
        </p:txBody>
      </p:sp>
    </p:spTree>
    <p:extLst>
      <p:ext uri="{BB962C8B-B14F-4D97-AF65-F5344CB8AC3E}">
        <p14:creationId xmlns:p14="http://schemas.microsoft.com/office/powerpoint/2010/main" val="936388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orside I">
    <p:bg>
      <p:bgPr>
        <a:solidFill>
          <a:srgbClr val="001F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138" y="654050"/>
            <a:ext cx="5213662" cy="1721087"/>
          </a:xfrm>
        </p:spPr>
        <p:txBody>
          <a:bodyPr anchor="t" anchorCtr="0"/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2432121"/>
            <a:ext cx="5212800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500" baseline="0">
                <a:solidFill>
                  <a:schemeClr val="bg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da-DK" dirty="0"/>
              <a:t>Klik her for at tilføje undertitel maks. to linjer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719138" y="3529061"/>
            <a:ext cx="5212800" cy="394255"/>
          </a:xfrm>
        </p:spPr>
        <p:txBody>
          <a:bodyPr anchor="b" anchorCtr="0"/>
          <a:lstStyle>
            <a:lvl1pPr marL="0" indent="0">
              <a:lnSpc>
                <a:spcPct val="106000"/>
              </a:lnSpc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navn og titel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719139" y="4063411"/>
            <a:ext cx="5212800" cy="216795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6000"/>
              </a:lnSpc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location</a:t>
            </a:r>
          </a:p>
        </p:txBody>
      </p:sp>
      <p:pic>
        <p:nvPicPr>
          <p:cNvPr id="8" name="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557" y="587088"/>
            <a:ext cx="5304569" cy="5527222"/>
          </a:xfrm>
          <a:prstGeom prst="rect">
            <a:avLst/>
          </a:prstGeom>
        </p:spPr>
      </p:pic>
      <p:sp>
        <p:nvSpPr>
          <p:cNvPr id="4" name="Date_DateCustomA"/>
          <p:cNvSpPr>
            <a:spLocks noGrp="1"/>
          </p:cNvSpPr>
          <p:nvPr>
            <p:ph type="dt" sz="half" idx="10"/>
          </p:nvPr>
        </p:nvSpPr>
        <p:spPr>
          <a:xfrm>
            <a:off x="719138" y="4277666"/>
            <a:ext cx="5212800" cy="1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DCEB35B1-BC5C-4F24-B72D-591F5A33F1B4}" type="datetime5">
              <a:rPr lang="da-DK" smtClean="0"/>
              <a:pPr/>
              <a:t>juni 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29761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79E89324-3C73-5D42-BE9D-B19AC18AF9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4067" y="2164333"/>
            <a:ext cx="7566796" cy="2414552"/>
          </a:xfrm>
        </p:spPr>
        <p:txBody>
          <a:bodyPr anchor="t">
            <a:normAutofit/>
          </a:bodyPr>
          <a:lstStyle>
            <a:lvl1pPr marL="0" indent="0">
              <a:buNone/>
              <a:defRPr sz="6000" b="0" i="0">
                <a:solidFill>
                  <a:srgbClr val="38383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Det her er din præsentationstitel</a:t>
            </a:r>
          </a:p>
        </p:txBody>
      </p:sp>
      <p:sp>
        <p:nvSpPr>
          <p:cNvPr id="14" name="Pladsholder til tekst 13">
            <a:extLst>
              <a:ext uri="{FF2B5EF4-FFF2-40B4-BE49-F238E27FC236}">
                <a16:creationId xmlns:a16="http://schemas.microsoft.com/office/drawing/2014/main" id="{AACCE956-2A5F-894D-B523-8E004D090C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242" y="5746282"/>
            <a:ext cx="8399876" cy="650879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Mulighed for at skrive navn på konference, dato, kontaktoplysninger eller andet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DC13D55-26AA-194A-A9CC-DAC262E2DE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4067" y="4578885"/>
            <a:ext cx="7566795" cy="546100"/>
          </a:xfrm>
        </p:spPr>
        <p:txBody>
          <a:bodyPr>
            <a:normAutofit/>
          </a:bodyPr>
          <a:lstStyle>
            <a:lvl1pPr marL="0" indent="0">
              <a:buNone/>
              <a:defRPr sz="2200" b="0" i="0">
                <a:solidFill>
                  <a:srgbClr val="C54D0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Eventuel undertitel. Juster så placering er lige under titel.</a:t>
            </a:r>
          </a:p>
        </p:txBody>
      </p:sp>
    </p:spTree>
    <p:extLst>
      <p:ext uri="{BB962C8B-B14F-4D97-AF65-F5344CB8AC3E}">
        <p14:creationId xmlns:p14="http://schemas.microsoft.com/office/powerpoint/2010/main" val="1214186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vergangs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5FCD0FD7-5C9A-674E-8A59-EBBA9850CE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6548" y="2703050"/>
            <a:ext cx="1391202" cy="946150"/>
          </a:xfrm>
        </p:spPr>
        <p:txBody>
          <a:bodyPr>
            <a:normAutofit/>
          </a:bodyPr>
          <a:lstStyle>
            <a:lvl1pPr marL="0" indent="0" algn="r">
              <a:buNone/>
              <a:defRPr sz="4800">
                <a:solidFill>
                  <a:srgbClr val="C54D02"/>
                </a:solidFill>
              </a:defRPr>
            </a:lvl1pPr>
          </a:lstStyle>
          <a:p>
            <a:pPr lvl="0"/>
            <a:r>
              <a:rPr lang="da-DK" dirty="0"/>
              <a:t>Nr.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2BD7A4C4-EA91-CC4E-B7A7-3D2817244B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50" y="2703049"/>
            <a:ext cx="5016500" cy="2884543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Overgangstitel</a:t>
            </a:r>
          </a:p>
        </p:txBody>
      </p:sp>
    </p:spTree>
    <p:extLst>
      <p:ext uri="{BB962C8B-B14F-4D97-AF65-F5344CB8AC3E}">
        <p14:creationId xmlns:p14="http://schemas.microsoft.com/office/powerpoint/2010/main" val="401053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gangs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5FCD0FD7-5C9A-674E-8A59-EBBA9850CE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6548" y="2703050"/>
            <a:ext cx="1391202" cy="946150"/>
          </a:xfrm>
        </p:spPr>
        <p:txBody>
          <a:bodyPr>
            <a:normAutofit/>
          </a:bodyPr>
          <a:lstStyle>
            <a:lvl1pPr marL="0" indent="0" algn="r">
              <a:buNone/>
              <a:defRPr sz="4800">
                <a:solidFill>
                  <a:srgbClr val="C54D02"/>
                </a:solidFill>
              </a:defRPr>
            </a:lvl1pPr>
          </a:lstStyle>
          <a:p>
            <a:pPr lvl="0"/>
            <a:r>
              <a:rPr lang="da-DK" dirty="0"/>
              <a:t>Nr.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2BD7A4C4-EA91-CC4E-B7A7-3D2817244B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50" y="2703049"/>
            <a:ext cx="5016500" cy="2884543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Overgangstitel</a:t>
            </a:r>
          </a:p>
        </p:txBody>
      </p:sp>
      <p:sp>
        <p:nvSpPr>
          <p:cNvPr id="2" name="Retvinklet trekant 1">
            <a:extLst>
              <a:ext uri="{FF2B5EF4-FFF2-40B4-BE49-F238E27FC236}">
                <a16:creationId xmlns:a16="http://schemas.microsoft.com/office/drawing/2014/main" id="{EB95D17B-09AB-E292-E074-BADC7270985C}"/>
              </a:ext>
            </a:extLst>
          </p:cNvPr>
          <p:cNvSpPr/>
          <p:nvPr userDrawn="1"/>
        </p:nvSpPr>
        <p:spPr>
          <a:xfrm>
            <a:off x="0" y="5232400"/>
            <a:ext cx="7585494" cy="1625600"/>
          </a:xfrm>
          <a:prstGeom prst="rtTriangle">
            <a:avLst/>
          </a:prstGeom>
          <a:solidFill>
            <a:srgbClr val="FFF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tvinklet trekant 2">
            <a:extLst>
              <a:ext uri="{FF2B5EF4-FFF2-40B4-BE49-F238E27FC236}">
                <a16:creationId xmlns:a16="http://schemas.microsoft.com/office/drawing/2014/main" id="{6381607A-C8C0-885E-F49C-C78CD71E5149}"/>
              </a:ext>
            </a:extLst>
          </p:cNvPr>
          <p:cNvSpPr/>
          <p:nvPr userDrawn="1"/>
        </p:nvSpPr>
        <p:spPr>
          <a:xfrm flipH="1">
            <a:off x="4606506" y="3429000"/>
            <a:ext cx="7585494" cy="3429000"/>
          </a:xfrm>
          <a:prstGeom prst="rtTriangle">
            <a:avLst/>
          </a:prstGeom>
          <a:solidFill>
            <a:srgbClr val="EEFB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E252231E-6360-73D8-16BF-71A3BEBD9ABB}"/>
              </a:ext>
            </a:extLst>
          </p:cNvPr>
          <p:cNvSpPr/>
          <p:nvPr userDrawn="1"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02C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4354DDF-3F63-7A02-C6A9-506EA78BBFE3}"/>
              </a:ext>
            </a:extLst>
          </p:cNvPr>
          <p:cNvSpPr/>
          <p:nvPr userDrawn="1"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02C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33F13C4-2D70-98C1-A72A-82A2621E0C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406" y="6284880"/>
            <a:ext cx="1201588" cy="27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81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vinklet trekant 9">
            <a:extLst>
              <a:ext uri="{FF2B5EF4-FFF2-40B4-BE49-F238E27FC236}">
                <a16:creationId xmlns:a16="http://schemas.microsoft.com/office/drawing/2014/main" id="{B2E927CB-EAD8-FCB5-1D72-C6E6C30392E9}"/>
              </a:ext>
            </a:extLst>
          </p:cNvPr>
          <p:cNvSpPr/>
          <p:nvPr userDrawn="1"/>
        </p:nvSpPr>
        <p:spPr>
          <a:xfrm>
            <a:off x="0" y="5232400"/>
            <a:ext cx="7585494" cy="1625600"/>
          </a:xfrm>
          <a:prstGeom prst="rtTriangle">
            <a:avLst/>
          </a:prstGeom>
          <a:solidFill>
            <a:srgbClr val="FFF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tvinklet trekant 6">
            <a:extLst>
              <a:ext uri="{FF2B5EF4-FFF2-40B4-BE49-F238E27FC236}">
                <a16:creationId xmlns:a16="http://schemas.microsoft.com/office/drawing/2014/main" id="{B9386030-25BC-7C68-9A54-625D2ABE0AA8}"/>
              </a:ext>
            </a:extLst>
          </p:cNvPr>
          <p:cNvSpPr/>
          <p:nvPr userDrawn="1"/>
        </p:nvSpPr>
        <p:spPr>
          <a:xfrm flipH="1">
            <a:off x="4606506" y="3429000"/>
            <a:ext cx="7585494" cy="3429000"/>
          </a:xfrm>
          <a:prstGeom prst="rtTriangle">
            <a:avLst/>
          </a:prstGeom>
          <a:solidFill>
            <a:srgbClr val="EEFB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Rediger typografien i masterens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14" name="Pladsholder til slidenummer 2"/>
          <p:cNvSpPr txBox="1">
            <a:spLocks/>
          </p:cNvSpPr>
          <p:nvPr userDrawn="1"/>
        </p:nvSpPr>
        <p:spPr>
          <a:xfrm>
            <a:off x="8685417" y="6284880"/>
            <a:ext cx="3240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7F11F75-2774-4BDF-B167-252AE011E0A9}" type="slidenum">
              <a:rPr lang="da-DK" smtClean="0">
                <a:solidFill>
                  <a:srgbClr val="383838"/>
                </a:solidFill>
              </a:rPr>
              <a:pPr/>
              <a:t>‹#›</a:t>
            </a:fld>
            <a:endParaRPr lang="da-DK" dirty="0">
              <a:solidFill>
                <a:srgbClr val="383838"/>
              </a:solidFill>
            </a:endParaRP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C9CEE631-06D6-5648-A109-0D386A61A6E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82880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17B39725-0A99-FD4E-85B1-337C6F1DAF80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5120"/>
            <a:ext cx="12192000" cy="182880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4872FA53-1E88-F21C-691B-818CAB7B82C3}"/>
              </a:ext>
            </a:extLst>
          </p:cNvPr>
          <p:cNvSpPr/>
          <p:nvPr userDrawn="1"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02C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94951B6-6CFC-8F89-7B65-2C3A2F06527A}"/>
              </a:ext>
            </a:extLst>
          </p:cNvPr>
          <p:cNvSpPr/>
          <p:nvPr userDrawn="1"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02C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E24F5C2-BD4F-0A86-A1A2-0FAFF8DFC3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37406" y="6284880"/>
            <a:ext cx="1201588" cy="27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2" r:id="rId2"/>
    <p:sldLayoutId id="2147483714" r:id="rId3"/>
    <p:sldLayoutId id="2147483678" r:id="rId4"/>
    <p:sldLayoutId id="2147483709" r:id="rId5"/>
    <p:sldLayoutId id="2147483675" r:id="rId6"/>
    <p:sldLayoutId id="2147483710" r:id="rId7"/>
    <p:sldLayoutId id="2147483729" r:id="rId8"/>
    <p:sldLayoutId id="2147483677" r:id="rId9"/>
    <p:sldLayoutId id="2147483676" r:id="rId10"/>
    <p:sldLayoutId id="2147483711" r:id="rId11"/>
    <p:sldLayoutId id="2147483731" r:id="rId12"/>
    <p:sldLayoutId id="2147483732" r:id="rId13"/>
    <p:sldLayoutId id="214748373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rgbClr val="B8580A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3838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8383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838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3838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3838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A86782B-4E6E-0B4B-B4DC-6380705BF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7C3217D-BCCB-9B42-9152-0393F6FB6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A95A279-8FE0-EB4D-B6CC-8FE9927506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101B6-9FE4-A441-BA9E-EB4796521961}" type="datetimeFigureOut">
              <a:rPr lang="da-DK" smtClean="0"/>
              <a:t>15.06.2026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E866B57-A80B-824D-B1E5-EECD402E7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E449ADB-4206-4F44-B909-487682656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D3F01-BE8D-0C47-92DA-22F72A1178F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022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/concepts/overview/components/#kube-apiserver" TargetMode="External"/><Relationship Id="rId2" Type="http://schemas.openxmlformats.org/officeDocument/2006/relationships/hyperlink" Target="https://kubernetes.io/docs/reference/glossary/?all=true#term-control-plan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/concepts/workloads/controllers/replicaset/" TargetMode="External"/><Relationship Id="rId2" Type="http://schemas.openxmlformats.org/officeDocument/2006/relationships/hyperlink" Target="https://kubernetes.io/docs/concepts/workloads/pods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talib/workshop-kubernete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k8s.io/examples/application/nginx-with-request.ya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12factor.net/" TargetMode="External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.wiki/MHUu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tutorials/services/connect-applications-service/#creating-a-service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tasks/debug/debug-application/debug-running-pod/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a-DK" dirty="0" err="1"/>
              <a:t>Kubernetes</a:t>
            </a:r>
            <a:r>
              <a:rPr lang="da-DK" dirty="0"/>
              <a:t> Workshop</a:t>
            </a:r>
            <a:br>
              <a:rPr lang="da-DK" dirty="0"/>
            </a:br>
            <a:endParaRPr lang="da-D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A4294B2-87FA-99C2-8EF7-AC6BC8E424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DK" sz="2000" dirty="0"/>
              <a:t>DevOps workshop #2</a:t>
            </a:r>
          </a:p>
        </p:txBody>
      </p:sp>
      <p:sp>
        <p:nvSpPr>
          <p:cNvPr id="6" name="Pladsholder til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 sz="1600" dirty="0">
                <a:latin typeface="Calibri" panose="020F0502020204030204" pitchFamily="34" charset="0"/>
                <a:cs typeface="Calibri" panose="020F0502020204030204" pitchFamily="34" charset="0"/>
              </a:rPr>
              <a:t>juni 2026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ECF4BB4-14E3-6F76-849C-B3D1919788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8" y="3832941"/>
            <a:ext cx="5212800" cy="394255"/>
          </a:xfrm>
        </p:spPr>
        <p:txBody>
          <a:bodyPr/>
          <a:lstStyle/>
          <a:p>
            <a:r>
              <a:rPr lang="da-DK" dirty="0">
                <a:latin typeface="Calibri" panose="020F0502020204030204" pitchFamily="34" charset="0"/>
                <a:cs typeface="Calibri" panose="020F0502020204030204" pitchFamily="34" charset="0"/>
              </a:rPr>
              <a:t>af Daniel Freiling</a:t>
            </a:r>
          </a:p>
        </p:txBody>
      </p:sp>
    </p:spTree>
    <p:extLst>
      <p:ext uri="{BB962C8B-B14F-4D97-AF65-F5344CB8AC3E}">
        <p14:creationId xmlns:p14="http://schemas.microsoft.com/office/powerpoint/2010/main" val="291138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36D4FF87-FD24-074B-AA92-053389FCDD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4067" y="2372808"/>
            <a:ext cx="7566796" cy="1713812"/>
          </a:xfrm>
        </p:spPr>
        <p:txBody>
          <a:bodyPr>
            <a:normAutofit/>
          </a:bodyPr>
          <a:lstStyle/>
          <a:p>
            <a:r>
              <a:rPr lang="da-DK" dirty="0" err="1"/>
              <a:t>Kubernetes</a:t>
            </a:r>
            <a:r>
              <a:rPr lang="da-DK" dirty="0"/>
              <a:t> Workshop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A52497D8-102A-F34E-8052-7799AF571F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44068" y="3229714"/>
            <a:ext cx="7566795" cy="546101"/>
          </a:xfrm>
        </p:spPr>
        <p:txBody>
          <a:bodyPr>
            <a:normAutofit/>
          </a:bodyPr>
          <a:lstStyle/>
          <a:p>
            <a:r>
              <a:rPr lang="da-DK" sz="2400" dirty="0"/>
              <a:t>Part #2</a:t>
            </a:r>
          </a:p>
        </p:txBody>
      </p:sp>
    </p:spTree>
    <p:extLst>
      <p:ext uri="{BB962C8B-B14F-4D97-AF65-F5344CB8AC3E}">
        <p14:creationId xmlns:p14="http://schemas.microsoft.com/office/powerpoint/2010/main" val="22525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DEC703-19F7-3DDC-DD3D-A811BE743C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9365" y="1689494"/>
            <a:ext cx="2211435" cy="1402497"/>
          </a:xfrm>
        </p:spPr>
        <p:txBody>
          <a:bodyPr>
            <a:normAutofit fontScale="77500" lnSpcReduction="20000"/>
          </a:bodyPr>
          <a:lstStyle/>
          <a:p>
            <a:r>
              <a:rPr lang="en-DK" dirty="0"/>
              <a:t>Workshop</a:t>
            </a:r>
            <a:br>
              <a:rPr lang="en-DK" dirty="0"/>
            </a:br>
            <a:r>
              <a:rPr lang="en-DK" dirty="0"/>
              <a:t>indhold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70071-98AF-1E51-A08C-DC0949918E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5069" y="1675528"/>
            <a:ext cx="8924631" cy="4369672"/>
          </a:xfrm>
        </p:spPr>
        <p:txBody>
          <a:bodyPr>
            <a:normAutofit fontScale="92500" lnSpcReduction="20000"/>
          </a:bodyPr>
          <a:lstStyle/>
          <a:p>
            <a:pPr marL="914400" indent="-914400">
              <a:buFont typeface="+mj-lt"/>
              <a:buAutoNum type="arabicPeriod"/>
            </a:pPr>
            <a:r>
              <a:rPr lang="en-DK" sz="3600" dirty="0"/>
              <a:t>Kubernetes Basics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3600" dirty="0"/>
              <a:t>CLI Demo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3600" b="1" dirty="0">
                <a:solidFill>
                  <a:srgbClr val="C54D02"/>
                </a:solidFill>
              </a:rPr>
              <a:t>Exercise</a:t>
            </a:r>
            <a:r>
              <a:rPr lang="en-DK" sz="3600" dirty="0"/>
              <a:t>: Deployments &amp; Pods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3600" dirty="0"/>
              <a:t>Manifests &amp; Reconciliation</a:t>
            </a:r>
          </a:p>
          <a:p>
            <a:pPr marL="914400" indent="-914400">
              <a:buFont typeface="+mj-lt"/>
              <a:buAutoNum type="arabicPeriod"/>
            </a:pPr>
            <a:r>
              <a:rPr lang="en-GB" sz="3600" dirty="0"/>
              <a:t>K</a:t>
            </a:r>
            <a:r>
              <a:rPr lang="en-DK" sz="3600" dirty="0"/>
              <a:t>ubectl &amp; k9s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3600" b="1" dirty="0"/>
              <a:t>Demo</a:t>
            </a:r>
            <a:r>
              <a:rPr lang="en-DK" sz="3600" dirty="0"/>
              <a:t>: Kubernetes + Rancher UI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3600" dirty="0"/>
              <a:t>Environment &amp; Volume Mounts </a:t>
            </a:r>
            <a:r>
              <a:rPr lang="en-DK" sz="3600" dirty="0">
                <a:solidFill>
                  <a:srgbClr val="C54D02"/>
                </a:solidFill>
              </a:rPr>
              <a:t>[+Exercise]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3600" dirty="0"/>
              <a:t>Exposing containers </a:t>
            </a:r>
            <a:r>
              <a:rPr lang="en-DK" sz="3600" dirty="0">
                <a:solidFill>
                  <a:srgbClr val="C54D02"/>
                </a:solidFill>
              </a:rPr>
              <a:t>[+Exercise]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3600" dirty="0"/>
              <a:t>Complex systems </a:t>
            </a:r>
            <a:r>
              <a:rPr lang="en-DK" sz="3600" dirty="0">
                <a:solidFill>
                  <a:srgbClr val="C54D02"/>
                </a:solidFill>
              </a:rPr>
              <a:t>[+Exercise]</a:t>
            </a:r>
          </a:p>
          <a:p>
            <a:pPr marL="914400" indent="-914400">
              <a:buFont typeface="+mj-lt"/>
              <a:buAutoNum type="arabicPeriod"/>
            </a:pPr>
            <a:endParaRPr lang="en-DK" sz="3600" dirty="0"/>
          </a:p>
        </p:txBody>
      </p:sp>
    </p:spTree>
    <p:extLst>
      <p:ext uri="{BB962C8B-B14F-4D97-AF65-F5344CB8AC3E}">
        <p14:creationId xmlns:p14="http://schemas.microsoft.com/office/powerpoint/2010/main" val="2594862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9D24A061-C323-8A4F-8E89-14C21DF623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/>
              <a:t>1.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EFCCC45-2736-FB49-8F57-5E5E55DF59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a-DK" dirty="0" err="1"/>
              <a:t>Kubernetes</a:t>
            </a:r>
            <a:r>
              <a:rPr lang="da-DK" dirty="0"/>
              <a:t> Basics</a:t>
            </a:r>
          </a:p>
        </p:txBody>
      </p:sp>
    </p:spTree>
    <p:extLst>
      <p:ext uri="{BB962C8B-B14F-4D97-AF65-F5344CB8AC3E}">
        <p14:creationId xmlns:p14="http://schemas.microsoft.com/office/powerpoint/2010/main" val="3620625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6486-3651-9A06-5A6F-3E23E06E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Container = Legoklods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1E595-117E-B275-CAF8-CF920DBC83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0" y="1690688"/>
            <a:ext cx="10605517" cy="4442517"/>
          </a:xfrm>
        </p:spPr>
        <p:txBody>
          <a:bodyPr>
            <a:normAutofit/>
          </a:bodyPr>
          <a:lstStyle/>
          <a:p>
            <a:r>
              <a:rPr lang="en-DK" dirty="0"/>
              <a:t>Hvis vi kan bygge hvert komponent</a:t>
            </a:r>
            <a:br>
              <a:rPr lang="en-DK" dirty="0"/>
            </a:br>
            <a:r>
              <a:rPr lang="en-DK" dirty="0"/>
              <a:t>i vores system som selvstændige</a:t>
            </a:r>
            <a:br>
              <a:rPr lang="en-DK" dirty="0"/>
            </a:br>
            <a:r>
              <a:rPr lang="en-DK" dirty="0"/>
              <a:t>isolerede komponenter…</a:t>
            </a:r>
            <a:br>
              <a:rPr lang="en-DK" dirty="0"/>
            </a:br>
            <a:endParaRPr lang="en-DK" dirty="0"/>
          </a:p>
          <a:p>
            <a:pPr lvl="1">
              <a:buFont typeface="Wingdings" pitchFamily="2" charset="2"/>
              <a:buChar char="Ø"/>
            </a:pPr>
            <a:r>
              <a:rPr lang="en-DK" dirty="0"/>
              <a:t>Kan vi køre systemet </a:t>
            </a:r>
            <a:r>
              <a:rPr lang="en-DK" u="sng" dirty="0"/>
              <a:t>hvor som helst</a:t>
            </a:r>
            <a:r>
              <a:rPr lang="en-DK" dirty="0"/>
              <a:t>.</a:t>
            </a:r>
          </a:p>
          <a:p>
            <a:endParaRPr lang="en-DK" dirty="0"/>
          </a:p>
          <a:p>
            <a:pPr lvl="1">
              <a:buFont typeface="Wingdings" pitchFamily="2" charset="2"/>
              <a:buChar char="Ø"/>
            </a:pPr>
            <a:r>
              <a:rPr lang="en-DK" dirty="0"/>
              <a:t>Kan vi hurtigt </a:t>
            </a:r>
            <a:r>
              <a:rPr lang="en-DK" u="sng" dirty="0"/>
              <a:t>skalere efter behov</a:t>
            </a:r>
            <a:r>
              <a:rPr lang="en-DK" dirty="0"/>
              <a:t>, ved at sætte flere af de samme legoklodser på pladen.</a:t>
            </a:r>
          </a:p>
          <a:p>
            <a:endParaRPr lang="en-DK" dirty="0"/>
          </a:p>
          <a:p>
            <a:pPr lvl="1">
              <a:buFont typeface="Wingdings" pitchFamily="2" charset="2"/>
              <a:buChar char="Ø"/>
            </a:pPr>
            <a:r>
              <a:rPr lang="en-DK" dirty="0"/>
              <a:t>Kan vi </a:t>
            </a:r>
            <a:r>
              <a:rPr lang="en-DK" u="sng" dirty="0"/>
              <a:t>opbygge komplekse systemer</a:t>
            </a:r>
            <a:r>
              <a:rPr lang="en-DK" dirty="0"/>
              <a:t> ud af flere lego-klodser, ved at sætte dem sammen.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Også legoklodser vi ikke selv kender opskriften på eller har bygget.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Legoklodser kan hentes fra forskellige forretninger (repositories).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Vi kan bygge vores egen legoklodser ovenpå andres.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617030-578C-F4AF-ECE3-DBE0E89D8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548" y="1088617"/>
            <a:ext cx="6655483" cy="277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65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3D89-9BEF-8D55-1382-2D41438A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K" dirty="0"/>
              <a:t>Containerization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7DB9C-5433-7909-E2B9-424400D584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DK" sz="2000" dirty="0"/>
          </a:p>
          <a:p>
            <a:r>
              <a:rPr lang="en-DK" sz="2000" b="1" dirty="0"/>
              <a:t>Dockerfile</a:t>
            </a:r>
            <a:r>
              <a:rPr lang="en-DK" sz="2000" dirty="0"/>
              <a:t> = Opskrift på en containerized applikation.</a:t>
            </a:r>
          </a:p>
          <a:p>
            <a:pPr lvl="1"/>
            <a:r>
              <a:rPr lang="en-DK" sz="1800" dirty="0"/>
              <a:t>Udviklernes ansvar – Dependencies håndteret, konfigurerbar opsætning.</a:t>
            </a:r>
          </a:p>
          <a:p>
            <a:endParaRPr lang="en-DK" sz="2000" dirty="0"/>
          </a:p>
          <a:p>
            <a:r>
              <a:rPr lang="en-DK" sz="2000" b="1" dirty="0"/>
              <a:t>Container image</a:t>
            </a:r>
            <a:r>
              <a:rPr lang="en-DK" sz="2000" dirty="0"/>
              <a:t> = Den byggede containerized app, klar til at køre hvor som helst!</a:t>
            </a:r>
          </a:p>
          <a:p>
            <a:pPr lvl="1"/>
            <a:r>
              <a:rPr lang="en-DK" sz="1800" dirty="0"/>
              <a:t>Er artefakt der kan afvikle en app uafhængigt af host maskinen.</a:t>
            </a:r>
          </a:p>
          <a:p>
            <a:endParaRPr lang="en-DK" sz="2000" dirty="0"/>
          </a:p>
          <a:p>
            <a:r>
              <a:rPr lang="en-DK" sz="2000" b="1" dirty="0"/>
              <a:t>Container runtime</a:t>
            </a:r>
            <a:r>
              <a:rPr lang="en-DK" sz="2000" dirty="0"/>
              <a:t> = Der hvor container images/apps afvikles.</a:t>
            </a:r>
          </a:p>
          <a:p>
            <a:pPr lvl="1"/>
            <a:r>
              <a:rPr lang="en-DK" sz="1800" dirty="0"/>
              <a:t>Docker</a:t>
            </a:r>
          </a:p>
          <a:p>
            <a:pPr lvl="1"/>
            <a:r>
              <a:rPr lang="en-DK" sz="1800" dirty="0"/>
              <a:t>Kubernetes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051377-DB27-605A-F6EB-29524A5D141E}"/>
              </a:ext>
            </a:extLst>
          </p:cNvPr>
          <p:cNvSpPr/>
          <p:nvPr/>
        </p:nvSpPr>
        <p:spPr>
          <a:xfrm>
            <a:off x="838132" y="4187952"/>
            <a:ext cx="7217732" cy="12618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68C44-07F9-CD0F-12E8-812DBF74C046}"/>
              </a:ext>
            </a:extLst>
          </p:cNvPr>
          <p:cNvSpPr txBox="1"/>
          <p:nvPr/>
        </p:nvSpPr>
        <p:spPr>
          <a:xfrm>
            <a:off x="774898" y="5449824"/>
            <a:ext cx="2187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b="1" dirty="0">
                <a:solidFill>
                  <a:srgbClr val="FF0000"/>
                </a:solidFill>
              </a:rPr>
              <a:t>Fokus for workshop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E1295E-7BFD-CBE6-6E0D-1DA6A64B081D}"/>
              </a:ext>
            </a:extLst>
          </p:cNvPr>
          <p:cNvGrpSpPr/>
          <p:nvPr/>
        </p:nvGrpSpPr>
        <p:grpSpPr>
          <a:xfrm>
            <a:off x="8968847" y="768561"/>
            <a:ext cx="2857500" cy="1920187"/>
            <a:chOff x="7339440" y="365125"/>
            <a:chExt cx="2857500" cy="192018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2112581-CEBA-F5F7-CEE6-91024BDD0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7154"/>
            <a:stretch>
              <a:fillRect/>
            </a:stretch>
          </p:blipFill>
          <p:spPr>
            <a:xfrm>
              <a:off x="7339440" y="824710"/>
              <a:ext cx="2857500" cy="146060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971C68-95C2-D1B8-622B-609A03D8C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364" b="57276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6360"/>
            <a:stretch>
              <a:fillRect/>
            </a:stretch>
          </p:blipFill>
          <p:spPr>
            <a:xfrm>
              <a:off x="7855300" y="365125"/>
              <a:ext cx="2341640" cy="1261872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DFC7F9-D249-2FE7-627E-980CF77CE697}"/>
              </a:ext>
            </a:extLst>
          </p:cNvPr>
          <p:cNvGrpSpPr/>
          <p:nvPr/>
        </p:nvGrpSpPr>
        <p:grpSpPr>
          <a:xfrm>
            <a:off x="8795157" y="3970545"/>
            <a:ext cx="2857500" cy="1938605"/>
            <a:chOff x="9263638" y="3132872"/>
            <a:chExt cx="2857500" cy="19386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DAECC6A-7C84-E265-251A-D51643218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6011" b="57104" l="2667" r="93111">
                          <a14:foregroundMark x1="8889" y1="27869" x2="10667" y2="27322"/>
                          <a14:foregroundMark x1="11556" y1="29781" x2="8667" y2="26503"/>
                          <a14:foregroundMark x1="10000" y1="28142" x2="8222" y2="29235"/>
                          <a14:foregroundMark x1="9556" y1="32240" x2="2667" y2="31148"/>
                          <a14:foregroundMark x1="59778" y1="46721" x2="74667" y2="56557"/>
                          <a14:foregroundMark x1="74667" y1="56557" x2="88444" y2="42350"/>
                          <a14:foregroundMark x1="88444" y1="42350" x2="82222" y2="22678"/>
                          <a14:foregroundMark x1="82222" y1="22678" x2="64000" y2="30601"/>
                          <a14:foregroundMark x1="64000" y1="30601" x2="54444" y2="48361"/>
                          <a14:foregroundMark x1="54444" y1="48361" x2="64000" y2="57104"/>
                          <a14:foregroundMark x1="82889" y1="23224" x2="88222" y2="24863"/>
                          <a14:foregroundMark x1="88667" y1="24317" x2="93111" y2="28962"/>
                          <a14:backgroundMark x1="12889" y1="24044" x2="11556" y2="24590"/>
                          <a14:backgroundMark x1="12222" y1="25683" x2="10667" y2="2623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7154"/>
            <a:stretch>
              <a:fillRect/>
            </a:stretch>
          </p:blipFill>
          <p:spPr>
            <a:xfrm>
              <a:off x="9263638" y="3610875"/>
              <a:ext cx="2857500" cy="1460602"/>
            </a:xfrm>
            <a:prstGeom prst="rect">
              <a:avLst/>
            </a:prstGeom>
          </p:spPr>
        </p:pic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82F81A2C-1359-A5EC-C89A-F9109B8049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68309" y="3132872"/>
              <a:ext cx="1395538" cy="13562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5DB54C7-0CFE-A976-734B-85929372C35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0397597" y="2688748"/>
            <a:ext cx="0" cy="1114626"/>
          </a:xfrm>
          <a:prstGeom prst="straightConnector1">
            <a:avLst/>
          </a:prstGeom>
          <a:ln w="76200">
            <a:solidFill>
              <a:srgbClr val="005DE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287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08BC0-E8A5-AFEF-4A65-A0CFDD629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 vs Kubernetes (k8s)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FCB6A-AE6B-58BA-6E2F-1496A525AA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0515600" cy="4442517"/>
          </a:xfrm>
        </p:spPr>
        <p:txBody>
          <a:bodyPr>
            <a:normAutofit/>
          </a:bodyPr>
          <a:lstStyle/>
          <a:p>
            <a:r>
              <a:rPr lang="en-GB" sz="2000" dirty="0"/>
              <a:t>Docker is a container runtime used to build, package, and </a:t>
            </a:r>
            <a:r>
              <a:rPr lang="en-GB" sz="2000" b="1" dirty="0"/>
              <a:t>run containers on a single machine.</a:t>
            </a:r>
          </a:p>
          <a:p>
            <a:r>
              <a:rPr lang="en-GB" sz="2000" dirty="0"/>
              <a:t>Docker makes applications portable by packaging code, dependencies, libraries, and configuration into a consistent container image.</a:t>
            </a:r>
          </a:p>
          <a:p>
            <a:endParaRPr lang="en-GB" sz="2000" dirty="0"/>
          </a:p>
          <a:p>
            <a:r>
              <a:rPr lang="en-GB" sz="2000" dirty="0"/>
              <a:t>Kubernetes is a </a:t>
            </a:r>
            <a:r>
              <a:rPr lang="en-GB" sz="2000" b="1" dirty="0"/>
              <a:t>platform</a:t>
            </a:r>
            <a:r>
              <a:rPr lang="en-GB" sz="2000" dirty="0"/>
              <a:t> for deploying, managing, and </a:t>
            </a:r>
            <a:r>
              <a:rPr lang="en-GB" sz="2000" b="1" dirty="0"/>
              <a:t>scaling containers across multiple machines </a:t>
            </a:r>
            <a:r>
              <a:rPr lang="en-GB" sz="2000" dirty="0"/>
              <a:t>(aka. a cluster).</a:t>
            </a:r>
          </a:p>
          <a:p>
            <a:r>
              <a:rPr lang="en-GB" sz="2000" dirty="0"/>
              <a:t>Kubernetes </a:t>
            </a:r>
            <a:r>
              <a:rPr lang="en-GB" sz="2000" b="1" dirty="0"/>
              <a:t>also handles orchestration </a:t>
            </a:r>
            <a:r>
              <a:rPr lang="en-GB" sz="2000" dirty="0"/>
              <a:t>tasks such as scheduling, self-healing, service discovery, rolling updates, and load balancing.</a:t>
            </a:r>
          </a:p>
          <a:p>
            <a:endParaRPr lang="en-GB" sz="20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331C3D-6994-17E1-1030-C1DAFF1D7D66}"/>
              </a:ext>
            </a:extLst>
          </p:cNvPr>
          <p:cNvCxnSpPr/>
          <p:nvPr/>
        </p:nvCxnSpPr>
        <p:spPr>
          <a:xfrm>
            <a:off x="539086" y="2934268"/>
            <a:ext cx="11252580" cy="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ABEDF49-4DA4-048A-8606-A778D6BA534F}"/>
              </a:ext>
            </a:extLst>
          </p:cNvPr>
          <p:cNvSpPr txBox="1"/>
          <p:nvPr/>
        </p:nvSpPr>
        <p:spPr>
          <a:xfrm>
            <a:off x="2205724" y="5009493"/>
            <a:ext cx="7919303" cy="112371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Docker</a:t>
            </a:r>
            <a:r>
              <a:rPr lang="en-GB" sz="2000" dirty="0"/>
              <a:t> creates and runs containers,</a:t>
            </a:r>
            <a:br>
              <a:rPr lang="en-GB" sz="2000" dirty="0"/>
            </a:br>
            <a:r>
              <a:rPr lang="en-GB" sz="2000" dirty="0"/>
              <a:t>while </a:t>
            </a:r>
            <a:r>
              <a:rPr lang="en-GB" sz="2000" b="1" dirty="0"/>
              <a:t>Kubernetes</a:t>
            </a:r>
            <a:r>
              <a:rPr lang="en-GB" sz="2000" dirty="0"/>
              <a:t> </a:t>
            </a:r>
            <a:r>
              <a:rPr lang="en-GB" sz="2000" i="1" dirty="0"/>
              <a:t>also</a:t>
            </a:r>
            <a:r>
              <a:rPr lang="en-GB" sz="2000" dirty="0"/>
              <a:t> ensures those containers stay:</a:t>
            </a:r>
            <a:br>
              <a:rPr lang="en-GB" sz="2000" dirty="0"/>
            </a:br>
            <a:r>
              <a:rPr lang="en-GB" sz="2000" b="1" dirty="0"/>
              <a:t>available, scalable, and reliable </a:t>
            </a:r>
            <a:r>
              <a:rPr lang="en-GB" sz="2000" dirty="0"/>
              <a:t>in production</a:t>
            </a:r>
          </a:p>
        </p:txBody>
      </p:sp>
    </p:spTree>
    <p:extLst>
      <p:ext uri="{BB962C8B-B14F-4D97-AF65-F5344CB8AC3E}">
        <p14:creationId xmlns:p14="http://schemas.microsoft.com/office/powerpoint/2010/main" val="267411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C576AD-C039-BBB7-C924-818AB6DC0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9"/>
          <a:stretch>
            <a:fillRect/>
          </a:stretch>
        </p:blipFill>
        <p:spPr>
          <a:xfrm>
            <a:off x="1276350" y="300831"/>
            <a:ext cx="9639300" cy="58562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41DDA9-7FDF-EAD3-3697-828F515CA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94" t="40636" r="7346" b="23946"/>
          <a:stretch>
            <a:fillRect/>
          </a:stretch>
        </p:blipFill>
        <p:spPr>
          <a:xfrm>
            <a:off x="5864086" y="2912165"/>
            <a:ext cx="4343401" cy="227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8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98498-C728-BA30-64E6-A922BCA53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8" b="5887"/>
          <a:stretch>
            <a:fillRect/>
          </a:stretch>
        </p:blipFill>
        <p:spPr>
          <a:xfrm>
            <a:off x="1662052" y="463315"/>
            <a:ext cx="8867895" cy="52613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F67729-13D4-50C5-1BDB-C0A6DC54EBED}"/>
              </a:ext>
            </a:extLst>
          </p:cNvPr>
          <p:cNvSpPr txBox="1"/>
          <p:nvPr/>
        </p:nvSpPr>
        <p:spPr>
          <a:xfrm>
            <a:off x="3180838" y="5925727"/>
            <a:ext cx="4554986" cy="442674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Aka. </a:t>
            </a:r>
            <a:r>
              <a:rPr lang="en-GB" sz="2000" b="1" dirty="0"/>
              <a:t>Infrastructure as Code</a:t>
            </a:r>
            <a:r>
              <a:rPr lang="en-GB" sz="2000" dirty="0"/>
              <a:t> (</a:t>
            </a:r>
            <a:r>
              <a:rPr lang="en-GB" sz="2000" dirty="0" err="1"/>
              <a:t>IaC</a:t>
            </a:r>
            <a:r>
              <a:rPr lang="en-GB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451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B53F-9E38-2828-55E8-6BE97AC2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 Compose vs. Kubernetes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6EFF4-0F36-BF02-2EB8-E0E087B591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DK" dirty="0"/>
              <a:t>Både Docker Compose og Kubernetes er </a:t>
            </a:r>
            <a:r>
              <a:rPr lang="en-DK" b="1" dirty="0"/>
              <a:t>deklarative</a:t>
            </a:r>
            <a:endParaRPr lang="en-DK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Du </a:t>
            </a:r>
            <a:r>
              <a:rPr lang="en-DK" u="sng" dirty="0"/>
              <a:t>beskriver en ønsket tilstand</a:t>
            </a:r>
            <a:r>
              <a:rPr lang="en-DK" dirty="0"/>
              <a:t> for din IT arkitektur.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Platformen forsøger at gøre denne til virkelighed.</a:t>
            </a:r>
          </a:p>
          <a:p>
            <a:pPr marL="457200" lvl="1" indent="0">
              <a:buNone/>
            </a:pPr>
            <a:endParaRPr lang="en-DK" dirty="0"/>
          </a:p>
          <a:p>
            <a:r>
              <a:rPr lang="en-DK" dirty="0"/>
              <a:t>Docker Compose er primært: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Single-host orkestrering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Udvikler-fokuseret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Begrænset scaling, load-balancing og self-healing.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Hvis Docker hosten dør, er dine systemer bare nede.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DK" dirty="0"/>
          </a:p>
          <a:p>
            <a:r>
              <a:rPr lang="en-DK" dirty="0"/>
              <a:t>Compose     = Deklarativ opstart af infrastruktur</a:t>
            </a:r>
          </a:p>
          <a:p>
            <a:r>
              <a:rPr lang="en-DK" dirty="0"/>
              <a:t>Kubernetes = Deklarativ </a:t>
            </a:r>
            <a:r>
              <a:rPr lang="en-DK" u="sng" dirty="0"/>
              <a:t>kontinuerlig drift</a:t>
            </a:r>
            <a:r>
              <a:rPr lang="en-DK" dirty="0"/>
              <a:t> af infrastruktur</a:t>
            </a:r>
          </a:p>
        </p:txBody>
      </p:sp>
      <p:sp>
        <p:nvSpPr>
          <p:cNvPr id="4" name="Folded Corner 3">
            <a:extLst>
              <a:ext uri="{FF2B5EF4-FFF2-40B4-BE49-F238E27FC236}">
                <a16:creationId xmlns:a16="http://schemas.microsoft.com/office/drawing/2014/main" id="{FA078691-EE60-C647-7410-99B41A490E31}"/>
              </a:ext>
            </a:extLst>
          </p:cNvPr>
          <p:cNvSpPr/>
          <p:nvPr/>
        </p:nvSpPr>
        <p:spPr>
          <a:xfrm>
            <a:off x="9207157" y="4206451"/>
            <a:ext cx="1126273" cy="1325563"/>
          </a:xfrm>
          <a:prstGeom prst="foldedCorne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dirty="0"/>
              <a:t>My desired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9F8AC-F311-0230-2997-68549F7FB2A9}"/>
              </a:ext>
            </a:extLst>
          </p:cNvPr>
          <p:cNvSpPr txBox="1"/>
          <p:nvPr/>
        </p:nvSpPr>
        <p:spPr>
          <a:xfrm>
            <a:off x="7848566" y="2213319"/>
            <a:ext cx="4192859" cy="10772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docker network create 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mynet</a:t>
            </a:r>
            <a:endParaRPr lang="en-GB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docker volume create my-data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DK" sz="1600" dirty="0">
                <a:latin typeface="Consolas" panose="020B0609020204030204" pitchFamily="49" charset="0"/>
                <a:cs typeface="Consolas" panose="020B0609020204030204" pitchFamily="49" charset="0"/>
              </a:rPr>
              <a:t>ocker run -d --network=mynet my-app</a:t>
            </a:r>
          </a:p>
          <a:p>
            <a:r>
              <a:rPr lang="en-DK" sz="16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B47B3F-09E3-65A2-4F8A-5B4F904F034B}"/>
              </a:ext>
            </a:extLst>
          </p:cNvPr>
          <p:cNvSpPr txBox="1"/>
          <p:nvPr/>
        </p:nvSpPr>
        <p:spPr>
          <a:xfrm>
            <a:off x="9319598" y="1876253"/>
            <a:ext cx="1555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Commands:</a:t>
            </a:r>
          </a:p>
        </p:txBody>
      </p:sp>
      <p:sp>
        <p:nvSpPr>
          <p:cNvPr id="7" name="Folded Corner 6">
            <a:extLst>
              <a:ext uri="{FF2B5EF4-FFF2-40B4-BE49-F238E27FC236}">
                <a16:creationId xmlns:a16="http://schemas.microsoft.com/office/drawing/2014/main" id="{16FD2180-D68B-5568-B4C3-8B7785A9C78E}"/>
              </a:ext>
            </a:extLst>
          </p:cNvPr>
          <p:cNvSpPr/>
          <p:nvPr/>
        </p:nvSpPr>
        <p:spPr>
          <a:xfrm>
            <a:off x="9359557" y="4358851"/>
            <a:ext cx="1126273" cy="1325563"/>
          </a:xfrm>
          <a:prstGeom prst="foldedCorne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dirty="0"/>
              <a:t>My desired state</a:t>
            </a:r>
          </a:p>
        </p:txBody>
      </p:sp>
      <p:sp>
        <p:nvSpPr>
          <p:cNvPr id="8" name="Folded Corner 7">
            <a:extLst>
              <a:ext uri="{FF2B5EF4-FFF2-40B4-BE49-F238E27FC236}">
                <a16:creationId xmlns:a16="http://schemas.microsoft.com/office/drawing/2014/main" id="{A5B032BD-03E2-0909-390B-8D41ABC377E3}"/>
              </a:ext>
            </a:extLst>
          </p:cNvPr>
          <p:cNvSpPr/>
          <p:nvPr/>
        </p:nvSpPr>
        <p:spPr>
          <a:xfrm>
            <a:off x="9511957" y="4511251"/>
            <a:ext cx="1126273" cy="1325563"/>
          </a:xfrm>
          <a:prstGeom prst="foldedCorne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dirty="0"/>
              <a:t>My desired state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7B9F2-4A1F-04A1-B888-EBABAB34A96E}"/>
              </a:ext>
            </a:extLst>
          </p:cNvPr>
          <p:cNvSpPr txBox="1"/>
          <p:nvPr/>
        </p:nvSpPr>
        <p:spPr>
          <a:xfrm>
            <a:off x="9381860" y="3628502"/>
            <a:ext cx="990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VERSUS</a:t>
            </a:r>
          </a:p>
        </p:txBody>
      </p:sp>
    </p:spTree>
    <p:extLst>
      <p:ext uri="{BB962C8B-B14F-4D97-AF65-F5344CB8AC3E}">
        <p14:creationId xmlns:p14="http://schemas.microsoft.com/office/powerpoint/2010/main" val="2028106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1616-C8F5-E0FB-517D-7628002A2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Hvad er Kubernetes?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B69C7-EAD7-6D5F-A326-169044F2CF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9"/>
            <a:ext cx="10515600" cy="4050919"/>
          </a:xfrm>
        </p:spPr>
        <p:txBody>
          <a:bodyPr>
            <a:normAutofit/>
          </a:bodyPr>
          <a:lstStyle/>
          <a:p>
            <a:r>
              <a:rPr lang="en-DK" u="sng" dirty="0"/>
              <a:t>Et multi-node high-availability container runtime.</a:t>
            </a:r>
            <a:br>
              <a:rPr lang="en-DK" u="sng" dirty="0"/>
            </a:br>
            <a:endParaRPr lang="en-DK" u="sng" dirty="0"/>
          </a:p>
          <a:p>
            <a:r>
              <a:rPr lang="en-DK" dirty="0"/>
              <a:t>I forhold til Docker Compose får vi også:</a:t>
            </a:r>
          </a:p>
          <a:p>
            <a:pPr lvl="1"/>
            <a:r>
              <a:rPr lang="en-GB" b="1" dirty="0" err="1"/>
              <a:t>Orkestrering</a:t>
            </a:r>
            <a:r>
              <a:rPr lang="en-GB" dirty="0"/>
              <a:t>: Automatic management of containerized applications across multiple servers</a:t>
            </a:r>
          </a:p>
          <a:p>
            <a:pPr lvl="1"/>
            <a:r>
              <a:rPr lang="en-GB" b="1" dirty="0"/>
              <a:t>Service  &amp; Load Balancing</a:t>
            </a:r>
            <a:r>
              <a:rPr lang="en-GB" dirty="0"/>
              <a:t>: Automatic service detection and internal traffic distribution</a:t>
            </a:r>
          </a:p>
          <a:p>
            <a:pPr lvl="1"/>
            <a:r>
              <a:rPr lang="en-GB" b="1" dirty="0" err="1"/>
              <a:t>Automatiseret</a:t>
            </a:r>
            <a:r>
              <a:rPr lang="en-GB" b="1" dirty="0"/>
              <a:t> </a:t>
            </a:r>
            <a:r>
              <a:rPr lang="en-GB" b="1" dirty="0" err="1"/>
              <a:t>udrulning</a:t>
            </a:r>
            <a:r>
              <a:rPr lang="en-GB" dirty="0"/>
              <a:t>: Streamlined application rollouts, updates, and rollbacks</a:t>
            </a:r>
          </a:p>
          <a:p>
            <a:pPr lvl="1"/>
            <a:r>
              <a:rPr lang="en-GB" b="1" dirty="0"/>
              <a:t>Self-healing features</a:t>
            </a:r>
            <a:r>
              <a:rPr lang="en-GB" dirty="0"/>
              <a:t>: Continuously monitors health to automatically restart, replace, or reschedule failed containers, maintaining service uptime.</a:t>
            </a:r>
          </a:p>
          <a:p>
            <a:pPr lvl="1"/>
            <a:r>
              <a:rPr lang="en-GB" b="1" dirty="0" err="1"/>
              <a:t>Ressource</a:t>
            </a:r>
            <a:r>
              <a:rPr lang="en-GB" b="1" dirty="0"/>
              <a:t> </a:t>
            </a:r>
            <a:r>
              <a:rPr lang="en-GB" b="1" dirty="0" err="1"/>
              <a:t>styring</a:t>
            </a:r>
            <a:r>
              <a:rPr lang="en-GB" dirty="0"/>
              <a:t>: Optimization of CPU, memory, and storage usage through precise configuration and dynamic allocation, maximizing hardware utilization.</a:t>
            </a:r>
            <a:endParaRPr lang="en-DK" dirty="0"/>
          </a:p>
          <a:p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A2ABD-1B84-3930-21E4-8732C08D267B}"/>
              </a:ext>
            </a:extLst>
          </p:cNvPr>
          <p:cNvSpPr txBox="1"/>
          <p:nvPr/>
        </p:nvSpPr>
        <p:spPr>
          <a:xfrm>
            <a:off x="3303651" y="5461523"/>
            <a:ext cx="7919303" cy="783193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Kubernetes is a declarative control plane that continuously reconciles desired cluster state against actual runtime state.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18D7F1-B4E5-5B05-AD70-E30492142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11" b="59563" l="6222" r="94000">
                        <a14:foregroundMark x1="8889" y1="28962" x2="7556" y2="30601"/>
                        <a14:foregroundMark x1="77333" y1="24590" x2="92889" y2="32514"/>
                        <a14:foregroundMark x1="92889" y1="32514" x2="82889" y2="49454"/>
                        <a14:foregroundMark x1="82889" y1="49454" x2="65556" y2="59563"/>
                        <a14:foregroundMark x1="65556" y1="59563" x2="73333" y2="39344"/>
                        <a14:foregroundMark x1="73333" y1="39344" x2="85778" y2="22404"/>
                        <a14:foregroundMark x1="84889" y1="25683" x2="71111" y2="37705"/>
                        <a14:foregroundMark x1="71111" y1="37705" x2="57778" y2="17213"/>
                        <a14:foregroundMark x1="57778" y1="17213" x2="57333" y2="15847"/>
                        <a14:foregroundMark x1="86222" y1="27322" x2="87556" y2="25683"/>
                        <a14:foregroundMark x1="86222" y1="26776" x2="89778" y2="28415"/>
                        <a14:foregroundMark x1="87556" y1="23497" x2="88444" y2="25137"/>
                        <a14:foregroundMark x1="94222" y1="28962" x2="83556" y2="38251"/>
                        <a14:foregroundMark x1="8444" y1="31148" x2="6222" y2="327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7154"/>
          <a:stretch>
            <a:fillRect/>
          </a:stretch>
        </p:blipFill>
        <p:spPr>
          <a:xfrm>
            <a:off x="9392370" y="109668"/>
            <a:ext cx="2350516" cy="12014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F16FBD-60C0-8A1F-0CB6-FDBE5EC1C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11" b="59563" l="6222" r="94000">
                        <a14:foregroundMark x1="8889" y1="28962" x2="7556" y2="30601"/>
                        <a14:foregroundMark x1="77333" y1="24590" x2="92889" y2="32514"/>
                        <a14:foregroundMark x1="92889" y1="32514" x2="82889" y2="49454"/>
                        <a14:foregroundMark x1="82889" y1="49454" x2="65556" y2="59563"/>
                        <a14:foregroundMark x1="65556" y1="59563" x2="73333" y2="39344"/>
                        <a14:foregroundMark x1="73333" y1="39344" x2="85778" y2="22404"/>
                        <a14:foregroundMark x1="84889" y1="25683" x2="71111" y2="37705"/>
                        <a14:foregroundMark x1="71111" y1="37705" x2="57778" y2="17213"/>
                        <a14:foregroundMark x1="57778" y1="17213" x2="57333" y2="15847"/>
                        <a14:foregroundMark x1="86222" y1="27322" x2="87556" y2="25683"/>
                        <a14:foregroundMark x1="86222" y1="26776" x2="89778" y2="28415"/>
                        <a14:foregroundMark x1="87556" y1="23497" x2="88444" y2="25137"/>
                        <a14:foregroundMark x1="94222" y1="28962" x2="83556" y2="38251"/>
                        <a14:foregroundMark x1="8444" y1="31148" x2="6222" y2="327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7154"/>
          <a:stretch>
            <a:fillRect/>
          </a:stretch>
        </p:blipFill>
        <p:spPr>
          <a:xfrm>
            <a:off x="8045588" y="710397"/>
            <a:ext cx="2181455" cy="11150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F87D20-0DBB-A3FC-C466-7EB2E8E35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11" b="59563" l="6222" r="94000">
                        <a14:foregroundMark x1="8889" y1="28962" x2="7556" y2="30601"/>
                        <a14:foregroundMark x1="77333" y1="24590" x2="92889" y2="32514"/>
                        <a14:foregroundMark x1="92889" y1="32514" x2="82889" y2="49454"/>
                        <a14:foregroundMark x1="82889" y1="49454" x2="65556" y2="59563"/>
                        <a14:foregroundMark x1="65556" y1="59563" x2="73333" y2="39344"/>
                        <a14:foregroundMark x1="73333" y1="39344" x2="85778" y2="22404"/>
                        <a14:foregroundMark x1="84889" y1="25683" x2="71111" y2="37705"/>
                        <a14:foregroundMark x1="71111" y1="37705" x2="57778" y2="17213"/>
                        <a14:foregroundMark x1="57778" y1="17213" x2="57333" y2="15847"/>
                        <a14:foregroundMark x1="86222" y1="27322" x2="87556" y2="25683"/>
                        <a14:foregroundMark x1="86222" y1="26776" x2="89778" y2="28415"/>
                        <a14:foregroundMark x1="87556" y1="23497" x2="88444" y2="25137"/>
                        <a14:foregroundMark x1="94222" y1="28962" x2="83556" y2="38251"/>
                        <a14:foregroundMark x1="8444" y1="31148" x2="6222" y2="327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7154"/>
          <a:stretch>
            <a:fillRect/>
          </a:stretch>
        </p:blipFill>
        <p:spPr>
          <a:xfrm>
            <a:off x="9912348" y="1070537"/>
            <a:ext cx="2181455" cy="1115044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EF99A41-BBD2-3E00-05E1-04961A0D9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5742" y="361222"/>
            <a:ext cx="1236223" cy="1201459"/>
          </a:xfrm>
          <a:prstGeom prst="rect">
            <a:avLst/>
          </a:prstGeom>
          <a:noFill/>
          <a:effectLst>
            <a:outerShdw blurRad="71843" dist="89017" dir="2700000" sx="104233" sy="104233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34D549BF-E6D8-164A-D1D2-F0B18B2649EB}"/>
              </a:ext>
            </a:extLst>
          </p:cNvPr>
          <p:cNvSpPr/>
          <p:nvPr/>
        </p:nvSpPr>
        <p:spPr>
          <a:xfrm>
            <a:off x="8720488" y="778801"/>
            <a:ext cx="770021" cy="510984"/>
          </a:xfrm>
          <a:custGeom>
            <a:avLst/>
            <a:gdLst>
              <a:gd name="csX0" fmla="*/ 0 w 770021"/>
              <a:gd name="csY0" fmla="*/ 510984 h 510984"/>
              <a:gd name="csX1" fmla="*/ 404261 w 770021"/>
              <a:gd name="csY1" fmla="*/ 20096 h 510984"/>
              <a:gd name="csX2" fmla="*/ 770021 w 770021"/>
              <a:gd name="csY2" fmla="*/ 125974 h 510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1" h="510984">
                <a:moveTo>
                  <a:pt x="0" y="510984"/>
                </a:moveTo>
                <a:cubicBezTo>
                  <a:pt x="137962" y="297624"/>
                  <a:pt x="275924" y="84264"/>
                  <a:pt x="404261" y="20096"/>
                </a:cubicBezTo>
                <a:cubicBezTo>
                  <a:pt x="532598" y="-44072"/>
                  <a:pt x="701040" y="60201"/>
                  <a:pt x="770021" y="125974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DE795248-9093-1144-5FA4-3DE6F70B75EB}"/>
              </a:ext>
            </a:extLst>
          </p:cNvPr>
          <p:cNvSpPr/>
          <p:nvPr/>
        </p:nvSpPr>
        <p:spPr>
          <a:xfrm>
            <a:off x="10616129" y="983710"/>
            <a:ext cx="722431" cy="710336"/>
          </a:xfrm>
          <a:custGeom>
            <a:avLst/>
            <a:gdLst>
              <a:gd name="csX0" fmla="*/ 722431 w 722431"/>
              <a:gd name="csY0" fmla="*/ 710336 h 710336"/>
              <a:gd name="csX1" fmla="*/ 452924 w 722431"/>
              <a:gd name="csY1" fmla="*/ 65444 h 710336"/>
              <a:gd name="csX2" fmla="*/ 536 w 722431"/>
              <a:gd name="csY2" fmla="*/ 75069 h 7103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22431" h="710336">
                <a:moveTo>
                  <a:pt x="722431" y="710336"/>
                </a:moveTo>
                <a:cubicBezTo>
                  <a:pt x="647835" y="440829"/>
                  <a:pt x="573240" y="171322"/>
                  <a:pt x="452924" y="65444"/>
                </a:cubicBezTo>
                <a:cubicBezTo>
                  <a:pt x="332608" y="-40434"/>
                  <a:pt x="-15506" y="-3537"/>
                  <a:pt x="536" y="75069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683F1A9-DD73-FD14-1CE8-78E425736D8C}"/>
              </a:ext>
            </a:extLst>
          </p:cNvPr>
          <p:cNvSpPr/>
          <p:nvPr/>
        </p:nvSpPr>
        <p:spPr>
          <a:xfrm>
            <a:off x="10357980" y="495172"/>
            <a:ext cx="516297" cy="343397"/>
          </a:xfrm>
          <a:custGeom>
            <a:avLst/>
            <a:gdLst>
              <a:gd name="csX0" fmla="*/ 722431 w 722431"/>
              <a:gd name="csY0" fmla="*/ 710336 h 710336"/>
              <a:gd name="csX1" fmla="*/ 452924 w 722431"/>
              <a:gd name="csY1" fmla="*/ 65444 h 710336"/>
              <a:gd name="csX2" fmla="*/ 536 w 722431"/>
              <a:gd name="csY2" fmla="*/ 75069 h 7103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22431" h="710336">
                <a:moveTo>
                  <a:pt x="722431" y="710336"/>
                </a:moveTo>
                <a:cubicBezTo>
                  <a:pt x="647835" y="440829"/>
                  <a:pt x="573240" y="171322"/>
                  <a:pt x="452924" y="65444"/>
                </a:cubicBezTo>
                <a:cubicBezTo>
                  <a:pt x="332608" y="-40434"/>
                  <a:pt x="-15506" y="-3537"/>
                  <a:pt x="536" y="75069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0191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02D8C-289F-E420-28DB-5D66C9DC8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Control Plane (“The Brain”)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21456-BEA4-5091-B7D8-C14FFEC8F2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0515600" cy="4710112"/>
          </a:xfrm>
        </p:spPr>
        <p:txBody>
          <a:bodyPr>
            <a:normAutofit fontScale="92500" lnSpcReduction="20000"/>
          </a:bodyPr>
          <a:lstStyle/>
          <a:p>
            <a:r>
              <a:rPr lang="en-DK" b="1" dirty="0"/>
              <a:t>kube-apiserver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Central API entrypoint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Stores &amp; validates desired state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All components communicate through it </a:t>
            </a:r>
          </a:p>
          <a:p>
            <a:r>
              <a:rPr lang="en-DK" b="1" dirty="0"/>
              <a:t>etcd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Distributed cluster database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Stores all cluster state/configuration </a:t>
            </a:r>
          </a:p>
          <a:p>
            <a:r>
              <a:rPr lang="en-DK" b="1" dirty="0"/>
              <a:t>kube-controller-manager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Ensures actual state matches desired state via “reconciliation loops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Examples: </a:t>
            </a:r>
          </a:p>
          <a:p>
            <a:pPr lvl="2"/>
            <a:r>
              <a:rPr lang="en-DK" dirty="0"/>
              <a:t>Deployment controller </a:t>
            </a:r>
          </a:p>
          <a:p>
            <a:pPr lvl="2"/>
            <a:r>
              <a:rPr lang="en-DK" dirty="0"/>
              <a:t>Node controller </a:t>
            </a:r>
          </a:p>
          <a:p>
            <a:pPr lvl="2"/>
            <a:r>
              <a:rPr lang="en-DK" dirty="0"/>
              <a:t>ReplicaSet controller </a:t>
            </a:r>
          </a:p>
          <a:p>
            <a:r>
              <a:rPr lang="en-DK" b="1" dirty="0"/>
              <a:t>kube-scheduler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Decides </a:t>
            </a:r>
            <a:r>
              <a:rPr lang="en-DK" i="1" dirty="0"/>
              <a:t>where</a:t>
            </a:r>
            <a:r>
              <a:rPr lang="en-DK" dirty="0"/>
              <a:t> Pods should run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Considers: resources, affinity, taints/tolerations and more.</a:t>
            </a:r>
          </a:p>
          <a:p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023688-B8E6-6214-23B3-53F8277F4F24}"/>
              </a:ext>
            </a:extLst>
          </p:cNvPr>
          <p:cNvSpPr txBox="1"/>
          <p:nvPr/>
        </p:nvSpPr>
        <p:spPr>
          <a:xfrm>
            <a:off x="8158942" y="601872"/>
            <a:ext cx="22413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7200" dirty="0"/>
              <a:t>🧠</a:t>
            </a:r>
          </a:p>
        </p:txBody>
      </p:sp>
    </p:spTree>
    <p:extLst>
      <p:ext uri="{BB962C8B-B14F-4D97-AF65-F5344CB8AC3E}">
        <p14:creationId xmlns:p14="http://schemas.microsoft.com/office/powerpoint/2010/main" val="2030034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8D512-4A86-6EED-D1A5-F4FD0658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Worker Nodes (“The Muscle”)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FE6FA-DDC9-3B17-46F2-AB057E1F21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 b="1" dirty="0"/>
              <a:t>kubelet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Node agent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Ensures Pods are running correctly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Talks to API server – “What’s our state? What should I run?”</a:t>
            </a:r>
          </a:p>
          <a:p>
            <a:r>
              <a:rPr lang="en-DK" b="1" dirty="0"/>
              <a:t>Container Runtime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Examples: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containerd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CRI-O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Responsible for: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pulling images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starting/stopping containers </a:t>
            </a:r>
          </a:p>
          <a:p>
            <a:r>
              <a:rPr lang="en-DK" b="1" dirty="0"/>
              <a:t>kube-proxy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Cluster networking/load balancing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Service routing rules</a:t>
            </a:r>
          </a:p>
          <a:p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174BA9-0A55-7769-995B-CE91C5DCF11F}"/>
              </a:ext>
            </a:extLst>
          </p:cNvPr>
          <p:cNvSpPr txBox="1"/>
          <p:nvPr/>
        </p:nvSpPr>
        <p:spPr>
          <a:xfrm>
            <a:off x="8660747" y="590720"/>
            <a:ext cx="22413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7200" dirty="0"/>
              <a:t>💪</a:t>
            </a:r>
          </a:p>
        </p:txBody>
      </p:sp>
    </p:spTree>
    <p:extLst>
      <p:ext uri="{BB962C8B-B14F-4D97-AF65-F5344CB8AC3E}">
        <p14:creationId xmlns:p14="http://schemas.microsoft.com/office/powerpoint/2010/main" val="2843846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AD8-1D55-B56D-CD65-DB1D44CC7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3681"/>
            <a:ext cx="10515600" cy="1325563"/>
          </a:xfrm>
        </p:spPr>
        <p:txBody>
          <a:bodyPr/>
          <a:lstStyle/>
          <a:p>
            <a:r>
              <a:rPr lang="en-DK" dirty="0"/>
              <a:t>Kubernetes Cluster</a:t>
            </a:r>
          </a:p>
        </p:txBody>
      </p:sp>
      <p:pic>
        <p:nvPicPr>
          <p:cNvPr id="4098" name="Picture 2" descr="Kubernetes vs Docker - Kubernetes components. Kubernetes vs Docker">
            <a:extLst>
              <a:ext uri="{FF2B5EF4-FFF2-40B4-BE49-F238E27FC236}">
                <a16:creationId xmlns:a16="http://schemas.microsoft.com/office/drawing/2014/main" id="{36FFC76C-9A9F-F423-F94D-B27F0C86F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1541" y="1296367"/>
            <a:ext cx="7928918" cy="531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ECDFFA-55AC-3ED7-F3FF-275EE8011DA9}"/>
              </a:ext>
            </a:extLst>
          </p:cNvPr>
          <p:cNvSpPr txBox="1"/>
          <p:nvPr/>
        </p:nvSpPr>
        <p:spPr>
          <a:xfrm>
            <a:off x="6252084" y="1153745"/>
            <a:ext cx="22413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4800" dirty="0"/>
              <a:t>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8AEEB-96C8-A2E7-720B-BD3ED79F0C8D}"/>
              </a:ext>
            </a:extLst>
          </p:cNvPr>
          <p:cNvSpPr txBox="1"/>
          <p:nvPr/>
        </p:nvSpPr>
        <p:spPr>
          <a:xfrm>
            <a:off x="6004102" y="4165373"/>
            <a:ext cx="2241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4000" dirty="0"/>
              <a:t>💪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DC6EC-0C42-F360-1D23-FB6D6D306B11}"/>
              </a:ext>
            </a:extLst>
          </p:cNvPr>
          <p:cNvSpPr txBox="1"/>
          <p:nvPr/>
        </p:nvSpPr>
        <p:spPr>
          <a:xfrm>
            <a:off x="1947745" y="4142197"/>
            <a:ext cx="2241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4000" dirty="0"/>
              <a:t>💪</a:t>
            </a:r>
          </a:p>
        </p:txBody>
      </p:sp>
    </p:spTree>
    <p:extLst>
      <p:ext uri="{BB962C8B-B14F-4D97-AF65-F5344CB8AC3E}">
        <p14:creationId xmlns:p14="http://schemas.microsoft.com/office/powerpoint/2010/main" val="1860166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18750-7BE5-890B-208A-8CA4034E8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Kubernetes API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05E5D-02E5-61D2-E6D2-EF168E4EBB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l"/>
            <a:r>
              <a:rPr lang="en-GB" dirty="0"/>
              <a:t>The core of Kubernetes' </a:t>
            </a:r>
            <a:r>
              <a:rPr lang="en-GB" dirty="0">
                <a:hlinkClick r:id="rId2"/>
              </a:rPr>
              <a:t>control plane</a:t>
            </a:r>
            <a:r>
              <a:rPr lang="en-GB" dirty="0"/>
              <a:t> is the </a:t>
            </a:r>
            <a:r>
              <a:rPr lang="en-GB" dirty="0">
                <a:hlinkClick r:id="rId3"/>
              </a:rPr>
              <a:t>API server</a:t>
            </a:r>
            <a:r>
              <a:rPr lang="en-GB" dirty="0"/>
              <a:t>. The API server exposes an HTTP API that lets end-users, parts of your cluster, and external components communicate with one another.</a:t>
            </a:r>
            <a:br>
              <a:rPr lang="en-GB" dirty="0"/>
            </a:br>
            <a:endParaRPr lang="en-GB" dirty="0"/>
          </a:p>
          <a:p>
            <a:pPr algn="l"/>
            <a:r>
              <a:rPr lang="en-GB" dirty="0"/>
              <a:t>Query and manipulate the state of API objects in Kubernetes</a:t>
            </a:r>
          </a:p>
          <a:p>
            <a:pPr lvl="1"/>
            <a:r>
              <a:rPr lang="en-GB" dirty="0" err="1"/>
              <a:t>Fx</a:t>
            </a:r>
            <a:r>
              <a:rPr lang="en-GB" dirty="0"/>
              <a:t>. Namespaces, Deployments, Pods, </a:t>
            </a:r>
            <a:r>
              <a:rPr lang="en-GB" dirty="0" err="1"/>
              <a:t>ConfigMaps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These objects (or manifests) simply describes the desired state of the cluster.</a:t>
            </a:r>
          </a:p>
          <a:p>
            <a:pPr algn="l"/>
            <a:endParaRPr lang="en-GB" dirty="0"/>
          </a:p>
          <a:p>
            <a:pPr algn="l"/>
            <a:r>
              <a:rPr lang="en-GB" b="1" dirty="0" err="1">
                <a:solidFill>
                  <a:srgbClr val="005DE0"/>
                </a:solidFill>
              </a:rPr>
              <a:t>kubectl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just an easy way to interact with API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784829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78323-5920-816F-6C41-5C70265B7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Hvordan bruger man så Kubernetes?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B3432-0AC5-C360-75A4-8C7EEDE327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CLI værktøjet </a:t>
            </a:r>
            <a:r>
              <a:rPr lang="en-DK" b="1" dirty="0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</a:p>
          <a:p>
            <a:pPr lvl="1"/>
            <a:r>
              <a:rPr lang="en-DK" dirty="0"/>
              <a:t>Meget ens med </a:t>
            </a:r>
            <a:r>
              <a:rPr lang="en-DK" b="1" dirty="0">
                <a:latin typeface="Consolas" panose="020B0609020204030204" pitchFamily="49" charset="0"/>
                <a:cs typeface="Consolas" panose="020B0609020204030204" pitchFamily="49" charset="0"/>
              </a:rPr>
              <a:t>docker</a:t>
            </a:r>
            <a:r>
              <a:rPr lang="en-DK" dirty="0"/>
              <a:t> og </a:t>
            </a:r>
            <a:r>
              <a:rPr lang="en-DK" b="1" dirty="0">
                <a:latin typeface="Consolas" panose="020B0609020204030204" pitchFamily="49" charset="0"/>
                <a:cs typeface="Consolas" panose="020B0609020204030204" pitchFamily="49" charset="0"/>
              </a:rPr>
              <a:t>docker compose </a:t>
            </a:r>
            <a:r>
              <a:rPr lang="en-DK" dirty="0">
                <a:latin typeface="Calibri" panose="020F0502020204030204" pitchFamily="34" charset="0"/>
                <a:cs typeface="Calibri" panose="020F0502020204030204" pitchFamily="34" charset="0"/>
              </a:rPr>
              <a:t>(cmds og flag)</a:t>
            </a:r>
          </a:p>
          <a:p>
            <a:endParaRPr lang="en-DK" dirty="0"/>
          </a:p>
          <a:p>
            <a:r>
              <a:rPr lang="en-DK" dirty="0"/>
              <a:t>Faktisk laver </a:t>
            </a:r>
            <a:r>
              <a:rPr lang="en-DK" b="1" dirty="0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DK" dirty="0"/>
              <a:t> bare API kald der opretter og redigerer dokumenter.</a:t>
            </a:r>
          </a:p>
          <a:p>
            <a:endParaRPr lang="en-DK" dirty="0"/>
          </a:p>
          <a:p>
            <a:r>
              <a:rPr lang="en-DK" sz="2800" dirty="0"/>
              <a:t>Lad os prøve at oprette en Deployment!</a:t>
            </a:r>
            <a:br>
              <a:rPr lang="en-DK" sz="2800" dirty="0"/>
            </a:br>
            <a:br>
              <a:rPr lang="en-DK" sz="2800" dirty="0"/>
            </a:b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 create deployment web --image=nginx</a:t>
            </a:r>
            <a:b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 get all -o wide</a:t>
            </a:r>
            <a:endParaRPr lang="en-DK" sz="2800" dirty="0">
              <a:solidFill>
                <a:srgbClr val="005DE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68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391F6EE4-50F2-FB06-9153-6CFF714551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5033" y="2703050"/>
            <a:ext cx="1391202" cy="946150"/>
          </a:xfrm>
        </p:spPr>
        <p:txBody>
          <a:bodyPr/>
          <a:lstStyle/>
          <a:p>
            <a:r>
              <a:rPr lang="da-DK" dirty="0"/>
              <a:t>2.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517BDA5-72B2-1B8B-DDD6-81808EDF1A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96235" y="2703049"/>
            <a:ext cx="5578284" cy="2884543"/>
          </a:xfrm>
        </p:spPr>
        <p:txBody>
          <a:bodyPr/>
          <a:lstStyle/>
          <a:p>
            <a:r>
              <a:rPr lang="da-DK" dirty="0" err="1"/>
              <a:t>Kubernetes</a:t>
            </a:r>
            <a:br>
              <a:rPr lang="da-DK" dirty="0"/>
            </a:br>
            <a:r>
              <a:rPr lang="da-DK" sz="3600" dirty="0"/>
              <a:t>CLI Demo</a:t>
            </a:r>
          </a:p>
          <a:p>
            <a:r>
              <a:rPr lang="da-DK" sz="2400" dirty="0">
                <a:solidFill>
                  <a:srgbClr val="005DE0"/>
                </a:solidFill>
              </a:rPr>
              <a:t>Appetitvækker</a:t>
            </a:r>
          </a:p>
        </p:txBody>
      </p:sp>
    </p:spTree>
    <p:extLst>
      <p:ext uri="{BB962C8B-B14F-4D97-AF65-F5344CB8AC3E}">
        <p14:creationId xmlns:p14="http://schemas.microsoft.com/office/powerpoint/2010/main" val="237047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9E1D-F72D-C25C-ED0E-EE93C360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2. Demo – Smagsprøve på k8s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0A9C0-C8AA-0235-10F5-1A1C3B59B2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DK" dirty="0"/>
              <a:t>Let’s create a Deployment and mess </a:t>
            </a:r>
            <a:r>
              <a:rPr lang="en-GB" dirty="0" err="1"/>
              <a:t>wi</a:t>
            </a:r>
            <a:r>
              <a:rPr lang="en-DK" dirty="0"/>
              <a:t>th it!</a:t>
            </a:r>
          </a:p>
          <a:p>
            <a:pPr marL="457200" lvl="1" indent="0">
              <a:buNone/>
            </a:pPr>
            <a:r>
              <a:rPr lang="en-DK" dirty="0"/>
              <a:t>Deployment </a:t>
            </a:r>
            <a:r>
              <a:rPr lang="en-DK" dirty="0">
                <a:sym typeface="Wingdings" pitchFamily="2" charset="2"/>
              </a:rPr>
              <a:t> ReplicaSet  Pod</a:t>
            </a:r>
          </a:p>
          <a:p>
            <a:pPr marL="457200" lvl="1" indent="0">
              <a:buNone/>
            </a:pPr>
            <a:endParaRPr lang="en-DK" dirty="0"/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Destroy stuff and watch Kubernetes reconcile 😈</a:t>
            </a:r>
          </a:p>
          <a:p>
            <a:pPr marL="457200" indent="-457200">
              <a:buFont typeface="+mj-lt"/>
              <a:buAutoNum type="arabicPeriod"/>
            </a:pPr>
            <a:endParaRPr lang="en-DK" dirty="0"/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Let’s horizontally scale our Deployment</a:t>
            </a:r>
          </a:p>
          <a:p>
            <a:pPr marL="457200" indent="-457200">
              <a:buFont typeface="+mj-lt"/>
              <a:buAutoNum type="arabicPeriod"/>
            </a:pPr>
            <a:endParaRPr lang="en-DK" dirty="0"/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Zero-downtime changes</a:t>
            </a:r>
          </a:p>
          <a:p>
            <a:pPr marL="457200" indent="-457200">
              <a:buFont typeface="+mj-lt"/>
              <a:buAutoNum type="arabicPeriod"/>
            </a:pPr>
            <a:endParaRPr lang="en-DK" dirty="0"/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Reach a container from our browser</a:t>
            </a:r>
          </a:p>
          <a:p>
            <a:pPr marL="457200" indent="-457200">
              <a:buFont typeface="+mj-lt"/>
              <a:buAutoNum type="arabicPeriod"/>
            </a:pPr>
            <a:endParaRPr lang="en-DK" dirty="0"/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Peek inside Kubernetes resources</a:t>
            </a:r>
            <a:br>
              <a:rPr lang="en-DK" dirty="0"/>
            </a:b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38374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3DC07-C2A9-85B8-C699-182DA18B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Kubernetes Manifests (YAML)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F301F-8CD3-E01C-146D-9B94F70184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1" y="1690689"/>
            <a:ext cx="10981691" cy="4442516"/>
          </a:xfrm>
        </p:spPr>
        <p:txBody>
          <a:bodyPr/>
          <a:lstStyle/>
          <a:p>
            <a:r>
              <a:rPr lang="en-DK" dirty="0"/>
              <a:t>YAML manifests are the documents describing our desired state.</a:t>
            </a:r>
          </a:p>
          <a:p>
            <a:endParaRPr lang="en-DK" dirty="0"/>
          </a:p>
          <a:p>
            <a:r>
              <a:rPr lang="en-DK" dirty="0"/>
              <a:t>Let’s look at a Manifest (YAML) for one of our objects.</a:t>
            </a:r>
          </a:p>
          <a:p>
            <a:endParaRPr lang="en-DK" dirty="0"/>
          </a:p>
          <a:p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# From imperative to declarative</a:t>
            </a:r>
          </a:p>
          <a:p>
            <a:r>
              <a:rPr lang="en-GB" sz="22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DK" sz="22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ubectl create</a:t>
            </a:r>
            <a:r>
              <a:rPr lang="en-DK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DK" sz="22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deployment</a:t>
            </a:r>
            <a:r>
              <a:rPr lang="en-DK" sz="2200" dirty="0">
                <a:latin typeface="Consolas" panose="020B0609020204030204" pitchFamily="49" charset="0"/>
                <a:cs typeface="Consolas" panose="020B0609020204030204" pitchFamily="49" charset="0"/>
              </a:rPr>
              <a:t> … </a:t>
            </a:r>
            <a:r>
              <a:rPr lang="en-DK" sz="2200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</a:t>
            </a:r>
            <a:r>
              <a:rPr lang="en-DK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DK" sz="22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 get deploy –o yaml &gt; deploy.yml</a:t>
            </a:r>
          </a:p>
          <a:p>
            <a:endParaRPr lang="en-DK" dirty="0">
              <a:latin typeface="Consolas" panose="020B0609020204030204" pitchFamily="49" charset="0"/>
              <a:cs typeface="Consolas" panose="020B0609020204030204" pitchFamily="49" charset="0"/>
              <a:sym typeface="Wingdings" pitchFamily="2" charset="2"/>
            </a:endParaRPr>
          </a:p>
          <a:p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# From gone to re-applied</a:t>
            </a:r>
            <a:br>
              <a:rPr lang="en-DK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</a:br>
            <a:r>
              <a:rPr lang="en-DK" sz="22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kubectl delete deployment</a:t>
            </a:r>
            <a:r>
              <a:rPr lang="en-DK" sz="2200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…  </a:t>
            </a:r>
            <a:r>
              <a:rPr lang="en-DK" sz="22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kubectl apply deploy.yml</a:t>
            </a:r>
            <a:endParaRPr lang="en-DK" sz="2200" dirty="0">
              <a:solidFill>
                <a:srgbClr val="005DE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DK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12950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35425-810D-1386-0EBD-F83E09B41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D960-614A-C839-088C-B2801986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Namespaces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B43B7-46E7-9476-0BC8-9193AD7F08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Logisk opdeling af ressourcer (aka. </a:t>
            </a:r>
            <a:r>
              <a:rPr lang="en-GB" dirty="0"/>
              <a:t>L</a:t>
            </a:r>
            <a:r>
              <a:rPr lang="en-DK" dirty="0"/>
              <a:t>abeled fence).</a:t>
            </a:r>
            <a:br>
              <a:rPr lang="en-DK" dirty="0"/>
            </a:br>
            <a:endParaRPr lang="en-DK" dirty="0"/>
          </a:p>
          <a:p>
            <a:pPr marL="0" indent="0">
              <a:buNone/>
            </a:pPr>
            <a:r>
              <a:rPr lang="en-DK" dirty="0"/>
              <a:t>Optionally:</a:t>
            </a:r>
          </a:p>
          <a:p>
            <a:r>
              <a:rPr lang="en-DK" dirty="0"/>
              <a:t>Group-wide resource limits.</a:t>
            </a:r>
          </a:p>
          <a:p>
            <a:r>
              <a:rPr lang="en-DK" dirty="0"/>
              <a:t>Role-based access policy.</a:t>
            </a:r>
          </a:p>
          <a:p>
            <a:r>
              <a:rPr lang="en-DK" dirty="0"/>
              <a:t>Network separation.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7BBD9A-4C82-4A3D-87B8-41CF9F256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81" t="15919" r="13783" b="22800"/>
          <a:stretch>
            <a:fillRect/>
          </a:stretch>
        </p:blipFill>
        <p:spPr>
          <a:xfrm>
            <a:off x="4937466" y="2296709"/>
            <a:ext cx="6895981" cy="38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75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BE94B-EAF7-E3C6-4C06-B6A093F34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</a:t>
            </a:r>
            <a:r>
              <a:rPr lang="en-GB" dirty="0"/>
              <a:t>h</a:t>
            </a:r>
            <a:r>
              <a:rPr lang="en-DK" dirty="0"/>
              <a:t>at is a Pod?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C3B05-A533-6D64-223F-ACFEF714C8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0837312" cy="4442517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“Pods are the </a:t>
            </a:r>
            <a:r>
              <a:rPr lang="en-GB" b="1" dirty="0"/>
              <a:t>smallest deployable unit </a:t>
            </a:r>
            <a:r>
              <a:rPr lang="en-GB" dirty="0"/>
              <a:t>you can create and manage in Kubernetes.”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En Pod er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eller</a:t>
            </a:r>
            <a:r>
              <a:rPr lang="en-GB" dirty="0"/>
              <a:t> </a:t>
            </a:r>
            <a:r>
              <a:rPr lang="en-GB" dirty="0" err="1"/>
              <a:t>flere</a:t>
            </a:r>
            <a:r>
              <a:rPr lang="en-GB" dirty="0"/>
              <a:t> </a:t>
            </a:r>
            <a:r>
              <a:rPr lang="en-GB" dirty="0" err="1"/>
              <a:t>containere</a:t>
            </a:r>
            <a:r>
              <a:rPr lang="en-GB" dirty="0"/>
              <a:t> der </a:t>
            </a:r>
            <a:r>
              <a:rPr lang="en-GB" dirty="0" err="1"/>
              <a:t>kører</a:t>
            </a:r>
            <a:r>
              <a:rPr lang="en-GB" dirty="0"/>
              <a:t> </a:t>
            </a:r>
            <a:r>
              <a:rPr lang="en-GB" dirty="0" err="1"/>
              <a:t>som</a:t>
            </a:r>
            <a:r>
              <a:rPr lang="en-GB" dirty="0"/>
              <a:t> </a:t>
            </a:r>
            <a:r>
              <a:rPr lang="en-GB" dirty="0" err="1"/>
              <a:t>én</a:t>
            </a:r>
            <a:r>
              <a:rPr lang="en-GB" dirty="0"/>
              <a:t> </a:t>
            </a:r>
            <a:r>
              <a:rPr lang="en-GB" dirty="0" err="1"/>
              <a:t>enhed</a:t>
            </a:r>
            <a:r>
              <a:rPr lang="en-GB" dirty="0"/>
              <a:t>. De </a:t>
            </a:r>
            <a:r>
              <a:rPr lang="en-GB" dirty="0" err="1"/>
              <a:t>kører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samme</a:t>
            </a:r>
            <a:r>
              <a:rPr lang="en-GB" dirty="0"/>
              <a:t> “</a:t>
            </a:r>
            <a:r>
              <a:rPr lang="en-GB" dirty="0" err="1"/>
              <a:t>kravlegård</a:t>
            </a:r>
            <a:r>
              <a:rPr lang="en-GB" dirty="0"/>
              <a:t>” </a:t>
            </a:r>
            <a:r>
              <a:rPr lang="en-GB" dirty="0" err="1"/>
              <a:t>ift</a:t>
            </a:r>
            <a:r>
              <a:rPr lang="en-GB" dirty="0"/>
              <a:t>. </a:t>
            </a:r>
            <a:r>
              <a:rPr lang="en-GB" dirty="0" err="1"/>
              <a:t>ressourcer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deler</a:t>
            </a:r>
            <a:r>
              <a:rPr lang="en-GB" dirty="0"/>
              <a:t> </a:t>
            </a:r>
            <a:r>
              <a:rPr lang="en-GB" dirty="0" err="1"/>
              <a:t>én</a:t>
            </a:r>
            <a:r>
              <a:rPr lang="en-GB" dirty="0"/>
              <a:t> intern IP </a:t>
            </a:r>
            <a:r>
              <a:rPr lang="en-GB" dirty="0" err="1"/>
              <a:t>adresse</a:t>
            </a:r>
            <a:r>
              <a:rPr lang="en-GB" dirty="0"/>
              <a:t>.</a:t>
            </a:r>
          </a:p>
          <a:p>
            <a:pPr algn="l"/>
            <a:endParaRPr lang="en-GB" dirty="0"/>
          </a:p>
          <a:p>
            <a:pPr algn="l"/>
            <a:r>
              <a:rPr lang="en-GB" dirty="0" err="1"/>
              <a:t>Hver</a:t>
            </a:r>
            <a:r>
              <a:rPr lang="en-GB" dirty="0"/>
              <a:t> container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Pod </a:t>
            </a:r>
            <a:r>
              <a:rPr lang="en-GB" dirty="0" err="1"/>
              <a:t>har</a:t>
            </a:r>
            <a:r>
              <a:rPr lang="en-GB" dirty="0"/>
              <a:t> </a:t>
            </a:r>
            <a:r>
              <a:rPr lang="en-GB" dirty="0" err="1"/>
              <a:t>hvert</a:t>
            </a:r>
            <a:r>
              <a:rPr lang="en-GB" dirty="0"/>
              <a:t> </a:t>
            </a:r>
            <a:r>
              <a:rPr lang="en-GB" dirty="0" err="1"/>
              <a:t>deres</a:t>
            </a:r>
            <a:r>
              <a:rPr lang="en-GB" dirty="0"/>
              <a:t> </a:t>
            </a:r>
            <a:r>
              <a:rPr lang="en-GB" dirty="0" err="1"/>
              <a:t>filsystem</a:t>
            </a:r>
            <a:r>
              <a:rPr lang="en-GB" dirty="0"/>
              <a:t>, men </a:t>
            </a:r>
            <a:r>
              <a:rPr lang="en-GB" dirty="0" err="1"/>
              <a:t>kan</a:t>
            </a:r>
            <a:r>
              <a:rPr lang="en-GB" dirty="0"/>
              <a:t> dele </a:t>
            </a:r>
            <a:r>
              <a:rPr lang="en-GB" dirty="0" err="1"/>
              <a:t>enkelte</a:t>
            </a:r>
            <a:r>
              <a:rPr lang="en-GB" dirty="0"/>
              <a:t> mounts.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En Pod </a:t>
            </a:r>
            <a:r>
              <a:rPr lang="en-GB" dirty="0" err="1"/>
              <a:t>har</a:t>
            </a:r>
            <a:r>
              <a:rPr lang="en-GB" dirty="0"/>
              <a:t> </a:t>
            </a:r>
            <a:r>
              <a:rPr lang="en-GB" dirty="0" err="1"/>
              <a:t>altid</a:t>
            </a:r>
            <a:r>
              <a:rPr lang="en-GB" dirty="0"/>
              <a:t> </a:t>
            </a:r>
            <a:r>
              <a:rPr lang="en-GB" dirty="0" err="1"/>
              <a:t>én</a:t>
            </a:r>
            <a:r>
              <a:rPr lang="en-GB" dirty="0"/>
              <a:t> </a:t>
            </a:r>
            <a:r>
              <a:rPr lang="en-GB" dirty="0" err="1"/>
              <a:t>eller</a:t>
            </a:r>
            <a:r>
              <a:rPr lang="en-GB" dirty="0"/>
              <a:t> </a:t>
            </a:r>
            <a:r>
              <a:rPr lang="en-GB" dirty="0" err="1"/>
              <a:t>flere</a:t>
            </a:r>
            <a:r>
              <a:rPr lang="en-GB" dirty="0"/>
              <a:t> </a:t>
            </a:r>
            <a:r>
              <a:rPr lang="en-GB" dirty="0" err="1"/>
              <a:t>normale</a:t>
            </a:r>
            <a:r>
              <a:rPr lang="en-GB" dirty="0"/>
              <a:t> </a:t>
            </a:r>
            <a:r>
              <a:rPr lang="en-GB" dirty="0" err="1"/>
              <a:t>containere</a:t>
            </a:r>
            <a:r>
              <a:rPr lang="en-GB" dirty="0"/>
              <a:t> – </a:t>
            </a:r>
            <a:r>
              <a:rPr lang="en-GB" dirty="0" err="1"/>
              <a:t>Oftest</a:t>
            </a:r>
            <a:r>
              <a:rPr lang="en-GB" dirty="0"/>
              <a:t> bare 1.</a:t>
            </a:r>
          </a:p>
          <a:p>
            <a:pPr lvl="1"/>
            <a:r>
              <a:rPr lang="en-GB" dirty="0"/>
              <a:t>Kan </a:t>
            </a:r>
            <a:r>
              <a:rPr lang="en-GB" dirty="0" err="1"/>
              <a:t>også</a:t>
            </a:r>
            <a:r>
              <a:rPr lang="en-GB" dirty="0"/>
              <a:t> have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eller</a:t>
            </a:r>
            <a:r>
              <a:rPr lang="en-GB" dirty="0"/>
              <a:t> </a:t>
            </a:r>
            <a:r>
              <a:rPr lang="en-GB" dirty="0" err="1"/>
              <a:t>flere</a:t>
            </a:r>
            <a:r>
              <a:rPr lang="en-GB" dirty="0"/>
              <a:t> </a:t>
            </a:r>
            <a:r>
              <a:rPr lang="en-GB" b="1" dirty="0" err="1"/>
              <a:t>init</a:t>
            </a:r>
            <a:r>
              <a:rPr lang="en-GB" b="1" dirty="0"/>
              <a:t> containers</a:t>
            </a:r>
            <a:r>
              <a:rPr lang="en-GB" dirty="0"/>
              <a:t>, </a:t>
            </a:r>
            <a:r>
              <a:rPr lang="en-GB" dirty="0" err="1"/>
              <a:t>en</a:t>
            </a:r>
            <a:r>
              <a:rPr lang="en-GB" dirty="0"/>
              <a:t> container der </a:t>
            </a:r>
            <a:r>
              <a:rPr lang="en-GB" dirty="0" err="1"/>
              <a:t>skal</a:t>
            </a:r>
            <a:r>
              <a:rPr lang="en-GB" dirty="0"/>
              <a:t> </a:t>
            </a:r>
            <a:r>
              <a:rPr lang="en-GB" dirty="0" err="1"/>
              <a:t>køre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exit </a:t>
            </a:r>
            <a:r>
              <a:rPr lang="en-GB" dirty="0" err="1"/>
              <a:t>uden</a:t>
            </a:r>
            <a:r>
              <a:rPr lang="en-GB" dirty="0"/>
              <a:t> </a:t>
            </a:r>
            <a:r>
              <a:rPr lang="en-GB" dirty="0" err="1"/>
              <a:t>fejl</a:t>
            </a:r>
            <a:r>
              <a:rPr lang="en-GB" dirty="0"/>
              <a:t> </a:t>
            </a:r>
            <a:r>
              <a:rPr lang="en-GB" dirty="0" err="1"/>
              <a:t>før</a:t>
            </a:r>
            <a:r>
              <a:rPr lang="en-GB" dirty="0"/>
              <a:t> de </a:t>
            </a:r>
            <a:r>
              <a:rPr lang="en-GB" dirty="0" err="1"/>
              <a:t>normale</a:t>
            </a:r>
            <a:r>
              <a:rPr lang="en-GB" dirty="0"/>
              <a:t> starter.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477324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8880C9-FF6F-6E89-5436-7E96866C1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" t="15766" r="2858" b="3870"/>
          <a:stretch>
            <a:fillRect/>
          </a:stretch>
        </p:blipFill>
        <p:spPr>
          <a:xfrm>
            <a:off x="1172816" y="635228"/>
            <a:ext cx="9846367" cy="558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56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02531-CA05-6F17-A308-64E2058C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Pod manifest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A6733-AF53-51A2-2C1C-AE19630417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7044449" cy="4442517"/>
          </a:xfrm>
        </p:spPr>
        <p:txBody>
          <a:bodyPr/>
          <a:lstStyle/>
          <a:p>
            <a:r>
              <a:rPr lang="en-DK" dirty="0"/>
              <a:t>Manifests describe a desired “state” of the cluster.</a:t>
            </a:r>
            <a:br>
              <a:rPr lang="en-DK" dirty="0"/>
            </a:br>
            <a:endParaRPr lang="en-DK" dirty="0"/>
          </a:p>
          <a:p>
            <a:r>
              <a:rPr lang="en-DK" dirty="0"/>
              <a:t>This manifest says:</a:t>
            </a:r>
          </a:p>
          <a:p>
            <a:pPr lvl="1"/>
            <a:r>
              <a:rPr lang="en-DK" dirty="0"/>
              <a:t>A Pod should exist</a:t>
            </a:r>
          </a:p>
          <a:p>
            <a:pPr lvl="1"/>
            <a:r>
              <a:rPr lang="en-DK" dirty="0"/>
              <a:t>It should be named “nginx”</a:t>
            </a:r>
          </a:p>
          <a:p>
            <a:pPr lvl="1"/>
            <a:r>
              <a:rPr lang="en-DK" dirty="0"/>
              <a:t>It should have a container also named “nginx”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This container should use the Docker image “nginx:1.14.2”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Like Docker, default repository is </a:t>
            </a:r>
            <a:r>
              <a:rPr lang="en-GB" dirty="0">
                <a:hlinkClick r:id="rId2"/>
              </a:rPr>
              <a:t>hub.docker.com</a:t>
            </a:r>
            <a:endParaRPr lang="en-DK" dirty="0"/>
          </a:p>
          <a:p>
            <a:pPr lvl="1"/>
            <a:endParaRPr lang="en-DK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F92C31-FFD6-86AE-47FA-A0082A67B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909" y="1690688"/>
            <a:ext cx="3304892" cy="276153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64465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2F636-7244-0E71-F685-E7289B0D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What is a Deployment?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66593-0B01-7CD6-E5C3-AF8C5AD67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 Deployment provides declarative updates for </a:t>
            </a:r>
            <a:r>
              <a:rPr lang="en-GB" dirty="0">
                <a:hlinkClick r:id="rId2"/>
              </a:rPr>
              <a:t>Pods</a:t>
            </a:r>
            <a:r>
              <a:rPr lang="en-GB" dirty="0"/>
              <a:t> and </a:t>
            </a:r>
            <a:r>
              <a:rPr lang="en-GB" dirty="0">
                <a:hlinkClick r:id="rId3"/>
              </a:rPr>
              <a:t>ReplicaSets</a:t>
            </a:r>
            <a:r>
              <a:rPr lang="en-GB" dirty="0"/>
              <a:t>.</a:t>
            </a:r>
          </a:p>
          <a:p>
            <a:endParaRPr lang="en-GB" dirty="0"/>
          </a:p>
          <a:p>
            <a:pPr algn="l"/>
            <a:r>
              <a:rPr lang="en-GB" dirty="0"/>
              <a:t>A </a:t>
            </a:r>
            <a:r>
              <a:rPr lang="en-GB" b="1" dirty="0" err="1"/>
              <a:t>ReplicaSet</a:t>
            </a:r>
            <a:r>
              <a:rPr lang="en-GB" dirty="0"/>
              <a:t> must maintain a stable set of replicas of the same Pod.</a:t>
            </a:r>
          </a:p>
          <a:p>
            <a:pPr lvl="1"/>
            <a:r>
              <a:rPr lang="en-GB" dirty="0"/>
              <a:t>Replicas must be running at any given time (self-correcting).</a:t>
            </a:r>
          </a:p>
          <a:p>
            <a:pPr lvl="1"/>
            <a:r>
              <a:rPr lang="en-GB" dirty="0"/>
              <a:t>Used to guarantee availability of a specified number of identical Pods.</a:t>
            </a:r>
            <a:br>
              <a:rPr lang="en-GB" dirty="0"/>
            </a:b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786168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961F-E50D-9EE5-81B5-48ECBEAAC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Deployment manifest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6D830-E3C6-072D-D779-CF3A8DF96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7429500" cy="4442517"/>
          </a:xfrm>
        </p:spPr>
        <p:txBody>
          <a:bodyPr/>
          <a:lstStyle/>
          <a:p>
            <a:r>
              <a:rPr lang="en-DK" dirty="0"/>
              <a:t>This manifest says:</a:t>
            </a:r>
          </a:p>
          <a:p>
            <a:pPr lvl="1"/>
            <a:r>
              <a:rPr lang="en-DK" dirty="0"/>
              <a:t>There should exist a </a:t>
            </a:r>
            <a:r>
              <a:rPr lang="en-DK" b="1" dirty="0"/>
              <a:t>Deployment</a:t>
            </a:r>
            <a:r>
              <a:rPr lang="en-DK" dirty="0"/>
              <a:t> named “nginx-deployment”</a:t>
            </a:r>
          </a:p>
          <a:p>
            <a:pPr lvl="1"/>
            <a:r>
              <a:rPr lang="en-GB" dirty="0"/>
              <a:t>I</a:t>
            </a:r>
            <a:r>
              <a:rPr lang="en-DK" dirty="0"/>
              <a:t>t should contain 3 identical </a:t>
            </a:r>
            <a:r>
              <a:rPr lang="en-DK" b="1" dirty="0"/>
              <a:t>Pods</a:t>
            </a:r>
          </a:p>
          <a:p>
            <a:pPr lvl="2"/>
            <a:r>
              <a:rPr lang="en-DK" dirty="0"/>
              <a:t>with label </a:t>
            </a:r>
            <a:r>
              <a:rPr lang="en-DK" b="1" dirty="0"/>
              <a:t>app=nginx</a:t>
            </a:r>
            <a:endParaRPr lang="en-DK" dirty="0"/>
          </a:p>
          <a:p>
            <a:pPr lvl="1"/>
            <a:r>
              <a:rPr lang="en-DK" dirty="0"/>
              <a:t>All 3 Pods should be created from the given template</a:t>
            </a:r>
          </a:p>
          <a:p>
            <a:pPr lvl="2"/>
            <a:r>
              <a:rPr lang="en-DK" dirty="0"/>
              <a:t>Template says each Pod has 1 container using </a:t>
            </a:r>
            <a:r>
              <a:rPr lang="en-DK" b="1" dirty="0"/>
              <a:t>nginx:1.14.2 </a:t>
            </a:r>
            <a:r>
              <a:rPr lang="en-DK" dirty="0"/>
              <a:t>image</a:t>
            </a:r>
          </a:p>
          <a:p>
            <a:pPr lvl="2"/>
            <a:r>
              <a:rPr lang="en-DK" dirty="0"/>
              <a:t>It identifies its “owned” pods from a selector</a:t>
            </a:r>
          </a:p>
          <a:p>
            <a:pPr lvl="1"/>
            <a:endParaRPr lang="en-DK" dirty="0"/>
          </a:p>
          <a:p>
            <a:endParaRPr lang="en-DK" dirty="0"/>
          </a:p>
          <a:p>
            <a:endParaRPr lang="en-DK" dirty="0"/>
          </a:p>
          <a:p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D9DD8-701E-5206-6D0F-68E424229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5" t="17855" r="1628"/>
          <a:stretch>
            <a:fillRect/>
          </a:stretch>
        </p:blipFill>
        <p:spPr>
          <a:xfrm>
            <a:off x="8420066" y="836044"/>
            <a:ext cx="3086100" cy="51859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33897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F09A0-5356-C8A0-9E54-858EC42F7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14116DA8-0C0C-6DD5-9601-C911D2345A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5033" y="2703050"/>
            <a:ext cx="1391202" cy="946150"/>
          </a:xfrm>
        </p:spPr>
        <p:txBody>
          <a:bodyPr/>
          <a:lstStyle/>
          <a:p>
            <a:r>
              <a:rPr lang="da-DK" dirty="0"/>
              <a:t>3.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8921C93-43F1-9C31-D61E-07D43B44A8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96235" y="2703049"/>
            <a:ext cx="5578284" cy="2884543"/>
          </a:xfrm>
        </p:spPr>
        <p:txBody>
          <a:bodyPr/>
          <a:lstStyle/>
          <a:p>
            <a:r>
              <a:rPr lang="da-DK" b="1" dirty="0" err="1"/>
              <a:t>Exercise</a:t>
            </a:r>
            <a:r>
              <a:rPr lang="da-DK" dirty="0"/>
              <a:t>:</a:t>
            </a:r>
            <a:br>
              <a:rPr lang="da-DK" dirty="0"/>
            </a:br>
            <a:r>
              <a:rPr lang="da-DK" dirty="0"/>
              <a:t>Deployments &amp; </a:t>
            </a:r>
            <a:r>
              <a:rPr lang="da-DK" dirty="0" err="1"/>
              <a:t>Pods</a:t>
            </a:r>
            <a:endParaRPr lang="da-DK" sz="2400" dirty="0"/>
          </a:p>
        </p:txBody>
      </p:sp>
    </p:spTree>
    <p:extLst>
      <p:ext uri="{BB962C8B-B14F-4D97-AF65-F5344CB8AC3E}">
        <p14:creationId xmlns:p14="http://schemas.microsoft.com/office/powerpoint/2010/main" val="886160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C70DD-688B-711D-5120-8EF8FEA2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Setup a local Kubernetes cluster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2ED35-65E3-ADE1-8425-62C77CB78A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DK" dirty="0"/>
              <a:t>Windows:</a:t>
            </a:r>
          </a:p>
          <a:p>
            <a:pPr lvl="1"/>
            <a:r>
              <a:rPr lang="en-DK" b="1" dirty="0"/>
              <a:t>Rancher Desktop</a:t>
            </a:r>
          </a:p>
          <a:p>
            <a:pPr lvl="1"/>
            <a:r>
              <a:rPr lang="en-GB" dirty="0"/>
              <a:t>k</a:t>
            </a:r>
            <a:r>
              <a:rPr lang="en-DK" dirty="0"/>
              <a:t>ind (choco install)</a:t>
            </a:r>
            <a:br>
              <a:rPr lang="en-DK" dirty="0"/>
            </a:br>
            <a:endParaRPr lang="en-DK" dirty="0"/>
          </a:p>
          <a:p>
            <a:r>
              <a:rPr lang="en-GB" dirty="0"/>
              <a:t>Linux / Mac</a:t>
            </a:r>
          </a:p>
          <a:p>
            <a:pPr lvl="1"/>
            <a:r>
              <a:rPr lang="en-DK" b="1" dirty="0"/>
              <a:t>Rancher Desktop</a:t>
            </a:r>
          </a:p>
          <a:p>
            <a:pPr lvl="1"/>
            <a:r>
              <a:rPr lang="en-DK" dirty="0"/>
              <a:t>kind</a:t>
            </a:r>
            <a:endParaRPr lang="en-GB" dirty="0"/>
          </a:p>
          <a:p>
            <a:pPr lvl="1"/>
            <a:r>
              <a:rPr lang="en-GB" dirty="0"/>
              <a:t>k</a:t>
            </a:r>
            <a:r>
              <a:rPr lang="en-DK" dirty="0"/>
              <a:t>3d</a:t>
            </a:r>
          </a:p>
          <a:p>
            <a:pPr lvl="1"/>
            <a:endParaRPr lang="en-DK" dirty="0"/>
          </a:p>
          <a:p>
            <a:r>
              <a:rPr lang="en-DK" dirty="0"/>
              <a:t>Have the docs at hand!</a:t>
            </a:r>
          </a:p>
          <a:p>
            <a:pPr lvl="1"/>
            <a:r>
              <a:rPr lang="en-GB" dirty="0">
                <a:hlinkClick r:id="rId3"/>
              </a:rPr>
              <a:t>https://kubernetes.io/docs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ChatGPT or similar LLM knows lots about Kubernetes!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354348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92848-06E7-EDA7-70E7-E8385E2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Workshop Repo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7ED57-886A-B59D-5F7A-D3216F9A56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DK" dirty="0"/>
              <a:t>Sørg for at Kubernetes kører lokalt</a:t>
            </a:r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Tjek at </a:t>
            </a: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 get nodes</a:t>
            </a:r>
            <a:r>
              <a:rPr lang="en-DK" dirty="0"/>
              <a:t> virker og viser din egen maskine som node.</a:t>
            </a:r>
          </a:p>
          <a:p>
            <a:pPr marL="457200" indent="-457200">
              <a:buFont typeface="+mj-lt"/>
              <a:buAutoNum type="arabicPeriod"/>
            </a:pPr>
            <a:endParaRPr lang="en-DK" dirty="0"/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Hent repo ned </a:t>
            </a:r>
            <a:r>
              <a:rPr lang="en-DK" dirty="0">
                <a:hlinkClick r:id="rId3"/>
              </a:rPr>
              <a:t>https://github.com/notalib/workshop-kubernetes</a:t>
            </a:r>
            <a:r>
              <a:rPr lang="en-DK" dirty="0"/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DK" dirty="0"/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Følg instruktioner i </a:t>
            </a:r>
            <a:r>
              <a:rPr lang="en-GB" b="1" dirty="0"/>
              <a:t>setup/</a:t>
            </a:r>
            <a:r>
              <a:rPr lang="en-GB" b="1" dirty="0" err="1"/>
              <a:t>README.md</a:t>
            </a:r>
            <a:endParaRPr lang="en-GB" b="1" dirty="0"/>
          </a:p>
          <a:p>
            <a:pPr marL="914400" lvl="1" indent="-457200">
              <a:buFont typeface="+mj-lt"/>
              <a:buAutoNum type="alphaLcParenR"/>
            </a:pPr>
            <a:r>
              <a:rPr lang="en-GB" dirty="0" err="1"/>
              <a:t>Kørende</a:t>
            </a:r>
            <a:r>
              <a:rPr lang="en-GB" dirty="0"/>
              <a:t> </a:t>
            </a:r>
            <a:r>
              <a:rPr lang="en-GB" dirty="0" err="1"/>
              <a:t>lokal</a:t>
            </a:r>
            <a:r>
              <a:rPr lang="en-GB" dirty="0"/>
              <a:t> cluster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dirty="0" err="1"/>
              <a:t>Oprettet</a:t>
            </a:r>
            <a:r>
              <a:rPr lang="en-GB" dirty="0"/>
              <a:t> workshop namespace</a:t>
            </a:r>
            <a:br>
              <a:rPr lang="en-DK" dirty="0"/>
            </a:br>
            <a:endParaRPr lang="en-DK" dirty="0"/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Følg instruktioner i </a:t>
            </a:r>
            <a:r>
              <a:rPr lang="en-DK" b="1" dirty="0"/>
              <a:t>1-deployments-pods/README.md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DK" dirty="0"/>
              <a:t>Først kører vi tingene via kommandoer (</a:t>
            </a:r>
            <a:r>
              <a:rPr lang="en-DK" u="sng" dirty="0"/>
              <a:t>imperative</a:t>
            </a:r>
            <a:r>
              <a:rPr lang="en-DK" dirty="0"/>
              <a:t>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DK" dirty="0"/>
              <a:t>Så skriver vi det samme som manifester (</a:t>
            </a:r>
            <a:r>
              <a:rPr lang="en-DK" u="sng" dirty="0"/>
              <a:t>declarative</a:t>
            </a:r>
            <a:r>
              <a:rPr lang="en-DK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065150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5B93F-12BD-9BD2-F908-EF3E43E1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Exercise 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07E87-95A9-C552-BEF9-02958CA8D5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Hvad lærte vi?</a:t>
            </a:r>
          </a:p>
          <a:p>
            <a:r>
              <a:rPr lang="en-DK" dirty="0"/>
              <a:t>Hvad havde vi svært ved?</a:t>
            </a:r>
          </a:p>
          <a:p>
            <a:r>
              <a:rPr lang="en-DK" dirty="0"/>
              <a:t>Se på løsning</a:t>
            </a:r>
          </a:p>
        </p:txBody>
      </p:sp>
    </p:spTree>
    <p:extLst>
      <p:ext uri="{BB962C8B-B14F-4D97-AF65-F5344CB8AC3E}">
        <p14:creationId xmlns:p14="http://schemas.microsoft.com/office/powerpoint/2010/main" val="4159634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472AF-C387-00FE-4978-1A82B3D26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1A01B9D8-1C24-512A-0FB1-882C120FD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5033" y="2703050"/>
            <a:ext cx="1391202" cy="946150"/>
          </a:xfrm>
        </p:spPr>
        <p:txBody>
          <a:bodyPr/>
          <a:lstStyle/>
          <a:p>
            <a:r>
              <a:rPr lang="da-DK" dirty="0"/>
              <a:t>4.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F3DD706-C8D0-81A4-2EDB-CDDA9503B3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96235" y="2703049"/>
            <a:ext cx="5578284" cy="2884543"/>
          </a:xfrm>
        </p:spPr>
        <p:txBody>
          <a:bodyPr/>
          <a:lstStyle/>
          <a:p>
            <a:r>
              <a:rPr lang="da-DK" dirty="0"/>
              <a:t>Manifests &amp; </a:t>
            </a:r>
            <a:r>
              <a:rPr lang="da-DK" dirty="0" err="1"/>
              <a:t>Reconciliation</a:t>
            </a:r>
            <a:endParaRPr lang="da-DK" sz="2400" dirty="0"/>
          </a:p>
        </p:txBody>
      </p:sp>
    </p:spTree>
    <p:extLst>
      <p:ext uri="{BB962C8B-B14F-4D97-AF65-F5344CB8AC3E}">
        <p14:creationId xmlns:p14="http://schemas.microsoft.com/office/powerpoint/2010/main" val="3129454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D372B-E9A8-1FEA-2B7D-01E26215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Manifest vs. Controller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54678-5B87-7544-E190-91D011A047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DK" sz="2000" b="1" dirty="0"/>
              <a:t>Manifest</a:t>
            </a:r>
          </a:p>
          <a:p>
            <a:pPr lvl="1"/>
            <a:r>
              <a:rPr lang="en-DK" sz="1800" dirty="0"/>
              <a:t>Definition of desired state in YAML for a resource type.</a:t>
            </a:r>
          </a:p>
          <a:p>
            <a:pPr lvl="1"/>
            <a:r>
              <a:rPr lang="en-DK" sz="1800" dirty="0"/>
              <a:t>Fx. </a:t>
            </a:r>
            <a:r>
              <a:rPr lang="en-DK" sz="1800" dirty="0">
                <a:latin typeface="Consolas" panose="020B0609020204030204" pitchFamily="49" charset="0"/>
                <a:cs typeface="Consolas" panose="020B0609020204030204" pitchFamily="49" charset="0"/>
              </a:rPr>
              <a:t>MyDeployment.yaml, MyIngress.yaml</a:t>
            </a:r>
          </a:p>
          <a:p>
            <a:pPr lvl="1"/>
            <a:r>
              <a:rPr lang="en-DK" sz="1800" dirty="0">
                <a:latin typeface="Calibri" panose="020F0502020204030204" pitchFamily="34" charset="0"/>
                <a:cs typeface="Calibri" panose="020F0502020204030204" pitchFamily="34" charset="0"/>
              </a:rPr>
              <a:t>Multiple manifests per file possible </a:t>
            </a:r>
            <a:r>
              <a:rPr lang="en-DK" sz="18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</a:t>
            </a:r>
            <a:r>
              <a:rPr lang="en-DK" sz="1800" dirty="0">
                <a:latin typeface="Calibri" panose="020F0502020204030204" pitchFamily="34" charset="0"/>
                <a:cs typeface="Calibri" panose="020F0502020204030204" pitchFamily="34" charset="0"/>
              </a:rPr>
              <a:t>Split with a </a:t>
            </a:r>
            <a:r>
              <a:rPr lang="en-DK" sz="1800" dirty="0">
                <a:latin typeface="Consolas" panose="020B0609020204030204" pitchFamily="49" charset="0"/>
                <a:cs typeface="Consolas" panose="020B0609020204030204" pitchFamily="49" charset="0"/>
              </a:rPr>
              <a:t>---</a:t>
            </a:r>
            <a:r>
              <a:rPr lang="en-DK" sz="1800" dirty="0">
                <a:latin typeface="Calibri" panose="020F0502020204030204" pitchFamily="34" charset="0"/>
                <a:cs typeface="Calibri" panose="020F0502020204030204" pitchFamily="34" charset="0"/>
              </a:rPr>
              <a:t> line</a:t>
            </a:r>
          </a:p>
          <a:p>
            <a:endParaRPr lang="en-DK" sz="2000" dirty="0"/>
          </a:p>
          <a:p>
            <a:r>
              <a:rPr lang="en-DK" sz="2000" b="1" dirty="0"/>
              <a:t>Controller</a:t>
            </a:r>
          </a:p>
          <a:p>
            <a:pPr lvl="1"/>
            <a:r>
              <a:rPr lang="en-DK" sz="1800" dirty="0"/>
              <a:t>Code responsible for reaching desired state as defined by manifests.</a:t>
            </a:r>
          </a:p>
          <a:p>
            <a:pPr lvl="1"/>
            <a:r>
              <a:rPr lang="en-DK" sz="1800" dirty="0"/>
              <a:t>Usually responsible for 1 type of Manifest each.</a:t>
            </a:r>
          </a:p>
          <a:p>
            <a:pPr lvl="1"/>
            <a:r>
              <a:rPr lang="en-DK" sz="1800" dirty="0"/>
              <a:t>Fx. Pod Controller -&gt; Make sure Pods are running as described by Pod manifests.</a:t>
            </a:r>
          </a:p>
          <a:p>
            <a:pPr lvl="1"/>
            <a:r>
              <a:rPr lang="en-DK" sz="1800" dirty="0"/>
              <a:t>Ingress Controller -&gt; Make sure traffic reaches the desired Service as described by Ingress manifests.</a:t>
            </a:r>
          </a:p>
        </p:txBody>
      </p:sp>
    </p:spTree>
    <p:extLst>
      <p:ext uri="{BB962C8B-B14F-4D97-AF65-F5344CB8AC3E}">
        <p14:creationId xmlns:p14="http://schemas.microsoft.com/office/powerpoint/2010/main" val="3693021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E22C-2172-E6BC-D183-9E6D10EE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Core Kubernetes loop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43E19F-A911-D008-F4EB-E56195363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" t="20367" r="1470" b="8113"/>
          <a:stretch>
            <a:fillRect/>
          </a:stretch>
        </p:blipFill>
        <p:spPr>
          <a:xfrm>
            <a:off x="457831" y="1690688"/>
            <a:ext cx="11276337" cy="415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03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FD764C-689F-13B2-84CF-4B94142F43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DK" dirty="0"/>
              <a:t>5.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0EFDF-E06A-FD9A-BF38-7BA00FF259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k</a:t>
            </a:r>
            <a:r>
              <a:rPr lang="en-DK" dirty="0"/>
              <a:t>ubectl &amp; k9s</a:t>
            </a:r>
          </a:p>
        </p:txBody>
      </p:sp>
    </p:spTree>
    <p:extLst>
      <p:ext uri="{BB962C8B-B14F-4D97-AF65-F5344CB8AC3E}">
        <p14:creationId xmlns:p14="http://schemas.microsoft.com/office/powerpoint/2010/main" val="3074593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8103-AE53-6AC4-9A64-760FB493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Kubectl commands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BDE1B-1108-ACC8-8A12-2959F32CE8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1003912" cy="4442517"/>
          </a:xfrm>
        </p:spPr>
        <p:txBody>
          <a:bodyPr>
            <a:normAutofit fontScale="70000" lnSpcReduction="20000"/>
          </a:bodyPr>
          <a:lstStyle/>
          <a:p>
            <a:r>
              <a:rPr lang="en-DK" dirty="0"/>
              <a:t>Most Docker commands have an analogous kubectl command</a:t>
            </a:r>
          </a:p>
          <a:p>
            <a:pPr lvl="1"/>
            <a:r>
              <a:rPr lang="en-DK" b="1" dirty="0"/>
              <a:t>kubectl run|exec|cp|logs</a:t>
            </a:r>
            <a:r>
              <a:rPr lang="en-DK" dirty="0"/>
              <a:t> etc.</a:t>
            </a:r>
          </a:p>
          <a:p>
            <a:pPr lvl="1"/>
            <a:r>
              <a:rPr lang="en-GB" dirty="0"/>
              <a:t>TIP: source &lt;(</a:t>
            </a:r>
            <a:r>
              <a:rPr lang="en-GB" dirty="0" err="1"/>
              <a:t>kubectl</a:t>
            </a:r>
            <a:r>
              <a:rPr lang="en-GB" dirty="0"/>
              <a:t> completion bash)</a:t>
            </a:r>
            <a:br>
              <a:rPr lang="en-GB" dirty="0"/>
            </a:br>
            <a:endParaRPr lang="en-DK" dirty="0"/>
          </a:p>
          <a:p>
            <a:r>
              <a:rPr lang="en-DK" dirty="0"/>
              <a:t>Basic CRUD operations</a:t>
            </a:r>
            <a:br>
              <a:rPr lang="en-DK" dirty="0"/>
            </a:br>
            <a:br>
              <a:rPr lang="en-DK" dirty="0"/>
            </a:br>
            <a:r>
              <a:rPr lang="en-DK" sz="23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 create/get/edit/delete &lt;resource-type&gt;/&lt;name&gt;</a:t>
            </a:r>
            <a:br>
              <a:rPr lang="en-DK" sz="23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DK" dirty="0"/>
          </a:p>
          <a:p>
            <a:r>
              <a:rPr lang="en-DK" dirty="0"/>
              <a:t>What is in my Kubernetes?</a:t>
            </a:r>
            <a:br>
              <a:rPr lang="en-DK" dirty="0"/>
            </a:br>
            <a:br>
              <a:rPr lang="en-DK" dirty="0"/>
            </a:br>
            <a:r>
              <a:rPr lang="en-GB" sz="21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DK" sz="21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ubectl get all/deployment/configmap</a:t>
            </a:r>
            <a:endParaRPr lang="en-DK" dirty="0">
              <a:highlight>
                <a:srgbClr val="D6ECCB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DK" dirty="0"/>
          </a:p>
          <a:p>
            <a:r>
              <a:rPr lang="en-DK" dirty="0"/>
              <a:t>Run a Pod:  (ephemeral)</a:t>
            </a:r>
            <a:br>
              <a:rPr lang="en-DK" dirty="0"/>
            </a:br>
            <a:br>
              <a:rPr lang="en-DK" dirty="0"/>
            </a:br>
            <a:r>
              <a:rPr lang="en-DK" sz="21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 run test -it --image busybox</a:t>
            </a:r>
          </a:p>
          <a:p>
            <a:endParaRPr lang="en-DK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/>
              <a:t>Create a Deployment:</a:t>
            </a:r>
            <a:br>
              <a:rPr lang="en-GB" dirty="0"/>
            </a:br>
            <a:br>
              <a:rPr lang="en-GB" dirty="0"/>
            </a:br>
            <a:r>
              <a:rPr lang="en-GB" sz="21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1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create deployment test --image=nginx</a:t>
            </a:r>
            <a:r>
              <a:rPr lang="en-GB" sz="2100" dirty="0">
                <a:latin typeface="Consolas" panose="020B0609020204030204" pitchFamily="49" charset="0"/>
                <a:cs typeface="Consolas" panose="020B0609020204030204" pitchFamily="49" charset="0"/>
              </a:rPr>
              <a:t> (in your default namespace!)</a:t>
            </a:r>
          </a:p>
        </p:txBody>
      </p:sp>
    </p:spTree>
    <p:extLst>
      <p:ext uri="{BB962C8B-B14F-4D97-AF65-F5344CB8AC3E}">
        <p14:creationId xmlns:p14="http://schemas.microsoft.com/office/powerpoint/2010/main" val="7476833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AA81F-84A4-08F2-A0C6-A2A09FE75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K" dirty="0"/>
              <a:t>Kubectl commands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97AF1-2585-1F27-2998-645AD658CD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0515600" cy="494428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Get help &amp; examples for any commands: </a:t>
            </a:r>
            <a:r>
              <a:rPr lang="en-GB" sz="21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1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exec –help</a:t>
            </a:r>
          </a:p>
          <a:p>
            <a:endParaRPr lang="en-GB" sz="2100" dirty="0">
              <a:highlight>
                <a:srgbClr val="D6ECCB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/>
              <a:t>Have </a:t>
            </a:r>
            <a:r>
              <a:rPr lang="en-GB" dirty="0" err="1"/>
              <a:t>kubectl</a:t>
            </a:r>
            <a:r>
              <a:rPr lang="en-GB" dirty="0"/>
              <a:t> explain any </a:t>
            </a:r>
            <a:r>
              <a:rPr lang="en-GB" dirty="0" err="1"/>
              <a:t>yaml</a:t>
            </a:r>
            <a:r>
              <a:rPr lang="en-GB" dirty="0"/>
              <a:t> property: </a:t>
            </a:r>
            <a:r>
              <a:rPr lang="en-GB" sz="21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1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explain </a:t>
            </a:r>
            <a:r>
              <a:rPr lang="en-GB" sz="21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Deployment.spec</a:t>
            </a:r>
            <a:endParaRPr lang="en-GB" sz="2100" dirty="0">
              <a:highlight>
                <a:srgbClr val="D6ECCB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dirty="0"/>
          </a:p>
          <a:p>
            <a:r>
              <a:rPr lang="en-GB" dirty="0"/>
              <a:t>Describe a resource: </a:t>
            </a:r>
            <a:r>
              <a:rPr lang="en-GB" sz="21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1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describe &lt;type&gt;/&lt;name&gt;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Get resource: </a:t>
            </a:r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get &lt;type&gt;/&lt;name&gt; [-n &lt;namespace&gt; or -A]</a:t>
            </a:r>
          </a:p>
          <a:p>
            <a:pPr lvl="1"/>
            <a:endParaRPr lang="en-GB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Output format: </a:t>
            </a:r>
            <a:r>
              <a:rPr lang="en-GB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–o </a:t>
            </a:r>
            <a:r>
              <a:rPr lang="en-GB" sz="1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wide|json|yaml</a:t>
            </a:r>
            <a:b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GB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GB" dirty="0"/>
              <a:t>Some examples:</a:t>
            </a:r>
            <a:br>
              <a:rPr lang="en-GB" dirty="0"/>
            </a:br>
            <a:br>
              <a:rPr lang="en-GB" dirty="0"/>
            </a:br>
            <a:r>
              <a:rPr lang="en-GB" sz="17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17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get deployment/test –o wide</a:t>
            </a:r>
            <a:br>
              <a:rPr lang="en-GB" sz="17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GB" sz="17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7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17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get </a:t>
            </a:r>
            <a:r>
              <a:rPr lang="en-GB" sz="17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confimap</a:t>
            </a:r>
            <a:r>
              <a:rPr lang="en-GB" sz="17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/my-</a:t>
            </a:r>
            <a:r>
              <a:rPr lang="en-GB" sz="17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configmap</a:t>
            </a:r>
            <a:r>
              <a:rPr lang="en-GB" sz="17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–o </a:t>
            </a:r>
            <a:r>
              <a:rPr lang="en-GB" sz="17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yaml</a:t>
            </a:r>
            <a:r>
              <a:rPr lang="en-GB" sz="17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&gt; my-</a:t>
            </a:r>
            <a:r>
              <a:rPr lang="en-GB" sz="17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config.yaml</a:t>
            </a:r>
            <a:br>
              <a:rPr lang="en-GB" sz="17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GB" sz="17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7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17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get pod –A</a:t>
            </a:r>
            <a:br>
              <a:rPr lang="en-GB" sz="17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GB" sz="17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7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17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get events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5994846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BCB66-CC14-8A50-48B1-87AA15C8A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Kubectl commands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30D3-F4BB-5127-632C-1575E5F212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DK" dirty="0"/>
              <a:t>Edit any resource:</a:t>
            </a:r>
            <a:br>
              <a:rPr lang="en-DK" dirty="0"/>
            </a:br>
            <a:r>
              <a:rPr lang="en-DK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 edit deployment/test</a:t>
            </a:r>
          </a:p>
          <a:p>
            <a:endParaRPr lang="en-DK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GB" dirty="0"/>
              <a:t>Use KUBE_EDITOR, or EDITOR to specify editor app</a:t>
            </a:r>
          </a:p>
          <a:p>
            <a:pPr lvl="1"/>
            <a:r>
              <a:rPr lang="en-GB" dirty="0"/>
              <a:t>Use </a:t>
            </a:r>
            <a:r>
              <a:rPr lang="en-GB" dirty="0">
                <a:solidFill>
                  <a:schemeClr val="tx2"/>
                </a:solidFill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-o </a:t>
            </a:r>
            <a:r>
              <a:rPr lang="en-GB" dirty="0" err="1">
                <a:solidFill>
                  <a:schemeClr val="tx2"/>
                </a:solidFill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json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/>
              <a:t>to edit in JSON instead of YAML</a:t>
            </a:r>
            <a:endParaRPr lang="en-DK" dirty="0"/>
          </a:p>
          <a:p>
            <a:endParaRPr lang="en-GB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/>
              <a:t>Scale a deployment</a:t>
            </a:r>
            <a:br>
              <a:rPr lang="en-GB" dirty="0"/>
            </a:br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scale --replicas=3 deployment/test</a:t>
            </a:r>
          </a:p>
          <a:p>
            <a:endParaRPr lang="en-GB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Interact with your deployment!</a:t>
            </a:r>
            <a:br>
              <a:rPr lang="en-DK" sz="20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port-forward deployment/test 8888:80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local:pod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GB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Target can also be </a:t>
            </a:r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pod/my-pod 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or </a:t>
            </a:r>
            <a:r>
              <a:rPr lang="en-GB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service/my-service</a:t>
            </a:r>
          </a:p>
        </p:txBody>
      </p:sp>
    </p:spTree>
    <p:extLst>
      <p:ext uri="{BB962C8B-B14F-4D97-AF65-F5344CB8AC3E}">
        <p14:creationId xmlns:p14="http://schemas.microsoft.com/office/powerpoint/2010/main" val="3209095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3C87-D614-9F3D-7143-4494852E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Exec &amp; Logs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1F14A-4B6B-E144-DDCE-038128141A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Get logs for a pod or deployment</a:t>
            </a:r>
          </a:p>
          <a:p>
            <a:pPr lvl="1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Contents of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stdout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and stderr</a:t>
            </a:r>
          </a:p>
          <a:p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logs &lt;pod-name&gt; [-c &lt;container-name&gt;]</a:t>
            </a:r>
          </a:p>
          <a:p>
            <a:pPr lvl="1"/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Monitor: 		</a:t>
            </a:r>
            <a:r>
              <a:rPr lang="en-GB" sz="16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--follow / -f</a:t>
            </a:r>
          </a:p>
          <a:p>
            <a:pPr lvl="1"/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Before crash: 	</a:t>
            </a:r>
            <a:r>
              <a:rPr lang="en-GB" sz="16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--previous / -p</a:t>
            </a:r>
            <a:br>
              <a:rPr lang="en-GB" sz="16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GB" sz="1600" dirty="0">
              <a:highlight>
                <a:srgbClr val="D6ECCB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Execute into running container</a:t>
            </a:r>
          </a:p>
          <a:p>
            <a:pPr marL="457200" lvl="1" indent="0">
              <a:buNone/>
            </a:pPr>
            <a:r>
              <a:rPr lang="en-GB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exec &lt;pod-name&gt; -- date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 			(one-off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GB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exec -it deployment/demo -- /bin/</a:t>
            </a:r>
            <a:r>
              <a:rPr lang="en-GB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sh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	(interactive shell)</a:t>
            </a:r>
          </a:p>
          <a:p>
            <a:endParaRPr lang="en-DK" sz="2000" dirty="0">
              <a:highlight>
                <a:srgbClr val="D6ECCB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4581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1A755-B8C3-03C7-840D-D48887E40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Kubectl apply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F94B2-CEE5-D340-86C8-A289295A5B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1148220" cy="4442517"/>
          </a:xfrm>
        </p:spPr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Create k8s resources from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yaml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files (local or remote):</a:t>
            </a:r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apply -f ./my-</a:t>
            </a:r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deployment.yaml</a:t>
            </a:r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apply -f </a:t>
            </a: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https://k8s.io/examples/application/nginx-with-request.yaml</a:t>
            </a: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29238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1EDF0-C92F-15FE-7E11-17F397287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Kubernetes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595F3-C453-94E5-A3FC-61026941C4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 sz="2800" b="1" dirty="0"/>
              <a:t>Terminal CLI</a:t>
            </a:r>
          </a:p>
          <a:p>
            <a:pPr lvl="1"/>
            <a:r>
              <a:rPr lang="en-GB" sz="24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DK" sz="24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brew install derailed/k9s/k9s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b="1" dirty="0">
                <a:latin typeface="Calibri" panose="020F0502020204030204" pitchFamily="34" charset="0"/>
                <a:cs typeface="Calibri" panose="020F0502020204030204" pitchFamily="34" charset="0"/>
              </a:rPr>
              <a:t>Quick demo</a:t>
            </a:r>
          </a:p>
          <a:p>
            <a:pPr lvl="2"/>
            <a:endParaRPr lang="en-GB" sz="2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GB" sz="2400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endParaRPr lang="en-GB" sz="2400" dirty="0">
              <a:solidFill>
                <a:srgbClr val="005DE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GB" sz="2000" dirty="0"/>
              <a:t>Has its own plugin eco-system via </a:t>
            </a:r>
            <a:r>
              <a:rPr lang="en-GB" sz="2000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krew</a:t>
            </a:r>
            <a:endParaRPr lang="en-GB" sz="2000" dirty="0">
              <a:solidFill>
                <a:srgbClr val="005DE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GB" sz="2000" dirty="0"/>
              <a:t>Recommendations: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, ns, neat, radar, resource-capacity</a:t>
            </a:r>
            <a:br>
              <a:rPr lang="en-DK" sz="2000" dirty="0"/>
            </a:br>
            <a:endParaRPr lang="en-DK" sz="2000" dirty="0"/>
          </a:p>
          <a:p>
            <a:r>
              <a:rPr lang="en-DK" sz="2800" b="1" dirty="0"/>
              <a:t>GUI</a:t>
            </a:r>
          </a:p>
          <a:p>
            <a:pPr lvl="1"/>
            <a:r>
              <a:rPr lang="en-DK" sz="2400" dirty="0"/>
              <a:t>Rancher (Web UI + RBAC)</a:t>
            </a:r>
          </a:p>
          <a:p>
            <a:pPr lvl="1"/>
            <a:r>
              <a:rPr lang="en-DK" sz="2400" dirty="0"/>
              <a:t>Headlamp (Desktop)</a:t>
            </a:r>
          </a:p>
          <a:p>
            <a:pPr lvl="1"/>
            <a:r>
              <a:rPr lang="en-DK" sz="2400" dirty="0"/>
              <a:t>Kubernetes Dashboard (Web UI)</a:t>
            </a:r>
          </a:p>
        </p:txBody>
      </p:sp>
    </p:spTree>
    <p:extLst>
      <p:ext uri="{BB962C8B-B14F-4D97-AF65-F5344CB8AC3E}">
        <p14:creationId xmlns:p14="http://schemas.microsoft.com/office/powerpoint/2010/main" val="17389910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00CEB-FE32-80E7-B049-F85CE3CA9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DAA7F4-D874-A629-F9E3-8F3612AA5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DK" dirty="0"/>
              <a:t>6.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37067-253D-0A2E-C9D8-05C4EB208F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87750" y="2703049"/>
            <a:ext cx="6407702" cy="2884543"/>
          </a:xfrm>
        </p:spPr>
        <p:txBody>
          <a:bodyPr/>
          <a:lstStyle/>
          <a:p>
            <a:r>
              <a:rPr lang="da-DK" b="1" dirty="0"/>
              <a:t>Demo</a:t>
            </a:r>
            <a:br>
              <a:rPr lang="da-DK" dirty="0"/>
            </a:br>
            <a:r>
              <a:rPr lang="da-DK" dirty="0" err="1"/>
              <a:t>Kubernetes</a:t>
            </a:r>
            <a:r>
              <a:rPr lang="da-DK" dirty="0"/>
              <a:t> + Rancher UI</a:t>
            </a:r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F028E6-99B7-EF50-8106-55C8CA875AC8}"/>
              </a:ext>
            </a:extLst>
          </p:cNvPr>
          <p:cNvSpPr txBox="1"/>
          <p:nvPr/>
        </p:nvSpPr>
        <p:spPr>
          <a:xfrm>
            <a:off x="3653087" y="4866317"/>
            <a:ext cx="4610100" cy="783193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If you installed Rancher Desktop,</a:t>
            </a:r>
            <a:br>
              <a:rPr lang="en-GB" sz="2000" dirty="0"/>
            </a:br>
            <a:r>
              <a:rPr lang="en-GB" sz="2000" b="1" dirty="0"/>
              <a:t>you already have Rancher UI installed!</a:t>
            </a:r>
          </a:p>
        </p:txBody>
      </p:sp>
    </p:spTree>
    <p:extLst>
      <p:ext uri="{BB962C8B-B14F-4D97-AF65-F5344CB8AC3E}">
        <p14:creationId xmlns:p14="http://schemas.microsoft.com/office/powerpoint/2010/main" val="319060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DEF64-FCBF-84D6-F1DC-4D117EE6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BBC1F4-C00F-25FB-99CD-FEFDFCF917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DK" dirty="0"/>
              <a:t>7.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EBD23-F1AA-6860-8A3D-4D0EE5EB24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87750" y="2703049"/>
            <a:ext cx="6407702" cy="2884543"/>
          </a:xfrm>
        </p:spPr>
        <p:txBody>
          <a:bodyPr/>
          <a:lstStyle/>
          <a:p>
            <a:r>
              <a:rPr lang="da-DK" dirty="0"/>
              <a:t>Environment &amp;</a:t>
            </a:r>
          </a:p>
          <a:p>
            <a:r>
              <a:rPr lang="da-DK" dirty="0"/>
              <a:t>Volume </a:t>
            </a:r>
            <a:r>
              <a:rPr lang="da-DK" dirty="0" err="1"/>
              <a:t>mounts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4109876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C6F5A-8AE8-2619-7AA9-7081AC5B9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Containerisation – The 12 factor app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7C848-4B82-FC8A-1BD5-AA22581056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0515600" cy="502507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Guidelines for </a:t>
            </a:r>
            <a:r>
              <a:rPr lang="en-GB" dirty="0" err="1"/>
              <a:t>hvordan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applikation</a:t>
            </a:r>
            <a:r>
              <a:rPr lang="en-GB" dirty="0"/>
              <a:t> </a:t>
            </a:r>
            <a:r>
              <a:rPr lang="en-GB" dirty="0" err="1"/>
              <a:t>bør</a:t>
            </a:r>
            <a:r>
              <a:rPr lang="en-GB" dirty="0"/>
              <a:t> </a:t>
            </a:r>
            <a:r>
              <a:rPr lang="en-GB" dirty="0" err="1"/>
              <a:t>tilpasse</a:t>
            </a:r>
            <a:r>
              <a:rPr lang="en-GB" dirty="0"/>
              <a:t> sig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containerised </a:t>
            </a:r>
            <a:r>
              <a:rPr lang="en-GB" dirty="0" err="1"/>
              <a:t>verden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Aka. ”Cloud-native apps”</a:t>
            </a:r>
          </a:p>
          <a:p>
            <a:pPr lvl="1"/>
            <a:r>
              <a:rPr lang="en-GB" dirty="0"/>
              <a:t>Goal: Be portable and scalable!</a:t>
            </a:r>
            <a:br>
              <a:rPr lang="en-GB" dirty="0"/>
            </a:br>
            <a:endParaRPr lang="en-GB" dirty="0"/>
          </a:p>
          <a:p>
            <a:r>
              <a:rPr lang="en-GB" dirty="0" err="1"/>
              <a:t>Principper</a:t>
            </a:r>
            <a:r>
              <a:rPr lang="en-GB" dirty="0"/>
              <a:t> </a:t>
            </a:r>
            <a:r>
              <a:rPr lang="en-GB" dirty="0" err="1"/>
              <a:t>applikationer</a:t>
            </a:r>
            <a:r>
              <a:rPr lang="en-GB" dirty="0"/>
              <a:t> </a:t>
            </a:r>
            <a:r>
              <a:rPr lang="en-GB" dirty="0" err="1"/>
              <a:t>bør</a:t>
            </a:r>
            <a:r>
              <a:rPr lang="en-GB" dirty="0"/>
              <a:t> </a:t>
            </a:r>
            <a:r>
              <a:rPr lang="en-GB" dirty="0" err="1"/>
              <a:t>følge</a:t>
            </a:r>
            <a:r>
              <a:rPr lang="en-GB" dirty="0"/>
              <a:t>:</a:t>
            </a:r>
          </a:p>
          <a:p>
            <a:pPr lvl="1"/>
            <a:r>
              <a:rPr lang="en-GB" b="1" dirty="0"/>
              <a:t>Baked-in dependencies</a:t>
            </a:r>
          </a:p>
          <a:p>
            <a:pPr lvl="2"/>
            <a:r>
              <a:rPr lang="en-GB" dirty="0"/>
              <a:t>Explicitly declared and baked into image.</a:t>
            </a:r>
          </a:p>
          <a:p>
            <a:pPr lvl="1"/>
            <a:r>
              <a:rPr lang="en-GB" b="1" dirty="0"/>
              <a:t>Disposable</a:t>
            </a:r>
          </a:p>
          <a:p>
            <a:pPr lvl="2"/>
            <a:r>
              <a:rPr lang="en-GB" dirty="0"/>
              <a:t>Stateless processes</a:t>
            </a:r>
          </a:p>
          <a:p>
            <a:pPr lvl="2"/>
            <a:r>
              <a:rPr lang="en-GB" dirty="0"/>
              <a:t>Fast startup, graceful shutdown</a:t>
            </a:r>
          </a:p>
          <a:p>
            <a:pPr lvl="1"/>
            <a:r>
              <a:rPr lang="en-GB" b="1" dirty="0"/>
              <a:t>Configurable</a:t>
            </a:r>
          </a:p>
          <a:p>
            <a:pPr lvl="2"/>
            <a:r>
              <a:rPr lang="en-GB" dirty="0"/>
              <a:t>Config via ENV variables, with sane defaults.</a:t>
            </a:r>
          </a:p>
          <a:p>
            <a:pPr lvl="2"/>
            <a:r>
              <a:rPr lang="en-GB" dirty="0"/>
              <a:t>Able to change “backing services”.</a:t>
            </a:r>
          </a:p>
          <a:p>
            <a:pPr lvl="1"/>
            <a:r>
              <a:rPr lang="en-GB" b="1" dirty="0"/>
              <a:t>Standardised Logging</a:t>
            </a:r>
          </a:p>
          <a:p>
            <a:pPr lvl="2"/>
            <a:r>
              <a:rPr lang="en-GB" dirty="0"/>
              <a:t>Write to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stdout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/stderr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/>
              <a:t>→ container platform aggregates</a:t>
            </a:r>
          </a:p>
          <a:p>
            <a:pPr lvl="2"/>
            <a:r>
              <a:rPr lang="en-GB" dirty="0"/>
              <a:t>Configurable levels</a:t>
            </a:r>
          </a:p>
          <a:p>
            <a:pPr lvl="1"/>
            <a:r>
              <a:rPr lang="en-GB" b="1" dirty="0"/>
              <a:t>Concurrently scalable</a:t>
            </a:r>
          </a:p>
          <a:p>
            <a:pPr lvl="2"/>
            <a:r>
              <a:rPr lang="en-GB" dirty="0"/>
              <a:t>Multiple instances must co-exist.</a:t>
            </a:r>
          </a:p>
          <a:p>
            <a:pPr lvl="1"/>
            <a:r>
              <a:rPr lang="en-GB" dirty="0"/>
              <a:t>etc…</a:t>
            </a:r>
            <a:endParaRPr lang="en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72FD1E3-C3B5-54AD-2E39-81BB675EB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151" y="2844684"/>
            <a:ext cx="2233867" cy="22338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017560-84A0-7F54-33B3-BC0EB4FD831E}"/>
              </a:ext>
            </a:extLst>
          </p:cNvPr>
          <p:cNvSpPr txBox="1"/>
          <p:nvPr/>
        </p:nvSpPr>
        <p:spPr>
          <a:xfrm>
            <a:off x="9324151" y="5167312"/>
            <a:ext cx="2712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Required reading:</a:t>
            </a:r>
            <a:br>
              <a:rPr lang="en-GB" dirty="0"/>
            </a:br>
            <a:r>
              <a:rPr lang="en-GB" dirty="0">
                <a:hlinkClick r:id="rId3"/>
              </a:rPr>
              <a:t>https://12factor.net/</a:t>
            </a:r>
            <a:r>
              <a:rPr lang="en-GB" dirty="0"/>
              <a:t> or </a:t>
            </a:r>
            <a:r>
              <a:rPr lang="en-GB" dirty="0">
                <a:hlinkClick r:id="rId4"/>
              </a:rPr>
              <a:t>https://w.wiki/MHUu</a:t>
            </a:r>
            <a:r>
              <a:rPr lang="en-GB" dirty="0"/>
              <a:t> </a:t>
            </a:r>
            <a:endParaRPr lang="en-DK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98844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CAC72-620D-FDB6-2392-C421CF47B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Volume Mounts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B1A88-DBE1-2F9E-6DD2-89FAAE5C52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510393"/>
            <a:ext cx="10515600" cy="462281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Volume mount = directory or file injected into a container at runtime.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Data that comes from outside the container, to</a:t>
            </a:r>
            <a:r>
              <a:rPr lang="en-GB" sz="2000" dirty="0">
                <a:sym typeface="Wingdings" pitchFamily="2" charset="2"/>
              </a:rPr>
              <a:t> </a:t>
            </a:r>
            <a:r>
              <a:rPr lang="en-GB" sz="2000" dirty="0"/>
              <a:t>share or externalize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E.g. configuration files, credentials, shared files between containers in a Pod,</a:t>
            </a:r>
            <a:br>
              <a:rPr lang="en-GB" sz="2000" dirty="0"/>
            </a:br>
            <a:r>
              <a:rPr lang="en-GB" sz="2000" dirty="0"/>
              <a:t>or </a:t>
            </a:r>
            <a:r>
              <a:rPr lang="en-GB" sz="2000" b="1" dirty="0"/>
              <a:t>data that must survive container restarts (persistence)</a:t>
            </a:r>
            <a:r>
              <a:rPr lang="en-GB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Can be: </a:t>
            </a:r>
            <a:r>
              <a:rPr lang="en-GB" sz="2000" dirty="0" err="1"/>
              <a:t>ConfigMap</a:t>
            </a:r>
            <a:r>
              <a:rPr lang="en-GB" sz="2000" dirty="0"/>
              <a:t>, Secret, PVC, </a:t>
            </a:r>
            <a:r>
              <a:rPr lang="en-GB" sz="2000" dirty="0" err="1"/>
              <a:t>emptyDir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endParaRPr lang="en-DK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sz="2000" dirty="0"/>
              <a:t>ConfigMaps</a:t>
            </a:r>
            <a:br>
              <a:rPr lang="en-DK" sz="2000" dirty="0"/>
            </a:br>
            <a:br>
              <a:rPr lang="en-DK" sz="2000" dirty="0"/>
            </a:br>
            <a:br>
              <a:rPr lang="en-DK" sz="2000" dirty="0"/>
            </a:br>
            <a:br>
              <a:rPr lang="en-DK" sz="2000" dirty="0"/>
            </a:br>
            <a:br>
              <a:rPr lang="en-DK" sz="2000" dirty="0"/>
            </a:br>
            <a:endParaRPr lang="en-DK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sz="2000" dirty="0"/>
              <a:t>Secrets</a:t>
            </a:r>
            <a:br>
              <a:rPr lang="en-DK" sz="2000" dirty="0"/>
            </a:br>
            <a:r>
              <a:rPr lang="en-DK" sz="1400" dirty="0"/>
              <a:t>(base64, </a:t>
            </a:r>
            <a:r>
              <a:rPr lang="en-DK" sz="1400" b="1" dirty="0"/>
              <a:t>not secured!</a:t>
            </a:r>
            <a:r>
              <a:rPr lang="en-DK" sz="1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K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K" sz="2000" dirty="0"/>
          </a:p>
          <a:p>
            <a:endParaRPr lang="en-DK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41BA6-7D07-4110-9197-D8DBE8CFE3C5}"/>
              </a:ext>
            </a:extLst>
          </p:cNvPr>
          <p:cNvSpPr txBox="1"/>
          <p:nvPr/>
        </p:nvSpPr>
        <p:spPr>
          <a:xfrm>
            <a:off x="3220923" y="3343715"/>
            <a:ext cx="2842419" cy="160043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: v1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kind: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ConfigMap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name: my-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configmap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data: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key1: value1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key2: value2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3EC74C-BEFE-89B9-DB20-A78BD316E0ED}"/>
              </a:ext>
            </a:extLst>
          </p:cNvPr>
          <p:cNvSpPr txBox="1"/>
          <p:nvPr/>
        </p:nvSpPr>
        <p:spPr>
          <a:xfrm>
            <a:off x="6510528" y="3384332"/>
            <a:ext cx="5406291" cy="332398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containers: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my-app:</a:t>
            </a:r>
            <a:b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GB" sz="1400" dirty="0" err="1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volumeMounts</a:t>
            </a:r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- </a:t>
            </a:r>
            <a:r>
              <a:rPr lang="en-GB" sz="1400" dirty="0" err="1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mountPath</a:t>
            </a:r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/etc/nginx/</a:t>
            </a:r>
            <a:r>
              <a:rPr lang="en-GB" sz="1400" dirty="0" err="1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conf.d</a:t>
            </a:r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400" dirty="0" err="1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default.conf</a:t>
            </a:r>
            <a:endParaRPr lang="en-GB" sz="1400" dirty="0">
              <a:solidFill>
                <a:schemeClr val="bg2">
                  <a:lumMod val="1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name: nginx-config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GB" sz="1400" dirty="0" err="1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true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GB" sz="1400" dirty="0" err="1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subPath</a:t>
            </a:r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1400" dirty="0" err="1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default.conf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volumes: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- name: nginx-config 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configMap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name: my-nginx-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configmap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defaultMode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: 420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optional: 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4A96DF-205A-5317-26DA-2013ADDA2211}"/>
              </a:ext>
            </a:extLst>
          </p:cNvPr>
          <p:cNvSpPr txBox="1"/>
          <p:nvPr/>
        </p:nvSpPr>
        <p:spPr>
          <a:xfrm>
            <a:off x="3220924" y="5107880"/>
            <a:ext cx="2842419" cy="138499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: v1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kind: Secret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name: secret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data: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key1: c2hoLWl0cy1hLX==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E62844-205F-7E00-F8C1-114B5A6D0C96}"/>
              </a:ext>
            </a:extLst>
          </p:cNvPr>
          <p:cNvSpPr txBox="1"/>
          <p:nvPr/>
        </p:nvSpPr>
        <p:spPr>
          <a:xfrm>
            <a:off x="6510460" y="3029952"/>
            <a:ext cx="234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Use in Deployment:</a:t>
            </a:r>
          </a:p>
        </p:txBody>
      </p:sp>
    </p:spTree>
    <p:extLst>
      <p:ext uri="{BB962C8B-B14F-4D97-AF65-F5344CB8AC3E}">
        <p14:creationId xmlns:p14="http://schemas.microsoft.com/office/powerpoint/2010/main" val="2118680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F453D-AFC2-8BB5-A1DA-0CD6613B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Volume Mount –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92317-52F5-3957-AFA0-2BD76D1B67C7}"/>
              </a:ext>
            </a:extLst>
          </p:cNvPr>
          <p:cNvSpPr txBox="1"/>
          <p:nvPr/>
        </p:nvSpPr>
        <p:spPr>
          <a:xfrm>
            <a:off x="6096000" y="1903874"/>
            <a:ext cx="5414782" cy="353943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containers: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my-app:</a:t>
            </a:r>
            <a:b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GB" sz="1400" dirty="0" err="1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volumeMounts</a:t>
            </a:r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- name: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nginx-config </a:t>
            </a:r>
          </a:p>
          <a:p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GB" sz="1400" dirty="0" err="1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mountPath</a:t>
            </a:r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/etc/nginx/</a:t>
            </a:r>
            <a:r>
              <a:rPr lang="en-GB" sz="1400" dirty="0" err="1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conf.d</a:t>
            </a:r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400" dirty="0" err="1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default.conf</a:t>
            </a:r>
            <a:endParaRPr lang="en-GB" sz="1400" dirty="0">
              <a:solidFill>
                <a:schemeClr val="bg2">
                  <a:lumMod val="1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GB" sz="1400" dirty="0" err="1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true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GB" sz="1400" dirty="0" err="1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subPath</a:t>
            </a:r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1400" b="1" dirty="0" err="1">
                <a:solidFill>
                  <a:srgbClr val="C54D0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default.conf</a:t>
            </a:r>
            <a:endParaRPr lang="en-GB" sz="1400" b="1" dirty="0">
              <a:solidFill>
                <a:srgbClr val="C54D0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volumes: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- name: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nginx-config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configMap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name: </a:t>
            </a:r>
            <a:r>
              <a:rPr lang="en-GB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my-nginx-</a:t>
            </a:r>
            <a:r>
              <a:rPr lang="en-GB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configmap</a:t>
            </a:r>
            <a:endParaRPr lang="en-GB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defaultMode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: 420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optional: false</a:t>
            </a:r>
          </a:p>
          <a:p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379FD-0DD7-DA81-C060-B48B2F6C4890}"/>
              </a:ext>
            </a:extLst>
          </p:cNvPr>
          <p:cNvSpPr txBox="1"/>
          <p:nvPr/>
        </p:nvSpPr>
        <p:spPr>
          <a:xfrm>
            <a:off x="6096000" y="1506022"/>
            <a:ext cx="2991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Use in Deployment: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1F60B-72DA-4557-9E1D-583572BB6D9B}"/>
              </a:ext>
            </a:extLst>
          </p:cNvPr>
          <p:cNvSpPr txBox="1"/>
          <p:nvPr/>
        </p:nvSpPr>
        <p:spPr>
          <a:xfrm>
            <a:off x="919753" y="1903874"/>
            <a:ext cx="4795248" cy="3539430"/>
          </a:xfrm>
          <a:prstGeom prst="rect">
            <a:avLst/>
          </a:prstGeom>
          <a:ln>
            <a:solidFill>
              <a:srgbClr val="C54D0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: v1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kind: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ConfigMap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name: </a:t>
            </a:r>
            <a:r>
              <a:rPr lang="en-GB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my-nginx-</a:t>
            </a:r>
            <a:r>
              <a:rPr lang="en-GB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configmap</a:t>
            </a:r>
            <a:endParaRPr lang="en-GB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data: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400" b="1" dirty="0" err="1">
                <a:solidFill>
                  <a:srgbClr val="C54D0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default.conf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: |-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server {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listen 80;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server_name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_;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error_page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404 @sorry;</a:t>
            </a:r>
            <a:b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location @sorry {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return 404 ”Dead-end\n";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8C4D67-80D8-48F9-7AF2-F6955CA1AFFF}"/>
              </a:ext>
            </a:extLst>
          </p:cNvPr>
          <p:cNvSpPr txBox="1"/>
          <p:nvPr/>
        </p:nvSpPr>
        <p:spPr>
          <a:xfrm>
            <a:off x="838200" y="1534542"/>
            <a:ext cx="1317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ConfigMap:</a:t>
            </a:r>
          </a:p>
        </p:txBody>
      </p:sp>
    </p:spTree>
    <p:extLst>
      <p:ext uri="{BB962C8B-B14F-4D97-AF65-F5344CB8AC3E}">
        <p14:creationId xmlns:p14="http://schemas.microsoft.com/office/powerpoint/2010/main" val="29612765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BD0D-628A-54FA-CCF9-A016CC87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Environment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792C0-299F-1F5C-50FC-8B2CEA1C8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DK" sz="2000" dirty="0"/>
              <a:t>Standard way to configure a cloud-ready app.</a:t>
            </a:r>
          </a:p>
          <a:p>
            <a:endParaRPr lang="en-DK" sz="2000" dirty="0"/>
          </a:p>
          <a:p>
            <a:r>
              <a:rPr lang="en-DK" sz="2000" dirty="0"/>
              <a:t>Many options: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sz="2000" dirty="0"/>
              <a:t>Define key/value directly on the Deployment.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sz="2000" dirty="0"/>
              <a:t>Import from volume</a:t>
            </a:r>
          </a:p>
          <a:p>
            <a:pPr marL="1028700" lvl="1" indent="-342900">
              <a:buFont typeface="Courier New" panose="02070309020205020404" pitchFamily="49" charset="0"/>
              <a:buChar char="o"/>
            </a:pPr>
            <a:r>
              <a:rPr lang="en-DK" sz="2000" dirty="0"/>
              <a:t>From ConfigMap</a:t>
            </a:r>
          </a:p>
          <a:p>
            <a:pPr marL="1028700" lvl="1" indent="-342900">
              <a:buFont typeface="Courier New" panose="02070309020205020404" pitchFamily="49" charset="0"/>
              <a:buChar char="o"/>
            </a:pPr>
            <a:r>
              <a:rPr lang="en-DK" sz="2000" dirty="0"/>
              <a:t>From Secret</a:t>
            </a:r>
          </a:p>
          <a:p>
            <a:pPr lvl="1" indent="0">
              <a:buNone/>
            </a:pPr>
            <a:endParaRPr lang="en-DK" sz="2000" dirty="0"/>
          </a:p>
          <a:p>
            <a:r>
              <a:rPr lang="en-DK" sz="2000" b="1" dirty="0"/>
              <a:t>Exercises:</a:t>
            </a:r>
          </a:p>
          <a:p>
            <a:r>
              <a:rPr lang="en-DK" sz="2000" dirty="0"/>
              <a:t>Follow instructions in </a:t>
            </a:r>
            <a:r>
              <a:rPr lang="en-DK" sz="2000" b="1" dirty="0"/>
              <a:t>2-config-and-env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8FD67E-9116-337E-4439-D1B2B9A0425A}"/>
              </a:ext>
            </a:extLst>
          </p:cNvPr>
          <p:cNvSpPr txBox="1"/>
          <p:nvPr/>
        </p:nvSpPr>
        <p:spPr>
          <a:xfrm>
            <a:off x="6187440" y="1516557"/>
            <a:ext cx="5414782" cy="461664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containers: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my-app:</a:t>
            </a:r>
            <a:b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GB" sz="1400" dirty="0">
              <a:solidFill>
                <a:schemeClr val="bg2">
                  <a:lumMod val="1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Manual</a:t>
            </a:r>
          </a:p>
          <a:p>
            <a:b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env: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name: </a:t>
            </a:r>
            <a:r>
              <a:rPr lang="en-GB" sz="1400" dirty="0">
                <a:solidFill>
                  <a:srgbClr val="C54D0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value: </a:t>
            </a:r>
            <a:r>
              <a:rPr lang="en-GB" sz="14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"Workshop”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name: </a:t>
            </a:r>
            <a:r>
              <a:rPr lang="en-GB" sz="1400" dirty="0">
                <a:solidFill>
                  <a:srgbClr val="C54D0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DB_HOSTNAME</a:t>
            </a:r>
          </a:p>
          <a:p>
            <a:r>
              <a:rPr lang="en-GB" sz="14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value: </a:t>
            </a:r>
            <a:r>
              <a:rPr lang="en-GB" sz="14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1400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postgres-devel.kb.dk</a:t>
            </a:r>
            <a:r>
              <a:rPr lang="en-GB" sz="14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  <a:br>
              <a:rPr lang="en-GB" sz="14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GB" sz="1400" dirty="0">
              <a:solidFill>
                <a:srgbClr val="005DE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From </a:t>
            </a:r>
            <a:r>
              <a:rPr lang="en-GB" sz="14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ConfigMap</a:t>
            </a:r>
            <a:r>
              <a:rPr lang="en-GB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or Secrets</a:t>
            </a:r>
          </a:p>
          <a:p>
            <a:endParaRPr lang="en-GB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GB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envFrom</a:t>
            </a:r>
            <a:r>
              <a:rPr lang="en-GB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GB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-GB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configMapRef</a:t>
            </a:r>
            <a:r>
              <a:rPr lang="en-GB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GB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name: </a:t>
            </a:r>
            <a:r>
              <a:rPr lang="en-GB" sz="1400" dirty="0">
                <a:solidFill>
                  <a:srgbClr val="C54D0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my-app-env-</a:t>
            </a:r>
            <a:r>
              <a:rPr lang="en-GB" sz="1400" dirty="0" err="1">
                <a:solidFill>
                  <a:srgbClr val="C54D0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configmap</a:t>
            </a:r>
            <a:endParaRPr lang="en-GB" sz="1400" dirty="0">
              <a:solidFill>
                <a:srgbClr val="C54D0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-GB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secretRef</a:t>
            </a:r>
            <a:r>
              <a:rPr lang="en-GB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GB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name: </a:t>
            </a:r>
            <a:r>
              <a:rPr lang="en-GB" sz="1400" dirty="0">
                <a:solidFill>
                  <a:srgbClr val="C54D0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my-app-env-secrets</a:t>
            </a:r>
          </a:p>
          <a:p>
            <a:r>
              <a:rPr lang="en-GB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key: </a:t>
            </a:r>
            <a:r>
              <a:rPr lang="en-GB" sz="1400" dirty="0">
                <a:solidFill>
                  <a:srgbClr val="C54D0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DB_PASSWORD</a:t>
            </a:r>
          </a:p>
        </p:txBody>
      </p:sp>
    </p:spTree>
    <p:extLst>
      <p:ext uri="{BB962C8B-B14F-4D97-AF65-F5344CB8AC3E}">
        <p14:creationId xmlns:p14="http://schemas.microsoft.com/office/powerpoint/2010/main" val="12571904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B6EF8-E01F-8274-8796-6AB8A7B4D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90727C89-C450-2D47-2B8E-BCF3ECBEEA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7.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DBF7BFE-4372-6038-BB70-6A63D55934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87749" y="2703049"/>
            <a:ext cx="6159755" cy="2884543"/>
          </a:xfrm>
        </p:spPr>
        <p:txBody>
          <a:bodyPr>
            <a:normAutofit/>
          </a:bodyPr>
          <a:lstStyle/>
          <a:p>
            <a:r>
              <a:rPr lang="da-DK" b="1" dirty="0" err="1"/>
              <a:t>Exercises</a:t>
            </a:r>
            <a:r>
              <a:rPr lang="da-DK" b="1" dirty="0"/>
              <a:t> for</a:t>
            </a:r>
            <a:br>
              <a:rPr lang="da-DK" dirty="0"/>
            </a:br>
            <a:r>
              <a:rPr lang="da-DK" dirty="0" err="1"/>
              <a:t>Config</a:t>
            </a:r>
            <a:r>
              <a:rPr lang="da-DK" dirty="0"/>
              <a:t> &amp; Environment</a:t>
            </a:r>
          </a:p>
          <a:p>
            <a:endParaRPr lang="da-DK" sz="2400" dirty="0"/>
          </a:p>
          <a:p>
            <a:r>
              <a:rPr lang="en-DK" sz="2400" dirty="0"/>
              <a:t>Følg instrukser i </a:t>
            </a:r>
            <a:r>
              <a:rPr lang="en-DK" sz="2400" b="1" dirty="0"/>
              <a:t>2-config-and-env</a:t>
            </a:r>
            <a:endParaRPr lang="da-DK" sz="2400" b="1" dirty="0"/>
          </a:p>
        </p:txBody>
      </p:sp>
    </p:spTree>
    <p:extLst>
      <p:ext uri="{BB962C8B-B14F-4D97-AF65-F5344CB8AC3E}">
        <p14:creationId xmlns:p14="http://schemas.microsoft.com/office/powerpoint/2010/main" val="40833533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975C-19E4-989C-13D3-1B638FA02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Volume Mounts - Persistence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668B6-060D-CE1D-FFA3-F9AD4AA5E0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/>
              <a:t>Storage Class</a:t>
            </a:r>
          </a:p>
          <a:p>
            <a:pPr marL="1028700" lvl="1" indent="-342900"/>
            <a:r>
              <a:rPr lang="en-DK" dirty="0"/>
              <a:t>Type of storage</a:t>
            </a:r>
          </a:p>
          <a:p>
            <a:pPr marL="1028700" lvl="1" indent="-342900"/>
            <a:r>
              <a:rPr lang="en-DK" dirty="0"/>
              <a:t>E.g. Local-path, NFS, SMB, Longhorn, S3.</a:t>
            </a:r>
          </a:p>
          <a:p>
            <a:pPr marL="1028700" lvl="1" indent="-342900"/>
            <a:r>
              <a:rPr lang="en-DK" dirty="0"/>
              <a:t>A storage controller handles PVC -&gt; PV binding. </a:t>
            </a:r>
            <a:br>
              <a:rPr lang="en-DK" dirty="0"/>
            </a:br>
            <a:endParaRPr lang="en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/>
              <a:t>Persistent Volume Claim</a:t>
            </a:r>
          </a:p>
          <a:p>
            <a:pPr marL="1028700" lvl="1" indent="-342900"/>
            <a:r>
              <a:rPr lang="en-DK" dirty="0"/>
              <a:t>A request for storage of a specified class, size and access-mode.</a:t>
            </a:r>
          </a:p>
          <a:p>
            <a:pPr marL="1028700" lvl="1" indent="-342900"/>
            <a:r>
              <a:rPr lang="en-DK" i="1" dirty="0"/>
              <a:t>storageClass</a:t>
            </a:r>
            <a:r>
              <a:rPr lang="en-DK" dirty="0"/>
              <a:t> = Which type of storage do you need.</a:t>
            </a:r>
          </a:p>
          <a:p>
            <a:pPr marL="1028700" lvl="1" indent="-342900"/>
            <a:r>
              <a:rPr lang="en-DK" i="1" dirty="0"/>
              <a:t>accessModes</a:t>
            </a:r>
            <a:r>
              <a:rPr lang="en-DK" dirty="0"/>
              <a:t> = Read-only or Write, Single-node or Multi-node.</a:t>
            </a:r>
          </a:p>
          <a:p>
            <a:pPr marL="1028700" lvl="1" indent="-342900"/>
            <a:r>
              <a:rPr lang="en-DK" dirty="0"/>
              <a:t>E.g. give me 10 GB storage of class Longhorn (distributed) supporting RWX (multi-node writable) mode.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/>
              <a:t>Persistent Volumes</a:t>
            </a:r>
          </a:p>
          <a:p>
            <a:pPr marL="1028700" lvl="1" indent="-342900"/>
            <a:r>
              <a:rPr lang="en-DK" dirty="0"/>
              <a:t>An actual "piece” of dedicated persistent storage on the cluster.</a:t>
            </a:r>
          </a:p>
          <a:p>
            <a:pPr marL="1028700" lvl="1" indent="-342900"/>
            <a:r>
              <a:rPr lang="en-DK" dirty="0"/>
              <a:t>May be </a:t>
            </a:r>
            <a:r>
              <a:rPr lang="en-DK" i="1" dirty="0"/>
              <a:t>bound</a:t>
            </a:r>
            <a:r>
              <a:rPr lang="en-DK" dirty="0"/>
              <a:t> by a PVC or </a:t>
            </a:r>
            <a:r>
              <a:rPr lang="en-DK" i="1" dirty="0"/>
              <a:t>released</a:t>
            </a:r>
            <a:r>
              <a:rPr lang="en-DK" dirty="0"/>
              <a:t>.</a:t>
            </a:r>
          </a:p>
          <a:p>
            <a:pPr marL="1028700" lvl="1" indent="-342900"/>
            <a:r>
              <a:rPr lang="en-DK" dirty="0"/>
              <a:t>⚠️  ReclaimPolicy: Retain vs. Delete ⚠️</a:t>
            </a:r>
          </a:p>
          <a:p>
            <a:pPr marL="1028700" lvl="1" indent="-342900"/>
            <a:endParaRPr lang="en-DK" dirty="0"/>
          </a:p>
          <a:p>
            <a:pPr marL="342900" indent="-342900"/>
            <a:r>
              <a:rPr lang="en-GB" dirty="0">
                <a:effectLst/>
                <a:latin typeface="inherit"/>
              </a:rPr>
              <a:t>Pod</a:t>
            </a:r>
            <a:r>
              <a:rPr lang="en-GB" dirty="0"/>
              <a:t> </a:t>
            </a:r>
            <a:r>
              <a:rPr lang="en-GB" dirty="0">
                <a:latin typeface="inherit"/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dirty="0">
                <a:effectLst/>
                <a:latin typeface="inherit"/>
              </a:rPr>
              <a:t>PVC</a:t>
            </a:r>
            <a:r>
              <a:rPr lang="en-GB" dirty="0"/>
              <a:t> </a:t>
            </a:r>
            <a:r>
              <a:rPr lang="en-GB" dirty="0">
                <a:latin typeface="inherit"/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dirty="0">
                <a:effectLst/>
                <a:latin typeface="inherit"/>
              </a:rPr>
              <a:t>PV</a:t>
            </a:r>
            <a:r>
              <a:rPr lang="en-GB" dirty="0"/>
              <a:t> </a:t>
            </a:r>
            <a:r>
              <a:rPr lang="en-GB" dirty="0">
                <a:latin typeface="inherit"/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dirty="0">
                <a:effectLst/>
                <a:latin typeface="inherit"/>
              </a:rPr>
              <a:t>Storage (Local, NFS, SMB)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5317532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D22F2-7996-0951-BA31-BA03DA2BD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38B74632-D966-089D-BF4B-01BF763B2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7.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5F74642-EA7D-63CC-DE75-65B403D884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87749" y="2703049"/>
            <a:ext cx="5922011" cy="2884543"/>
          </a:xfrm>
        </p:spPr>
        <p:txBody>
          <a:bodyPr/>
          <a:lstStyle/>
          <a:p>
            <a:r>
              <a:rPr lang="da-DK" b="1" dirty="0" err="1"/>
              <a:t>Exercises</a:t>
            </a:r>
            <a:r>
              <a:rPr lang="da-DK" b="1" dirty="0"/>
              <a:t> for</a:t>
            </a:r>
            <a:br>
              <a:rPr lang="da-DK" dirty="0"/>
            </a:br>
            <a:r>
              <a:rPr lang="da-DK" dirty="0"/>
              <a:t>Volume </a:t>
            </a:r>
            <a:r>
              <a:rPr lang="da-DK" dirty="0" err="1"/>
              <a:t>Mounts</a:t>
            </a:r>
            <a:endParaRPr lang="da-DK" dirty="0"/>
          </a:p>
          <a:p>
            <a:endParaRPr lang="da-DK" sz="2400" dirty="0"/>
          </a:p>
          <a:p>
            <a:r>
              <a:rPr lang="en-DK" sz="2400" dirty="0"/>
              <a:t>Følg instrukser i </a:t>
            </a:r>
            <a:r>
              <a:rPr lang="en-DK" sz="2400" b="1" dirty="0"/>
              <a:t>3-volumes-and-persistence</a:t>
            </a:r>
          </a:p>
        </p:txBody>
      </p:sp>
    </p:spTree>
    <p:extLst>
      <p:ext uri="{BB962C8B-B14F-4D97-AF65-F5344CB8AC3E}">
        <p14:creationId xmlns:p14="http://schemas.microsoft.com/office/powerpoint/2010/main" val="12157954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391F6EE4-50F2-FB06-9153-6CFF714551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8.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517BDA5-72B2-1B8B-DDD6-81808EDF1A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87749" y="2703049"/>
            <a:ext cx="5263173" cy="2884543"/>
          </a:xfrm>
        </p:spPr>
        <p:txBody>
          <a:bodyPr/>
          <a:lstStyle/>
          <a:p>
            <a:r>
              <a:rPr lang="da-DK" dirty="0" err="1"/>
              <a:t>Exposing</a:t>
            </a:r>
            <a:r>
              <a:rPr lang="da-DK" dirty="0"/>
              <a:t> containers</a:t>
            </a:r>
            <a:endParaRPr lang="da-DK" sz="2400" dirty="0"/>
          </a:p>
        </p:txBody>
      </p:sp>
    </p:spTree>
    <p:extLst>
      <p:ext uri="{BB962C8B-B14F-4D97-AF65-F5344CB8AC3E}">
        <p14:creationId xmlns:p14="http://schemas.microsoft.com/office/powerpoint/2010/main" val="40228480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E1C57-3D62-40F2-B494-24DC79233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Services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22000-0FCF-6A51-C10A-51DAFDC423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7555591" cy="4442517"/>
          </a:xfrm>
        </p:spPr>
        <p:txBody>
          <a:bodyPr/>
          <a:lstStyle/>
          <a:p>
            <a:r>
              <a:rPr lang="en-DK" dirty="0"/>
              <a:t>One stable DNS name &amp; IP for one type of Pod(s)</a:t>
            </a:r>
            <a:br>
              <a:rPr lang="en-DK" dirty="0"/>
            </a:br>
            <a:endParaRPr lang="en-DK" dirty="0"/>
          </a:p>
          <a:p>
            <a:r>
              <a:rPr lang="en-DK" dirty="0"/>
              <a:t>Query-based binding between a service-name</a:t>
            </a:r>
            <a:br>
              <a:rPr lang="en-DK" dirty="0"/>
            </a:br>
            <a:r>
              <a:rPr lang="en-DK" dirty="0"/>
              <a:t>and Pod workloads</a:t>
            </a:r>
            <a:br>
              <a:rPr lang="en-DK" dirty="0"/>
            </a:br>
            <a:endParaRPr lang="en-DK" dirty="0"/>
          </a:p>
          <a:p>
            <a:r>
              <a:rPr lang="en-DK" dirty="0"/>
              <a:t>Service (long-lived) </a:t>
            </a:r>
            <a:r>
              <a:rPr lang="en-DK" dirty="0">
                <a:sym typeface="Wingdings" pitchFamily="2" charset="2"/>
              </a:rPr>
              <a:t></a:t>
            </a:r>
            <a:r>
              <a:rPr lang="en-DK" dirty="0"/>
              <a:t> Pod (short-lived)</a:t>
            </a:r>
          </a:p>
          <a:p>
            <a:pPr lvl="1"/>
            <a:r>
              <a:rPr lang="en-DK" dirty="0"/>
              <a:t>Abstracts away the need </a:t>
            </a:r>
            <a:r>
              <a:rPr lang="en-DK" sz="1800" dirty="0"/>
              <a:t>to</a:t>
            </a:r>
            <a:r>
              <a:rPr lang="en-DK" dirty="0"/>
              <a:t> know Pod IP addresses.</a:t>
            </a:r>
          </a:p>
          <a:p>
            <a:endParaRPr lang="en-DK" dirty="0"/>
          </a:p>
          <a:p>
            <a:r>
              <a:rPr lang="en-DK" dirty="0"/>
              <a:t>A cluster’s “Internal DNS”</a:t>
            </a:r>
          </a:p>
          <a:p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9D8E49-DFD1-E9F0-4B7A-1C0BD186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5" t="14523" r="3844" b="17975"/>
          <a:stretch>
            <a:fillRect/>
          </a:stretch>
        </p:blipFill>
        <p:spPr>
          <a:xfrm>
            <a:off x="7957039" y="1690688"/>
            <a:ext cx="4087760" cy="369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756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20D79-0943-27C1-4CBB-B09EDBC6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Service - Manifest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E469C-93CA-AD1D-2630-518D8AEB59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6670944" cy="4442517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Name = </a:t>
            </a:r>
            <a:r>
              <a:rPr lang="en-GB" dirty="0" err="1">
                <a:solidFill>
                  <a:schemeClr val="tx1"/>
                </a:solidFill>
              </a:rPr>
              <a:t>Navn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som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andre</a:t>
            </a:r>
            <a:r>
              <a:rPr lang="en-GB" dirty="0">
                <a:solidFill>
                  <a:schemeClr val="tx1"/>
                </a:solidFill>
              </a:rPr>
              <a:t> Pods </a:t>
            </a: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 Kubernetes </a:t>
            </a:r>
            <a:r>
              <a:rPr lang="en-GB" dirty="0" err="1">
                <a:solidFill>
                  <a:schemeClr val="tx1"/>
                </a:solidFill>
              </a:rPr>
              <a:t>kan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bruge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stedet</a:t>
            </a:r>
            <a:r>
              <a:rPr lang="en-GB" dirty="0">
                <a:solidFill>
                  <a:schemeClr val="tx1"/>
                </a:solidFill>
              </a:rPr>
              <a:t> for IP </a:t>
            </a:r>
            <a:r>
              <a:rPr lang="en-GB" dirty="0" err="1">
                <a:solidFill>
                  <a:schemeClr val="tx1"/>
                </a:solidFill>
              </a:rPr>
              <a:t>til</a:t>
            </a:r>
            <a:r>
              <a:rPr lang="en-GB" dirty="0">
                <a:solidFill>
                  <a:schemeClr val="tx1"/>
                </a:solidFill>
              </a:rPr>
              <a:t> at </a:t>
            </a:r>
            <a:r>
              <a:rPr lang="en-GB" dirty="0" err="1">
                <a:solidFill>
                  <a:schemeClr val="tx1"/>
                </a:solidFill>
              </a:rPr>
              <a:t>finde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specifikke</a:t>
            </a:r>
            <a:r>
              <a:rPr lang="en-GB" dirty="0">
                <a:solidFill>
                  <a:schemeClr val="tx1"/>
                </a:solidFill>
              </a:rPr>
              <a:t> Pods</a:t>
            </a:r>
          </a:p>
          <a:p>
            <a:endParaRPr lang="en-GB" b="1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S</a:t>
            </a:r>
            <a:r>
              <a:rPr lang="en-DK" b="1" dirty="0">
                <a:solidFill>
                  <a:schemeClr val="tx1"/>
                </a:solidFill>
              </a:rPr>
              <a:t>elector </a:t>
            </a:r>
            <a:r>
              <a:rPr lang="en-DK" dirty="0">
                <a:solidFill>
                  <a:schemeClr val="tx1"/>
                </a:solidFill>
              </a:rPr>
              <a:t>= Label matching af Pods, som den sender trafik til.</a:t>
            </a:r>
            <a:br>
              <a:rPr lang="en-DK" dirty="0">
                <a:solidFill>
                  <a:schemeClr val="tx1"/>
                </a:solidFill>
              </a:rPr>
            </a:br>
            <a:endParaRPr lang="en-DK" dirty="0">
              <a:solidFill>
                <a:schemeClr val="tx1"/>
              </a:solidFill>
            </a:endParaRPr>
          </a:p>
          <a:p>
            <a:r>
              <a:rPr lang="en-DK" b="1" dirty="0">
                <a:solidFill>
                  <a:schemeClr val="tx1"/>
                </a:solidFill>
              </a:rPr>
              <a:t>Ports</a:t>
            </a:r>
            <a:r>
              <a:rPr lang="en-DK" dirty="0">
                <a:solidFill>
                  <a:schemeClr val="tx1"/>
                </a:solidFill>
              </a:rPr>
              <a:t> = How ports map from Service to Pods</a:t>
            </a:r>
          </a:p>
          <a:p>
            <a:pPr lvl="1"/>
            <a:r>
              <a:rPr lang="en-DK" dirty="0">
                <a:solidFill>
                  <a:schemeClr val="tx1"/>
                </a:solidFill>
              </a:rPr>
              <a:t>E.g. my-service:80 </a:t>
            </a:r>
            <a:r>
              <a:rPr lang="en-DK" dirty="0">
                <a:solidFill>
                  <a:schemeClr val="tx1"/>
                </a:solidFill>
                <a:sym typeface="Wingdings" pitchFamily="2" charset="2"/>
              </a:rPr>
              <a:t> pod/MyApp:9376</a:t>
            </a:r>
            <a:endParaRPr lang="en-DK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20E20B-07E8-576C-F543-A020F2250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58" t="19268" r="4958" b="32105"/>
          <a:stretch>
            <a:fillRect/>
          </a:stretch>
        </p:blipFill>
        <p:spPr>
          <a:xfrm>
            <a:off x="7721599" y="1790700"/>
            <a:ext cx="3797301" cy="3225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78303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ngress can balance the inbound traffic in Kubernetes.">
            <a:extLst>
              <a:ext uri="{FF2B5EF4-FFF2-40B4-BE49-F238E27FC236}">
                <a16:creationId xmlns:a16="http://schemas.microsoft.com/office/drawing/2014/main" id="{00124E4C-1021-2448-3075-B26842E60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084" y="1649949"/>
            <a:ext cx="6850916" cy="452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3BE94B-EAF7-E3C6-4C06-B6A093F34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Services &amp; Ingress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C3B05-A533-6D64-223F-ACFEF714C8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DK" b="1" dirty="0"/>
              <a:t>Service</a:t>
            </a:r>
            <a:r>
              <a:rPr lang="en-DK" dirty="0"/>
              <a:t>:</a:t>
            </a:r>
          </a:p>
          <a:p>
            <a:pPr lvl="1"/>
            <a:r>
              <a:rPr lang="en-DK" dirty="0"/>
              <a:t>Intern DNS</a:t>
            </a:r>
          </a:p>
          <a:p>
            <a:pPr lvl="1"/>
            <a:r>
              <a:rPr lang="en-DK" dirty="0"/>
              <a:t>Fx. my-service.&lt;namespace&gt;.svc.cluster.local</a:t>
            </a:r>
          </a:p>
          <a:p>
            <a:r>
              <a:rPr lang="en-DK" b="1" dirty="0"/>
              <a:t>Ingress</a:t>
            </a:r>
            <a:r>
              <a:rPr lang="en-DK" dirty="0"/>
              <a:t>:</a:t>
            </a:r>
          </a:p>
          <a:p>
            <a:pPr lvl="1"/>
            <a:r>
              <a:rPr lang="en-DK" dirty="0"/>
              <a:t>External DNS</a:t>
            </a:r>
          </a:p>
          <a:p>
            <a:pPr lvl="1"/>
            <a:r>
              <a:rPr lang="en-DK" dirty="0"/>
              <a:t>SSL termination</a:t>
            </a:r>
          </a:p>
          <a:p>
            <a:pPr lvl="1"/>
            <a:r>
              <a:rPr lang="en-DK" dirty="0"/>
              <a:t>Connects to services</a:t>
            </a:r>
          </a:p>
          <a:p>
            <a:pPr lvl="1"/>
            <a:r>
              <a:rPr lang="da-DK" dirty="0"/>
              <a:t>Fx. </a:t>
            </a:r>
            <a:r>
              <a:rPr lang="da-DK" dirty="0" err="1"/>
              <a:t>my</a:t>
            </a:r>
            <a:r>
              <a:rPr lang="da-DK" dirty="0"/>
              <a:t>-app</a:t>
            </a:r>
            <a:r>
              <a:rPr lang="en-DK" dirty="0"/>
              <a:t>-devel.kb.dk</a:t>
            </a:r>
          </a:p>
          <a:p>
            <a:pPr marL="0" indent="0">
              <a:buNone/>
            </a:pPr>
            <a:endParaRPr lang="en-DK" dirty="0"/>
          </a:p>
          <a:p>
            <a:r>
              <a:rPr lang="en-DK" sz="2200" dirty="0"/>
              <a:t>Request </a:t>
            </a:r>
            <a:r>
              <a:rPr lang="en-DK" sz="2200" dirty="0">
                <a:sym typeface="Wingdings" pitchFamily="2" charset="2"/>
              </a:rPr>
              <a:t> </a:t>
            </a:r>
            <a:r>
              <a:rPr lang="en-DK" sz="2200" dirty="0"/>
              <a:t>Ingress </a:t>
            </a:r>
            <a:r>
              <a:rPr lang="en-DK" sz="2200" dirty="0">
                <a:sym typeface="Wingdings" pitchFamily="2" charset="2"/>
              </a:rPr>
              <a:t></a:t>
            </a:r>
            <a:r>
              <a:rPr lang="en-DK" sz="2200" dirty="0"/>
              <a:t> Service </a:t>
            </a:r>
            <a:r>
              <a:rPr lang="en-DK" sz="2200" dirty="0">
                <a:sym typeface="Wingdings" pitchFamily="2" charset="2"/>
              </a:rPr>
              <a:t> Pod</a:t>
            </a:r>
            <a:endParaRPr lang="en-DK" sz="2200" dirty="0"/>
          </a:p>
          <a:p>
            <a:endParaRPr lang="en-DK" dirty="0"/>
          </a:p>
          <a:p>
            <a:r>
              <a:rPr lang="en-DK" sz="2200" dirty="0"/>
              <a:t>Se på eksempel i Rancher</a:t>
            </a:r>
          </a:p>
        </p:txBody>
      </p:sp>
    </p:spTree>
    <p:extLst>
      <p:ext uri="{BB962C8B-B14F-4D97-AF65-F5344CB8AC3E}">
        <p14:creationId xmlns:p14="http://schemas.microsoft.com/office/powerpoint/2010/main" val="23481883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C8AD0-4275-B6C0-8508-66AC67AFA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Expose a service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3CBB0-6729-82F4-9EF6-D2CAD44FB3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1" y="1690688"/>
            <a:ext cx="11095721" cy="4442517"/>
          </a:xfrm>
        </p:spPr>
        <p:txBody>
          <a:bodyPr>
            <a:normAutofit fontScale="85000" lnSpcReduction="20000"/>
          </a:bodyPr>
          <a:lstStyle/>
          <a:p>
            <a:r>
              <a:rPr lang="en-GB" dirty="0">
                <a:hlinkClick r:id="rId2"/>
              </a:rPr>
              <a:t>https://kubernetes.io/docs/tutorials/services/connect-applications-service/#creating-a-service</a:t>
            </a:r>
            <a:endParaRPr lang="en-GB" dirty="0"/>
          </a:p>
          <a:p>
            <a:endParaRPr lang="en-GB" dirty="0"/>
          </a:p>
          <a:p>
            <a:r>
              <a:rPr lang="en-GB" dirty="0"/>
              <a:t>First install an Ingress controller!</a:t>
            </a:r>
          </a:p>
          <a:p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000" b="0" i="0" dirty="0" err="1">
                <a:solidFill>
                  <a:srgbClr val="222222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b="0" i="0" dirty="0">
                <a:solidFill>
                  <a:srgbClr val="222222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expose deployment/test --port 80</a:t>
            </a:r>
          </a:p>
          <a:p>
            <a:pPr lvl="1"/>
            <a:r>
              <a:rPr lang="en-GB" dirty="0">
                <a:solidFill>
                  <a:srgbClr val="222222"/>
                </a:solidFill>
                <a:latin typeface="SFMono-Regular"/>
              </a:rPr>
              <a:t>Creates a new Service resource!</a:t>
            </a:r>
          </a:p>
          <a:p>
            <a:pPr lvl="1"/>
            <a:endParaRPr lang="en-GB" dirty="0">
              <a:solidFill>
                <a:srgbClr val="222222"/>
              </a:solidFill>
              <a:latin typeface="SFMono-Regular"/>
            </a:endParaRPr>
          </a:p>
          <a:p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create ingress test --rule=host/path=</a:t>
            </a:r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service:port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(--class=)</a:t>
            </a:r>
          </a:p>
          <a:p>
            <a:endParaRPr lang="en-GB" dirty="0"/>
          </a:p>
          <a:p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create ingress test --rule=</a:t>
            </a:r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demo.localhost</a:t>
            </a: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/=test:80 --class=</a:t>
            </a:r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traefik</a:t>
            </a:r>
            <a:endParaRPr lang="en-GB" sz="2000" dirty="0">
              <a:highlight>
                <a:srgbClr val="D6ECCB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2000" dirty="0">
              <a:highlight>
                <a:srgbClr val="D6ECCB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edit ingress/test</a:t>
            </a:r>
          </a:p>
          <a:p>
            <a:endParaRPr lang="en-GB" sz="2000" dirty="0">
              <a:highlight>
                <a:srgbClr val="D6ECCB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0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describe ingress test</a:t>
            </a:r>
          </a:p>
          <a:p>
            <a:endParaRPr lang="en-GB" sz="2000" dirty="0">
              <a:highlight>
                <a:srgbClr val="D6ECCB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220631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B877B-8F1C-9E1A-3594-6B0FC6D77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7A03A756-B146-97FF-DE4D-2A1F33610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8.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9AB74AF-CCCA-F246-CDD0-C99EFE0562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87749" y="2703049"/>
            <a:ext cx="5922011" cy="2884543"/>
          </a:xfrm>
        </p:spPr>
        <p:txBody>
          <a:bodyPr/>
          <a:lstStyle/>
          <a:p>
            <a:r>
              <a:rPr lang="da-DK" b="1" dirty="0" err="1"/>
              <a:t>Exercises</a:t>
            </a:r>
            <a:r>
              <a:rPr lang="da-DK" b="1" dirty="0"/>
              <a:t> for</a:t>
            </a:r>
            <a:br>
              <a:rPr lang="da-DK" dirty="0"/>
            </a:br>
            <a:r>
              <a:rPr lang="da-DK" dirty="0" err="1"/>
              <a:t>Exposing</a:t>
            </a:r>
            <a:r>
              <a:rPr lang="da-DK" dirty="0"/>
              <a:t> containers</a:t>
            </a:r>
          </a:p>
          <a:p>
            <a:endParaRPr lang="da-DK" sz="2400" dirty="0"/>
          </a:p>
          <a:p>
            <a:r>
              <a:rPr lang="en-DK" sz="2400" dirty="0"/>
              <a:t>Følg instrukser i </a:t>
            </a:r>
            <a:r>
              <a:rPr lang="en-DK" sz="2400" b="1" dirty="0"/>
              <a:t>4-exposing-workloads</a:t>
            </a:r>
          </a:p>
          <a:p>
            <a:endParaRPr lang="da-DK" sz="2400" dirty="0"/>
          </a:p>
        </p:txBody>
      </p:sp>
    </p:spTree>
    <p:extLst>
      <p:ext uri="{BB962C8B-B14F-4D97-AF65-F5344CB8AC3E}">
        <p14:creationId xmlns:p14="http://schemas.microsoft.com/office/powerpoint/2010/main" val="32896083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B379AB-2542-3C49-D9C4-73D452B280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DK" dirty="0"/>
              <a:t>9.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13D03-DA13-4C99-9A7E-44673762BC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87750" y="2703049"/>
            <a:ext cx="6051550" cy="2884543"/>
          </a:xfrm>
        </p:spPr>
        <p:txBody>
          <a:bodyPr>
            <a:normAutofit/>
          </a:bodyPr>
          <a:lstStyle/>
          <a:p>
            <a:r>
              <a:rPr lang="en-DK" dirty="0"/>
              <a:t>Complex systems</a:t>
            </a:r>
            <a:br>
              <a:rPr lang="en-DK" sz="6600" dirty="0"/>
            </a:br>
            <a:br>
              <a:rPr lang="en-DK" dirty="0"/>
            </a:br>
            <a:r>
              <a:rPr lang="en-DK" sz="2400" dirty="0"/>
              <a:t>Systemer bestående af flere Pods der skal kunne snakke sammen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5288730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24C2F-6574-F7A0-E960-0C846DA7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Komplekse systemer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4C0F1-B3A6-E24C-9E32-04B3DAF77E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K" dirty="0"/>
              <a:t>Hvordan får man flere Pods/komponenter til at snakke sammen?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Services (intern DNS)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Netværks-politik, så Deployments kan nå hinandens Services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Konfiguration af apps (backing services)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DB_HOSTNAME=my-postgres-database.svc.cluster.local</a:t>
            </a:r>
          </a:p>
          <a:p>
            <a:pPr marL="914400" lvl="2" indent="0">
              <a:buNone/>
            </a:pPr>
            <a:endParaRPr lang="en-DK" dirty="0"/>
          </a:p>
          <a:p>
            <a:r>
              <a:rPr lang="en-DK" dirty="0"/>
              <a:t>Systemarkitektur - Hvorfor micro-services fungerer godt i Kubernetes</a:t>
            </a:r>
          </a:p>
          <a:p>
            <a:endParaRPr lang="en-DK" dirty="0"/>
          </a:p>
          <a:p>
            <a:r>
              <a:rPr lang="en-DK" dirty="0"/>
              <a:t>Orchestration:</a:t>
            </a:r>
          </a:p>
          <a:p>
            <a:pPr lvl="1"/>
            <a:r>
              <a:rPr lang="en-DK" dirty="0"/>
              <a:t>Inter-dependencies</a:t>
            </a:r>
          </a:p>
          <a:p>
            <a:pPr lvl="1"/>
            <a:r>
              <a:rPr lang="en-DK" dirty="0"/>
              <a:t>Health probes</a:t>
            </a:r>
          </a:p>
          <a:p>
            <a:pPr lvl="1"/>
            <a:r>
              <a:rPr lang="en-DK" dirty="0"/>
              <a:t>Persistence</a:t>
            </a:r>
          </a:p>
          <a:p>
            <a:pPr lvl="1"/>
            <a:r>
              <a:rPr lang="en-DK" dirty="0"/>
              <a:t>Scaling &amp; Load-balancing</a:t>
            </a:r>
            <a:br>
              <a:rPr lang="en-DK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05323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CD344-B461-BB41-B3C9-7708DD8AC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Orchestration – Health Probes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F9AA3-3685-DAD0-3399-67C8774863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0515600" cy="4527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DK" dirty="0"/>
              <a:t>Kubernetes’ health probes kan svare på følgende spørgsmål om en container:</a:t>
            </a:r>
            <a:br>
              <a:rPr lang="en-DK" dirty="0"/>
            </a:br>
            <a:endParaRPr lang="en-DK" dirty="0"/>
          </a:p>
          <a:p>
            <a:pPr marL="0" indent="0">
              <a:buNone/>
            </a:pPr>
            <a:endParaRPr lang="en-DK" dirty="0"/>
          </a:p>
          <a:p>
            <a:pPr marL="0" indent="0">
              <a:buNone/>
            </a:pPr>
            <a:endParaRPr lang="en-DK" dirty="0"/>
          </a:p>
          <a:p>
            <a:pPr marL="0" indent="0">
              <a:buNone/>
            </a:pPr>
            <a:endParaRPr lang="en-DK" dirty="0"/>
          </a:p>
          <a:p>
            <a:pPr marL="0" indent="0">
              <a:buNone/>
            </a:pPr>
            <a:endParaRPr lang="en-DK" dirty="0"/>
          </a:p>
          <a:p>
            <a:pPr marL="0" indent="0">
              <a:buNone/>
            </a:pPr>
            <a:r>
              <a:rPr lang="en-DK" sz="1900" dirty="0"/>
              <a:t>Probe mechanisms (same for all three):</a:t>
            </a:r>
          </a:p>
          <a:p>
            <a:r>
              <a:rPr lang="en-DK" sz="1900" b="1" dirty="0"/>
              <a:t>httpGet</a:t>
            </a:r>
            <a:r>
              <a:rPr lang="en-DK" sz="1900" dirty="0"/>
              <a:t> (most common),</a:t>
            </a:r>
          </a:p>
          <a:p>
            <a:r>
              <a:rPr lang="en-DK" sz="1900" dirty="0"/>
              <a:t>exec (run a command, exit 0 = healthy)</a:t>
            </a:r>
          </a:p>
          <a:p>
            <a:r>
              <a:rPr lang="en-DK" sz="1900" dirty="0"/>
              <a:t>tcpSocket, grpc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3E14FD-27D2-3BA4-D692-3EDCC900364B}"/>
              </a:ext>
            </a:extLst>
          </p:cNvPr>
          <p:cNvSpPr txBox="1"/>
          <p:nvPr/>
        </p:nvSpPr>
        <p:spPr>
          <a:xfrm>
            <a:off x="5696712" y="4719927"/>
            <a:ext cx="6120350" cy="1464231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"Running" is not the same as "ready”</a:t>
            </a:r>
            <a:br>
              <a:rPr lang="en-GB" sz="2000" dirty="0"/>
            </a:br>
            <a:r>
              <a:rPr lang="en-GB" sz="2000" dirty="0"/>
              <a:t>A container can be up while the app inside is still booting, deadlocked, or cut off from its database. Probes let Kubernetes tell the difference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2F81F5-1700-6163-3E91-ED53CAE13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870851"/>
              </p:ext>
            </p:extLst>
          </p:nvPr>
        </p:nvGraphicFramePr>
        <p:xfrm>
          <a:off x="838132" y="2297680"/>
          <a:ext cx="10838757" cy="1554480"/>
        </p:xfrm>
        <a:graphic>
          <a:graphicData uri="http://schemas.openxmlformats.org/drawingml/2006/table">
            <a:tbl>
              <a:tblPr/>
              <a:tblGrid>
                <a:gridCol w="2261684">
                  <a:extLst>
                    <a:ext uri="{9D8B030D-6E8A-4147-A177-3AD203B41FA5}">
                      <a16:colId xmlns:a16="http://schemas.microsoft.com/office/drawing/2014/main" val="2666288890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1317145243"/>
                    </a:ext>
                  </a:extLst>
                </a:gridCol>
                <a:gridCol w="5340097">
                  <a:extLst>
                    <a:ext uri="{9D8B030D-6E8A-4147-A177-3AD203B41FA5}">
                      <a16:colId xmlns:a16="http://schemas.microsoft.com/office/drawing/2014/main" val="38169464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DK" b="1">
                          <a:effectLst/>
                        </a:rPr>
                        <a:t>Probe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DK" b="1">
                          <a:effectLst/>
                        </a:rPr>
                        <a:t>Question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DK" b="1" dirty="0">
                          <a:effectLst/>
                        </a:rPr>
                        <a:t>On failure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012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b="1" dirty="0">
                          <a:effectLst/>
                        </a:rPr>
                        <a:t>livenessProbe</a:t>
                      </a:r>
                      <a:endParaRPr lang="en-DK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dirty="0">
                          <a:effectLst/>
                        </a:rPr>
                        <a:t>Is the process alive?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b="1">
                          <a:effectLst/>
                        </a:rPr>
                        <a:t>Restart</a:t>
                      </a:r>
                      <a:r>
                        <a:rPr lang="en-DK">
                          <a:effectLst/>
                        </a:rPr>
                        <a:t> the container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162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b="1" dirty="0">
                          <a:effectLst/>
                        </a:rPr>
                        <a:t>readinessProbe</a:t>
                      </a:r>
                      <a:endParaRPr lang="en-DK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dirty="0">
                          <a:effectLst/>
                        </a:rPr>
                        <a:t>Can it serve traffic </a:t>
                      </a:r>
                      <a:r>
                        <a:rPr lang="en-DK" i="1" dirty="0">
                          <a:effectLst/>
                        </a:rPr>
                        <a:t>right now</a:t>
                      </a:r>
                      <a:r>
                        <a:rPr lang="en-DK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b="1" dirty="0">
                          <a:effectLst/>
                        </a:rPr>
                        <a:t>Remove</a:t>
                      </a:r>
                      <a:r>
                        <a:rPr lang="en-DK" dirty="0">
                          <a:effectLst/>
                        </a:rPr>
                        <a:t> Pod from the Service's endpoints (no restart)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607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b="1" dirty="0">
                          <a:effectLst/>
                        </a:rPr>
                        <a:t>startupProbe</a:t>
                      </a:r>
                      <a:endParaRPr lang="en-DK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dirty="0">
                          <a:effectLst/>
                        </a:rPr>
                        <a:t>Has the app finished booting?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dirty="0">
                          <a:effectLst/>
                        </a:rPr>
                        <a:t>Hold off liveness/readiness until pass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260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570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67641-7707-1544-5A01-090E8A51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Orchestration – Health Probes for API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089C4-2822-00FD-0EF6-F0CDF15297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It’s best-practice for API-based containers to have health-probe endpoints:</a:t>
            </a:r>
          </a:p>
          <a:p>
            <a:endParaRPr lang="en-DK" dirty="0"/>
          </a:p>
          <a:p>
            <a:endParaRPr lang="en-D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F3D08C-9674-9AB3-1DCD-BA2F07EDD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080255"/>
              </p:ext>
            </p:extLst>
          </p:nvPr>
        </p:nvGraphicFramePr>
        <p:xfrm>
          <a:off x="1139884" y="2202212"/>
          <a:ext cx="10015796" cy="1440180"/>
        </p:xfrm>
        <a:graphic>
          <a:graphicData uri="http://schemas.openxmlformats.org/drawingml/2006/table">
            <a:tbl>
              <a:tblPr/>
              <a:tblGrid>
                <a:gridCol w="2255618">
                  <a:extLst>
                    <a:ext uri="{9D8B030D-6E8A-4147-A177-3AD203B41FA5}">
                      <a16:colId xmlns:a16="http://schemas.microsoft.com/office/drawing/2014/main" val="2220533658"/>
                    </a:ext>
                  </a:extLst>
                </a:gridCol>
                <a:gridCol w="1926306">
                  <a:extLst>
                    <a:ext uri="{9D8B030D-6E8A-4147-A177-3AD203B41FA5}">
                      <a16:colId xmlns:a16="http://schemas.microsoft.com/office/drawing/2014/main" val="1720144918"/>
                    </a:ext>
                  </a:extLst>
                </a:gridCol>
                <a:gridCol w="5833872">
                  <a:extLst>
                    <a:ext uri="{9D8B030D-6E8A-4147-A177-3AD203B41FA5}">
                      <a16:colId xmlns:a16="http://schemas.microsoft.com/office/drawing/2014/main" val="957501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DK" b="1">
                          <a:effectLst/>
                        </a:rPr>
                        <a:t>Endpoint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DK" b="1">
                          <a:effectLst/>
                        </a:rPr>
                        <a:t>Probe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DK" b="1" dirty="0">
                          <a:effectLst/>
                        </a:rPr>
                        <a:t>Should check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314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>
                          <a:effectLst/>
                          <a:latin typeface="ui-monospace"/>
                        </a:rPr>
                        <a:t>/healthz</a:t>
                      </a:r>
                      <a:endParaRPr lang="en-DK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>
                          <a:effectLst/>
                        </a:rPr>
                        <a:t>liveness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effectLst/>
                        </a:rPr>
                        <a:t>P</a:t>
                      </a:r>
                      <a:r>
                        <a:rPr lang="en-DK" dirty="0">
                          <a:effectLst/>
                        </a:rPr>
                        <a:t>rocess is alive and API port is open.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507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>
                          <a:effectLst/>
                          <a:latin typeface="ui-monospace"/>
                        </a:rPr>
                        <a:t>/readyz</a:t>
                      </a:r>
                      <a:endParaRPr lang="en-DK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>
                          <a:effectLst/>
                        </a:rPr>
                        <a:t>readiness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dirty="0">
                          <a:effectLst/>
                        </a:rPr>
                        <a:t>Operational dependencies are up &amp; we’re ready for traffic.</a:t>
                      </a:r>
                      <a:br>
                        <a:rPr lang="en-DK" dirty="0">
                          <a:effectLst/>
                        </a:rPr>
                      </a:br>
                      <a:r>
                        <a:rPr lang="en-DK" dirty="0">
                          <a:effectLst/>
                        </a:rPr>
                        <a:t>e.g. DB connection is up and migrations applied.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9360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9655EE-BB6D-53EA-5E40-04A2317B3336}"/>
              </a:ext>
            </a:extLst>
          </p:cNvPr>
          <p:cNvSpPr txBox="1"/>
          <p:nvPr/>
        </p:nvSpPr>
        <p:spPr>
          <a:xfrm>
            <a:off x="5803358" y="4528254"/>
            <a:ext cx="5550408" cy="1464231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TRAP: Liveness must NOT check dependencies</a:t>
            </a:r>
            <a:r>
              <a:rPr lang="en-GB" sz="2000" dirty="0"/>
              <a:t> like the database. If liveness depends on the DB and the DB is flaky, every replica would fail liveness and restart — a self-inflicted outage.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A1339C-F6E9-E19F-0D3E-8E7FA38DA83B}"/>
              </a:ext>
            </a:extLst>
          </p:cNvPr>
          <p:cNvSpPr txBox="1"/>
          <p:nvPr/>
        </p:nvSpPr>
        <p:spPr>
          <a:xfrm>
            <a:off x="987552" y="3803904"/>
            <a:ext cx="67893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b="1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Deployment.yaml</a:t>
            </a:r>
          </a:p>
          <a:p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readinessProbe:</a:t>
            </a:r>
          </a:p>
          <a:p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  httpGet:</a:t>
            </a:r>
          </a:p>
          <a:p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    path: /readyz</a:t>
            </a:r>
          </a:p>
          <a:p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    port: 8080</a:t>
            </a:r>
          </a:p>
          <a:p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  initialDelaySeconds: 5</a:t>
            </a:r>
          </a:p>
          <a:p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  periodSeconds: 5</a:t>
            </a:r>
          </a:p>
          <a:p>
            <a:endParaRPr lang="en-DK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03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1EC3-E2F2-1914-7C51-45BAF37B4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Orchestration – Resource limits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9A173-EDA6-B17E-A116-AFB0DDA331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DK" dirty="0"/>
              <a:t>Kubernetes distributes and monitors Pods based on resource requests &amp; limits.</a:t>
            </a:r>
            <a:br>
              <a:rPr lang="en-DK" dirty="0"/>
            </a:br>
            <a:endParaRPr lang="en-DK" dirty="0"/>
          </a:p>
          <a:p>
            <a:r>
              <a:rPr lang="en-DK" b="1" dirty="0"/>
              <a:t>Request</a:t>
            </a:r>
            <a:r>
              <a:rPr lang="en-DK" dirty="0"/>
              <a:t>: De ressourcer Kubernetes lover din Pod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Garanterede ressource en Pod har til rådighed.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Afgør hvilken “node” din Pod startes på.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Hvis ingen node har nødvendige ressource </a:t>
            </a:r>
            <a:r>
              <a:rPr lang="en-DK" dirty="0">
                <a:sym typeface="Wingdings" pitchFamily="2" charset="2"/>
              </a:rPr>
              <a:t> Ingen Pod</a:t>
            </a:r>
            <a:br>
              <a:rPr lang="en-DK" dirty="0">
                <a:sym typeface="Wingdings" pitchFamily="2" charset="2"/>
              </a:rPr>
            </a:br>
            <a:endParaRPr lang="en-DK" dirty="0">
              <a:sym typeface="Wingdings" pitchFamily="2" charset="2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DK" b="1" dirty="0">
                <a:sym typeface="Wingdings" pitchFamily="2" charset="2"/>
              </a:rPr>
              <a:t>Limits:</a:t>
            </a:r>
            <a:r>
              <a:rPr lang="en-DK" dirty="0">
                <a:sym typeface="Wingdings" pitchFamily="2" charset="2"/>
              </a:rPr>
              <a:t> Regulering af din Pods ressourcer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>
                <a:sym typeface="Wingdings" pitchFamily="2" charset="2"/>
              </a:rPr>
              <a:t>Loft for ressourcer din Container ikke må overskride.</a:t>
            </a:r>
            <a:endParaRPr lang="en-DK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Beskyttelse imod “noisy neighbor” problemer.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Consequence: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Reach CPU limit </a:t>
            </a:r>
            <a:r>
              <a:rPr lang="en-DK" dirty="0">
                <a:sym typeface="Wingdings" pitchFamily="2" charset="2"/>
              </a:rPr>
              <a:t></a:t>
            </a:r>
            <a:r>
              <a:rPr lang="en-DK" dirty="0"/>
              <a:t> Throttled execution.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Reach RAM limit </a:t>
            </a:r>
            <a:r>
              <a:rPr lang="en-DK" dirty="0">
                <a:sym typeface="Wingdings" pitchFamily="2" charset="2"/>
              </a:rPr>
              <a:t></a:t>
            </a:r>
            <a:r>
              <a:rPr lang="en-DK" dirty="0"/>
              <a:t> </a:t>
            </a:r>
            <a:r>
              <a:rPr lang="en-DK" b="1" dirty="0"/>
              <a:t>OOM killed </a:t>
            </a:r>
            <a:r>
              <a:rPr lang="en-DK" dirty="0"/>
              <a:t>if exceed.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F6E410-9ECF-FE79-1CDD-676637A4A0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10" t="16450" r="20936" b="5456"/>
          <a:stretch>
            <a:fillRect/>
          </a:stretch>
        </p:blipFill>
        <p:spPr>
          <a:xfrm>
            <a:off x="7981173" y="2337030"/>
            <a:ext cx="3372593" cy="415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039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41868-EB45-50FC-5766-8A7FDECE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Exercise: Composite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70E38-5EFC-069A-BF89-7D5931C84C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Følg instrukser i øvelse </a:t>
            </a:r>
            <a:r>
              <a:rPr lang="en-DK" b="1" dirty="0"/>
              <a:t>5-composite-system</a:t>
            </a:r>
          </a:p>
          <a:p>
            <a:endParaRPr lang="en-DK" dirty="0"/>
          </a:p>
          <a:p>
            <a:r>
              <a:rPr lang="en-DK" dirty="0"/>
              <a:t>En Spring Boot + Postgres app, vi kender fra Workshop #1</a:t>
            </a:r>
            <a:br>
              <a:rPr lang="en-DK" dirty="0"/>
            </a:br>
            <a:endParaRPr lang="en-DK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Pushed til GitHub Container registry (ghcr.io):</a:t>
            </a:r>
            <a:br>
              <a:rPr lang="en-DK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ghcr.io</a:t>
            </a:r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notalib</a:t>
            </a:r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/workshop-containerisation/spring-</a:t>
            </a:r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postgres</a:t>
            </a:r>
            <a:endParaRPr lang="en-GB" dirty="0">
              <a:solidFill>
                <a:srgbClr val="005DE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DK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DK" dirty="0"/>
              <a:t>Opgave: 	Få vores Spring Boot backend til at snakke</a:t>
            </a:r>
            <a:br>
              <a:rPr lang="en-DK" dirty="0"/>
            </a:br>
            <a:r>
              <a:rPr lang="en-DK" dirty="0"/>
              <a:t>                	med en Postgres database i kubernetes</a:t>
            </a:r>
          </a:p>
        </p:txBody>
      </p:sp>
    </p:spTree>
    <p:extLst>
      <p:ext uri="{BB962C8B-B14F-4D97-AF65-F5344CB8AC3E}">
        <p14:creationId xmlns:p14="http://schemas.microsoft.com/office/powerpoint/2010/main" val="38670744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F031-EFF8-8F2A-D7DA-404C577FA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Komplekse systemer – Helm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A9DE6-A35A-D8F2-0F8A-68133F0FB4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Hvad hvis vi kunne pakke vores store fagsystemer til ét samlet versioneret release der kan køre i Kubernetes?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Og samtidig kunne ændre på konfigurationen når vi installerer det.</a:t>
            </a:r>
          </a:p>
          <a:p>
            <a:endParaRPr lang="en-DK" dirty="0"/>
          </a:p>
          <a:p>
            <a:r>
              <a:rPr lang="en-DK" dirty="0"/>
              <a:t>Det er her </a:t>
            </a:r>
            <a:r>
              <a:rPr lang="en-DK" b="1" dirty="0"/>
              <a:t>Helm Charts </a:t>
            </a:r>
            <a:r>
              <a:rPr lang="en-DK" dirty="0"/>
              <a:t>kommer ind, fokus for workshop #3.</a:t>
            </a:r>
          </a:p>
          <a:p>
            <a:pPr lvl="1"/>
            <a:r>
              <a:rPr lang="en-DK" dirty="0"/>
              <a:t>Helm charts packages all manifests for a complex system into a .zip file</a:t>
            </a:r>
          </a:p>
          <a:p>
            <a:pPr lvl="1"/>
            <a:r>
              <a:rPr lang="en-DK" dirty="0"/>
              <a:t>Helm charts expose configuration knobs instead of forcing you to edit raw YAML</a:t>
            </a:r>
          </a:p>
          <a:p>
            <a:endParaRPr lang="en-DK" dirty="0"/>
          </a:p>
          <a:p>
            <a:r>
              <a:rPr lang="en-DK" dirty="0">
                <a:solidFill>
                  <a:schemeClr val="tx1"/>
                </a:solidFill>
              </a:rPr>
              <a:t>Teaser til næste workshop:</a:t>
            </a:r>
            <a:r>
              <a:rPr lang="en-DK" dirty="0">
                <a:solidFill>
                  <a:srgbClr val="005DE0"/>
                </a:solidFill>
              </a:rPr>
              <a:t> Demo af DT-DIT Helm charts</a:t>
            </a:r>
          </a:p>
        </p:txBody>
      </p:sp>
    </p:spTree>
    <p:extLst>
      <p:ext uri="{BB962C8B-B14F-4D97-AF65-F5344CB8AC3E}">
        <p14:creationId xmlns:p14="http://schemas.microsoft.com/office/powerpoint/2010/main" val="17878438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C31F27-B13D-50DC-F363-EE9A52C623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DK" dirty="0"/>
              <a:t>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7DF13-2D40-344F-F512-2905785005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DK" dirty="0"/>
              <a:t>Extras</a:t>
            </a:r>
          </a:p>
        </p:txBody>
      </p:sp>
    </p:spTree>
    <p:extLst>
      <p:ext uri="{BB962C8B-B14F-4D97-AF65-F5344CB8AC3E}">
        <p14:creationId xmlns:p14="http://schemas.microsoft.com/office/powerpoint/2010/main" val="12916719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EFF76-B0ED-E0F5-1392-044B0569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StatefulSet &amp; DaemonSet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48290-1AC3-842B-70DE-8C7C60F4D0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b="1" dirty="0"/>
              <a:t>DaemonSet</a:t>
            </a:r>
          </a:p>
          <a:p>
            <a:pPr lvl="1"/>
            <a:r>
              <a:rPr lang="en-DK" dirty="0"/>
              <a:t>Deployment med garanti for at 1 Pod kører på hver node/maskine.</a:t>
            </a:r>
          </a:p>
          <a:p>
            <a:pPr lvl="1"/>
            <a:r>
              <a:rPr lang="en-DK" dirty="0"/>
              <a:t>Kan bruges til cluster-wide værktøjer der bør køre på alle noder i clusteren.</a:t>
            </a:r>
          </a:p>
          <a:p>
            <a:pPr lvl="1"/>
            <a:endParaRPr lang="en-DK" dirty="0"/>
          </a:p>
          <a:p>
            <a:r>
              <a:rPr lang="en-DK" b="1" dirty="0"/>
              <a:t>StatefulSet</a:t>
            </a:r>
          </a:p>
          <a:p>
            <a:pPr lvl="1"/>
            <a:r>
              <a:rPr lang="en-DK" dirty="0"/>
              <a:t>Et specifikt antal Pods, som hver får et unikt og persistent ID (såkaldt sticky Pod ID).</a:t>
            </a:r>
          </a:p>
          <a:p>
            <a:pPr lvl="1"/>
            <a:r>
              <a:rPr lang="en-DK" dirty="0"/>
              <a:t>Kan f.eks bruges til at et cluster af ens Pods, hvor de kan kende forskel på hinanden og få den samme storage mounted hver gang.</a:t>
            </a:r>
          </a:p>
          <a:p>
            <a:pPr lvl="1"/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5305666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BE94B-EAF7-E3C6-4C06-B6A093F34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Debugging Pods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C3B05-A533-6D64-223F-ACFEF714C8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3725" y="1690688"/>
            <a:ext cx="11215171" cy="4442517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https://kubernetes.io/docs/tasks/debug/debug-application/debug-running-pod/</a:t>
            </a:r>
            <a:endParaRPr lang="en-GB" dirty="0"/>
          </a:p>
          <a:p>
            <a:endParaRPr lang="en-GB" dirty="0"/>
          </a:p>
          <a:p>
            <a:r>
              <a:rPr lang="en-GB" dirty="0"/>
              <a:t>Debug a </a:t>
            </a:r>
            <a:r>
              <a:rPr lang="en-GB" i="1" dirty="0"/>
              <a:t>running</a:t>
            </a:r>
            <a:r>
              <a:rPr lang="en-GB" dirty="0"/>
              <a:t> Pod</a:t>
            </a:r>
            <a:endParaRPr lang="en-GB" sz="2000" dirty="0"/>
          </a:p>
          <a:p>
            <a:pPr marL="0" indent="0">
              <a:buNone/>
            </a:pPr>
            <a:r>
              <a:rPr lang="en-GB" sz="1800" b="0" i="0" dirty="0" err="1">
                <a:solidFill>
                  <a:srgbClr val="222222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1800" b="0" i="0" dirty="0">
                <a:solidFill>
                  <a:srgbClr val="222222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run pause --image</a:t>
            </a:r>
            <a:r>
              <a:rPr lang="en-GB" sz="1800" b="0" i="0" dirty="0">
                <a:solidFill>
                  <a:srgbClr val="666666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GB" sz="1800" b="0" i="0" dirty="0">
                <a:solidFill>
                  <a:srgbClr val="222222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registry.k8s.io/pause:3.1 --restart</a:t>
            </a:r>
            <a:r>
              <a:rPr lang="en-GB" sz="1800" b="0" i="0" dirty="0">
                <a:solidFill>
                  <a:srgbClr val="666666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GB" sz="1800" b="0" i="0" dirty="0">
                <a:solidFill>
                  <a:srgbClr val="222222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Never</a:t>
            </a:r>
            <a:br>
              <a:rPr lang="en-GB" sz="1800" b="0" i="0" dirty="0">
                <a:solidFill>
                  <a:srgbClr val="222222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GB" sz="1800" b="0" i="0" dirty="0">
                <a:solidFill>
                  <a:srgbClr val="222222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800" b="0" i="0" dirty="0" err="1">
                <a:solidFill>
                  <a:srgbClr val="222222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1800" b="0" i="0" dirty="0">
                <a:solidFill>
                  <a:srgbClr val="222222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debug -it pause --image</a:t>
            </a:r>
            <a:r>
              <a:rPr lang="en-GB" sz="1800" b="0" i="0" dirty="0">
                <a:solidFill>
                  <a:srgbClr val="666666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GB" sz="1800" b="0" i="0" dirty="0">
                <a:solidFill>
                  <a:srgbClr val="222222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busybox:1.28 --target</a:t>
            </a:r>
            <a:r>
              <a:rPr lang="en-GB" sz="1800" b="0" i="0" dirty="0">
                <a:solidFill>
                  <a:srgbClr val="666666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GB" sz="1800" b="0" i="0" dirty="0">
                <a:solidFill>
                  <a:schemeClr val="tx1"/>
                </a:solidFill>
                <a:effectLst/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pause</a:t>
            </a:r>
          </a:p>
          <a:p>
            <a:endParaRPr lang="en-GB" dirty="0">
              <a:solidFill>
                <a:srgbClr val="222222"/>
              </a:solidFill>
              <a:highlight>
                <a:srgbClr val="F8F8F8"/>
              </a:highlight>
              <a:latin typeface="SFMono-Regular"/>
            </a:endParaRPr>
          </a:p>
          <a:p>
            <a:r>
              <a:rPr lang="en-GB" dirty="0"/>
              <a:t>Debug a </a:t>
            </a:r>
            <a:r>
              <a:rPr lang="en-GB" i="1" dirty="0"/>
              <a:t>crashing</a:t>
            </a:r>
            <a:r>
              <a:rPr lang="en-GB" dirty="0"/>
              <a:t> Pod</a:t>
            </a:r>
            <a:endParaRPr lang="en-GB" sz="2000" dirty="0"/>
          </a:p>
          <a:p>
            <a:pPr marL="0" indent="0">
              <a:buNone/>
            </a:pPr>
            <a:r>
              <a:rPr lang="en-GB" sz="18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18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run --image=busybox:1.28 </a:t>
            </a:r>
            <a:r>
              <a:rPr lang="en-GB" sz="18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GB" sz="18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– false</a:t>
            </a:r>
            <a:br>
              <a:rPr lang="en-GB" sz="18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GB" sz="18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8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GB" sz="18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debug </a:t>
            </a:r>
            <a:r>
              <a:rPr lang="en-GB" sz="18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GB" sz="18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-it --copy-to=</a:t>
            </a:r>
            <a:r>
              <a:rPr lang="en-GB" sz="18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GB" sz="18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-debug --container=</a:t>
            </a:r>
            <a:r>
              <a:rPr lang="en-GB" sz="18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GB" sz="18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-- </a:t>
            </a:r>
            <a:r>
              <a:rPr lang="en-GB" sz="1800" dirty="0" err="1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sh</a:t>
            </a:r>
            <a:endParaRPr lang="en-GB" sz="1800" dirty="0">
              <a:highlight>
                <a:srgbClr val="D6ECCB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2938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CB12-88A0-0A98-5E4B-E2CE15A6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Test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AA16B-DA1F-4AB9-A24F-69C36CCA09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498181"/>
            <a:ext cx="5257800" cy="542373"/>
          </a:xfrm>
        </p:spPr>
        <p:txBody>
          <a:bodyPr>
            <a:normAutofit fontScale="85000" lnSpcReduction="10000"/>
          </a:bodyPr>
          <a:lstStyle/>
          <a:p>
            <a:r>
              <a:rPr lang="en-DK" dirty="0"/>
              <a:t>For debugging and playing around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DFBED-8495-040E-10C9-0F508B1422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HTTP debugging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nginx (port 80)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traefik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whoami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(port 80)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mendhak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/http-https-echo (ports 8080 &amp; 8443)</a:t>
            </a:r>
          </a:p>
          <a:p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b="1" dirty="0"/>
              <a:t>General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busybox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(very slim!)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wbitt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/network-multitool (:extra tag for additional tools)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nicolaka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netshoot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swiss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-army knife)</a:t>
            </a:r>
          </a:p>
        </p:txBody>
      </p:sp>
    </p:spTree>
    <p:extLst>
      <p:ext uri="{BB962C8B-B14F-4D97-AF65-F5344CB8AC3E}">
        <p14:creationId xmlns:p14="http://schemas.microsoft.com/office/powerpoint/2010/main" val="1435473304"/>
      </p:ext>
    </p:extLst>
  </p:cSld>
  <p:clrMapOvr>
    <a:masterClrMapping/>
  </p:clrMapOvr>
</p:sld>
</file>

<file path=ppt/theme/theme1.xml><?xml version="1.0" encoding="utf-8"?>
<a:theme xmlns:a="http://schemas.openxmlformats.org/drawingml/2006/main" name="Indhold">
  <a:themeElements>
    <a:clrScheme name="Varm blå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Nota.pptx" id="{F0FBB5BE-0601-4BE8-BA7C-1355AB977626}" vid="{81F92269-22DC-477F-91A0-1E1887A1027D}"/>
    </a:ext>
  </a:extLst>
</a:theme>
</file>

<file path=ppt/theme/theme2.xml><?xml version="1.0" encoding="utf-8"?>
<a:theme xmlns:a="http://schemas.openxmlformats.org/drawingml/2006/main" name="Pause og overgange">
  <a:themeElements>
    <a:clrScheme name="Nota 2">
      <a:dk1>
        <a:srgbClr val="383838"/>
      </a:dk1>
      <a:lt1>
        <a:srgbClr val="FFFFFF"/>
      </a:lt1>
      <a:dk2>
        <a:srgbClr val="44546A"/>
      </a:dk2>
      <a:lt2>
        <a:srgbClr val="E7E6E6"/>
      </a:lt2>
      <a:accent1>
        <a:srgbClr val="0074D9"/>
      </a:accent1>
      <a:accent2>
        <a:srgbClr val="C54D02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Nota</Template>
  <TotalTime>44579</TotalTime>
  <Words>3993</Words>
  <Application>Microsoft Macintosh PowerPoint</Application>
  <PresentationFormat>Widescreen</PresentationFormat>
  <Paragraphs>665</Paragraphs>
  <Slides>65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7" baseType="lpstr">
      <vt:lpstr>Arial</vt:lpstr>
      <vt:lpstr>Calibri</vt:lpstr>
      <vt:lpstr>Calibri Light</vt:lpstr>
      <vt:lpstr>Consolas</vt:lpstr>
      <vt:lpstr>Courier New</vt:lpstr>
      <vt:lpstr>inherit</vt:lpstr>
      <vt:lpstr>SFMono-Regular</vt:lpstr>
      <vt:lpstr>Times New Roman</vt:lpstr>
      <vt:lpstr>ui-monospace</vt:lpstr>
      <vt:lpstr>Wingdings</vt:lpstr>
      <vt:lpstr>Indhold</vt:lpstr>
      <vt:lpstr>Pause og overgange</vt:lpstr>
      <vt:lpstr>Kubernetes Workshop </vt:lpstr>
      <vt:lpstr>PowerPoint Presentation</vt:lpstr>
      <vt:lpstr>PowerPoint Presentation</vt:lpstr>
      <vt:lpstr>PowerPoint Presentation</vt:lpstr>
      <vt:lpstr>Container = Legoklods</vt:lpstr>
      <vt:lpstr>Containerization</vt:lpstr>
      <vt:lpstr>Docker vs Kubernetes (k8s)</vt:lpstr>
      <vt:lpstr>PowerPoint Presentation</vt:lpstr>
      <vt:lpstr>PowerPoint Presentation</vt:lpstr>
      <vt:lpstr>Docker Compose vs. Kubernetes</vt:lpstr>
      <vt:lpstr>Hvad er Kubernetes?</vt:lpstr>
      <vt:lpstr>Control Plane (“The Brain”) </vt:lpstr>
      <vt:lpstr>Worker Nodes (“The Muscle”)</vt:lpstr>
      <vt:lpstr>Kubernetes Cluster</vt:lpstr>
      <vt:lpstr>Kubernetes API</vt:lpstr>
      <vt:lpstr>Hvordan bruger man så Kubernetes?</vt:lpstr>
      <vt:lpstr>PowerPoint Presentation</vt:lpstr>
      <vt:lpstr>2. Demo – Smagsprøve på k8s</vt:lpstr>
      <vt:lpstr>Kubernetes Manifests (YAML)</vt:lpstr>
      <vt:lpstr>Namespaces</vt:lpstr>
      <vt:lpstr>What is a Pod?</vt:lpstr>
      <vt:lpstr>PowerPoint Presentation</vt:lpstr>
      <vt:lpstr>Pod manifest</vt:lpstr>
      <vt:lpstr>What is a Deployment?</vt:lpstr>
      <vt:lpstr>Deployment manifest</vt:lpstr>
      <vt:lpstr>PowerPoint Presentation</vt:lpstr>
      <vt:lpstr>Setup a local Kubernetes cluster</vt:lpstr>
      <vt:lpstr>Workshop Repo</vt:lpstr>
      <vt:lpstr>Exercise recap</vt:lpstr>
      <vt:lpstr>PowerPoint Presentation</vt:lpstr>
      <vt:lpstr>Manifest vs. Controller</vt:lpstr>
      <vt:lpstr>Core Kubernetes loop</vt:lpstr>
      <vt:lpstr>PowerPoint Presentation</vt:lpstr>
      <vt:lpstr>Kubectl commands</vt:lpstr>
      <vt:lpstr>Kubectl commands</vt:lpstr>
      <vt:lpstr>Kubectl commands</vt:lpstr>
      <vt:lpstr>Exec &amp; Logs</vt:lpstr>
      <vt:lpstr>Kubectl apply</vt:lpstr>
      <vt:lpstr>Kubernetes Tools</vt:lpstr>
      <vt:lpstr>PowerPoint Presentation</vt:lpstr>
      <vt:lpstr>PowerPoint Presentation</vt:lpstr>
      <vt:lpstr>Containerisation – The 12 factor app</vt:lpstr>
      <vt:lpstr>Volume Mounts</vt:lpstr>
      <vt:lpstr>Volume Mount – Example</vt:lpstr>
      <vt:lpstr>Environment variables</vt:lpstr>
      <vt:lpstr>PowerPoint Presentation</vt:lpstr>
      <vt:lpstr>Volume Mounts - Persistence</vt:lpstr>
      <vt:lpstr>PowerPoint Presentation</vt:lpstr>
      <vt:lpstr>PowerPoint Presentation</vt:lpstr>
      <vt:lpstr>Services</vt:lpstr>
      <vt:lpstr>Service - Manifest</vt:lpstr>
      <vt:lpstr>Services &amp; Ingress</vt:lpstr>
      <vt:lpstr>Expose a service</vt:lpstr>
      <vt:lpstr>PowerPoint Presentation</vt:lpstr>
      <vt:lpstr>PowerPoint Presentation</vt:lpstr>
      <vt:lpstr>Komplekse systemer</vt:lpstr>
      <vt:lpstr>Orchestration – Health Probes</vt:lpstr>
      <vt:lpstr>Orchestration – Health Probes for API</vt:lpstr>
      <vt:lpstr>Orchestration – Resource limits</vt:lpstr>
      <vt:lpstr>Exercise: Composite Systems</vt:lpstr>
      <vt:lpstr>Komplekse systemer – Helm</vt:lpstr>
      <vt:lpstr>PowerPoint Presentation</vt:lpstr>
      <vt:lpstr>StatefulSet &amp; DaemonSet</vt:lpstr>
      <vt:lpstr>Debugging Pods</vt:lpstr>
      <vt:lpstr>Test images</vt:lpstr>
    </vt:vector>
  </TitlesOfParts>
  <Company>Statens 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Henrik Østergaard</dc:creator>
  <cp:lastModifiedBy>Daniel Freiling</cp:lastModifiedBy>
  <cp:revision>308</cp:revision>
  <dcterms:created xsi:type="dcterms:W3CDTF">2021-06-21T11:45:03Z</dcterms:created>
  <dcterms:modified xsi:type="dcterms:W3CDTF">2026-06-15T08:32:40Z</dcterms:modified>
</cp:coreProperties>
</file>