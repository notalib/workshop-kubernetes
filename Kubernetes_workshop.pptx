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2" r:id="rId1"/>
    <p:sldMasterId id="2147483700" r:id="rId2"/>
  </p:sldMasterIdLst>
  <p:notesMasterIdLst>
    <p:notesMasterId r:id="rId68"/>
  </p:notesMasterIdLst>
  <p:sldIdLst>
    <p:sldId id="280" r:id="rId3"/>
    <p:sldId id="437" r:id="rId4"/>
    <p:sldId id="438" r:id="rId5"/>
    <p:sldId id="439" r:id="rId6"/>
    <p:sldId id="398" r:id="rId7"/>
    <p:sldId id="440" r:id="rId8"/>
    <p:sldId id="354" r:id="rId9"/>
    <p:sldId id="418" r:id="rId10"/>
    <p:sldId id="436" r:id="rId11"/>
    <p:sldId id="452" r:id="rId12"/>
    <p:sldId id="453" r:id="rId13"/>
    <p:sldId id="455" r:id="rId14"/>
    <p:sldId id="456" r:id="rId15"/>
    <p:sldId id="361" r:id="rId16"/>
    <p:sldId id="355" r:id="rId17"/>
    <p:sldId id="454" r:id="rId18"/>
    <p:sldId id="348" r:id="rId19"/>
    <p:sldId id="426" r:id="rId20"/>
    <p:sldId id="459" r:id="rId21"/>
    <p:sldId id="474" r:id="rId22"/>
    <p:sldId id="349" r:id="rId23"/>
    <p:sldId id="443" r:id="rId24"/>
    <p:sldId id="444" r:id="rId25"/>
    <p:sldId id="357" r:id="rId26"/>
    <p:sldId id="445" r:id="rId27"/>
    <p:sldId id="466" r:id="rId28"/>
    <p:sldId id="363" r:id="rId29"/>
    <p:sldId id="460" r:id="rId30"/>
    <p:sldId id="473" r:id="rId31"/>
    <p:sldId id="462" r:id="rId32"/>
    <p:sldId id="393" r:id="rId33"/>
    <p:sldId id="457" r:id="rId34"/>
    <p:sldId id="463" r:id="rId35"/>
    <p:sldId id="358" r:id="rId36"/>
    <p:sldId id="374" r:id="rId37"/>
    <p:sldId id="370" r:id="rId38"/>
    <p:sldId id="384" r:id="rId39"/>
    <p:sldId id="364" r:id="rId40"/>
    <p:sldId id="376" r:id="rId41"/>
    <p:sldId id="464" r:id="rId42"/>
    <p:sldId id="465" r:id="rId43"/>
    <p:sldId id="415" r:id="rId44"/>
    <p:sldId id="367" r:id="rId45"/>
    <p:sldId id="448" r:id="rId46"/>
    <p:sldId id="368" r:id="rId47"/>
    <p:sldId id="477" r:id="rId48"/>
    <p:sldId id="369" r:id="rId49"/>
    <p:sldId id="479" r:id="rId50"/>
    <p:sldId id="362" r:id="rId51"/>
    <p:sldId id="446" r:id="rId52"/>
    <p:sldId id="447" r:id="rId53"/>
    <p:sldId id="352" r:id="rId54"/>
    <p:sldId id="375" r:id="rId55"/>
    <p:sldId id="478" r:id="rId56"/>
    <p:sldId id="468" r:id="rId57"/>
    <p:sldId id="380" r:id="rId58"/>
    <p:sldId id="475" r:id="rId59"/>
    <p:sldId id="476" r:id="rId60"/>
    <p:sldId id="480" r:id="rId61"/>
    <p:sldId id="469" r:id="rId62"/>
    <p:sldId id="458" r:id="rId63"/>
    <p:sldId id="472" r:id="rId64"/>
    <p:sldId id="450" r:id="rId65"/>
    <p:sldId id="350" r:id="rId66"/>
    <p:sldId id="372" r:id="rId67"/>
  </p:sldIdLst>
  <p:sldSz cx="12192000" cy="6858000"/>
  <p:notesSz cx="6858000" cy="9144000"/>
  <p:defaultTextStyle>
    <a:defPPr>
      <a:defRPr lang="da-DK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C54D02"/>
    <a:srgbClr val="005DE0"/>
    <a:srgbClr val="0074D9"/>
    <a:srgbClr val="002E70"/>
    <a:srgbClr val="B8580A"/>
    <a:srgbClr val="F0FBFF"/>
    <a:srgbClr val="CAF0FE"/>
    <a:srgbClr val="FFFDEE"/>
    <a:srgbClr val="EEFBFA"/>
    <a:srgbClr val="0E706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346" autoAdjust="0"/>
    <p:restoredTop sz="87473"/>
  </p:normalViewPr>
  <p:slideViewPr>
    <p:cSldViewPr snapToGrid="0">
      <p:cViewPr varScale="1">
        <p:scale>
          <a:sx n="108" d="100"/>
          <a:sy n="108" d="100"/>
        </p:scale>
        <p:origin x="208" y="8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4.xml"/><Relationship Id="rId21" Type="http://schemas.openxmlformats.org/officeDocument/2006/relationships/slide" Target="slides/slide19.xml"/><Relationship Id="rId42" Type="http://schemas.openxmlformats.org/officeDocument/2006/relationships/slide" Target="slides/slide40.xml"/><Relationship Id="rId47" Type="http://schemas.openxmlformats.org/officeDocument/2006/relationships/slide" Target="slides/slide45.xml"/><Relationship Id="rId63" Type="http://schemas.openxmlformats.org/officeDocument/2006/relationships/slide" Target="slides/slide61.xml"/><Relationship Id="rId68" Type="http://schemas.openxmlformats.org/officeDocument/2006/relationships/notesMaster" Target="notesMasters/notesMaster1.xml"/><Relationship Id="rId7" Type="http://schemas.openxmlformats.org/officeDocument/2006/relationships/slide" Target="slides/slide5.xml"/><Relationship Id="rId71" Type="http://schemas.openxmlformats.org/officeDocument/2006/relationships/theme" Target="theme/theme1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9" Type="http://schemas.openxmlformats.org/officeDocument/2006/relationships/slide" Target="slides/slide27.xml"/><Relationship Id="rId11" Type="http://schemas.openxmlformats.org/officeDocument/2006/relationships/slide" Target="slides/slide9.xml"/><Relationship Id="rId24" Type="http://schemas.openxmlformats.org/officeDocument/2006/relationships/slide" Target="slides/slide22.xml"/><Relationship Id="rId32" Type="http://schemas.openxmlformats.org/officeDocument/2006/relationships/slide" Target="slides/slide30.xml"/><Relationship Id="rId37" Type="http://schemas.openxmlformats.org/officeDocument/2006/relationships/slide" Target="slides/slide35.xml"/><Relationship Id="rId40" Type="http://schemas.openxmlformats.org/officeDocument/2006/relationships/slide" Target="slides/slide38.xml"/><Relationship Id="rId45" Type="http://schemas.openxmlformats.org/officeDocument/2006/relationships/slide" Target="slides/slide43.xml"/><Relationship Id="rId53" Type="http://schemas.openxmlformats.org/officeDocument/2006/relationships/slide" Target="slides/slide51.xml"/><Relationship Id="rId58" Type="http://schemas.openxmlformats.org/officeDocument/2006/relationships/slide" Target="slides/slide56.xml"/><Relationship Id="rId66" Type="http://schemas.openxmlformats.org/officeDocument/2006/relationships/slide" Target="slides/slide64.xml"/><Relationship Id="rId5" Type="http://schemas.openxmlformats.org/officeDocument/2006/relationships/slide" Target="slides/slide3.xml"/><Relationship Id="rId61" Type="http://schemas.openxmlformats.org/officeDocument/2006/relationships/slide" Target="slides/slide59.xml"/><Relationship Id="rId19" Type="http://schemas.openxmlformats.org/officeDocument/2006/relationships/slide" Target="slides/slide1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slide" Target="slides/slide25.xml"/><Relationship Id="rId30" Type="http://schemas.openxmlformats.org/officeDocument/2006/relationships/slide" Target="slides/slide28.xml"/><Relationship Id="rId35" Type="http://schemas.openxmlformats.org/officeDocument/2006/relationships/slide" Target="slides/slide33.xml"/><Relationship Id="rId43" Type="http://schemas.openxmlformats.org/officeDocument/2006/relationships/slide" Target="slides/slide41.xml"/><Relationship Id="rId48" Type="http://schemas.openxmlformats.org/officeDocument/2006/relationships/slide" Target="slides/slide46.xml"/><Relationship Id="rId56" Type="http://schemas.openxmlformats.org/officeDocument/2006/relationships/slide" Target="slides/slide54.xml"/><Relationship Id="rId64" Type="http://schemas.openxmlformats.org/officeDocument/2006/relationships/slide" Target="slides/slide62.xml"/><Relationship Id="rId69" Type="http://schemas.openxmlformats.org/officeDocument/2006/relationships/presProps" Target="presProps.xml"/><Relationship Id="rId8" Type="http://schemas.openxmlformats.org/officeDocument/2006/relationships/slide" Target="slides/slide6.xml"/><Relationship Id="rId51" Type="http://schemas.openxmlformats.org/officeDocument/2006/relationships/slide" Target="slides/slide49.xml"/><Relationship Id="rId72" Type="http://schemas.openxmlformats.org/officeDocument/2006/relationships/tableStyles" Target="tableStyles.xml"/><Relationship Id="rId3" Type="http://schemas.openxmlformats.org/officeDocument/2006/relationships/slide" Target="slides/slide1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slide" Target="slides/slide23.xml"/><Relationship Id="rId33" Type="http://schemas.openxmlformats.org/officeDocument/2006/relationships/slide" Target="slides/slide31.xml"/><Relationship Id="rId38" Type="http://schemas.openxmlformats.org/officeDocument/2006/relationships/slide" Target="slides/slide36.xml"/><Relationship Id="rId46" Type="http://schemas.openxmlformats.org/officeDocument/2006/relationships/slide" Target="slides/slide44.xml"/><Relationship Id="rId59" Type="http://schemas.openxmlformats.org/officeDocument/2006/relationships/slide" Target="slides/slide57.xml"/><Relationship Id="rId67" Type="http://schemas.openxmlformats.org/officeDocument/2006/relationships/slide" Target="slides/slide65.xml"/><Relationship Id="rId20" Type="http://schemas.openxmlformats.org/officeDocument/2006/relationships/slide" Target="slides/slide18.xml"/><Relationship Id="rId41" Type="http://schemas.openxmlformats.org/officeDocument/2006/relationships/slide" Target="slides/slide39.xml"/><Relationship Id="rId54" Type="http://schemas.openxmlformats.org/officeDocument/2006/relationships/slide" Target="slides/slide52.xml"/><Relationship Id="rId62" Type="http://schemas.openxmlformats.org/officeDocument/2006/relationships/slide" Target="slides/slide60.xml"/><Relationship Id="rId7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slide" Target="slides/slide26.xml"/><Relationship Id="rId36" Type="http://schemas.openxmlformats.org/officeDocument/2006/relationships/slide" Target="slides/slide34.xml"/><Relationship Id="rId49" Type="http://schemas.openxmlformats.org/officeDocument/2006/relationships/slide" Target="slides/slide47.xml"/><Relationship Id="rId57" Type="http://schemas.openxmlformats.org/officeDocument/2006/relationships/slide" Target="slides/slide55.xml"/><Relationship Id="rId10" Type="http://schemas.openxmlformats.org/officeDocument/2006/relationships/slide" Target="slides/slide8.xml"/><Relationship Id="rId31" Type="http://schemas.openxmlformats.org/officeDocument/2006/relationships/slide" Target="slides/slide29.xml"/><Relationship Id="rId44" Type="http://schemas.openxmlformats.org/officeDocument/2006/relationships/slide" Target="slides/slide42.xml"/><Relationship Id="rId52" Type="http://schemas.openxmlformats.org/officeDocument/2006/relationships/slide" Target="slides/slide50.xml"/><Relationship Id="rId60" Type="http://schemas.openxmlformats.org/officeDocument/2006/relationships/slide" Target="slides/slide58.xml"/><Relationship Id="rId65" Type="http://schemas.openxmlformats.org/officeDocument/2006/relationships/slide" Target="slides/slide63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39" Type="http://schemas.openxmlformats.org/officeDocument/2006/relationships/slide" Target="slides/slide37.xml"/><Relationship Id="rId34" Type="http://schemas.openxmlformats.org/officeDocument/2006/relationships/slide" Target="slides/slide32.xml"/><Relationship Id="rId50" Type="http://schemas.openxmlformats.org/officeDocument/2006/relationships/slide" Target="slides/slide48.xml"/><Relationship Id="rId55" Type="http://schemas.openxmlformats.org/officeDocument/2006/relationships/slide" Target="slides/slide5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DK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AEA5A75-67BE-1240-A263-49959E2F2A17}" type="datetimeFigureOut">
              <a:rPr lang="en-DK" smtClean="0"/>
              <a:t>14/06/2026</a:t>
            </a:fld>
            <a:endParaRPr lang="en-DK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DK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DK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DK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C63D1AB-2AFE-0B44-89C4-90D137365F76}" type="slidenum">
              <a:rPr lang="en-DK" smtClean="0"/>
              <a:t>‹#›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284214945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3" Type="http://schemas.openxmlformats.org/officeDocument/2006/relationships/hyperlink" Target="https://k8s.io/examples/application/nginx-with-request.yaml" TargetMode="External"/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3" Type="http://schemas.openxmlformats.org/officeDocument/2006/relationships/hyperlink" Target="https://kubernetes.io/docs/tutorials/stateless-application/guestbook/" TargetMode="External"/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1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DK" dirty="0"/>
              <a:t>Resumé</a:t>
            </a:r>
          </a:p>
          <a:p>
            <a:endParaRPr lang="en-DK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000365D-EE85-004B-9118-EED97F4871F7}" type="slidenum">
              <a:rPr lang="en-DK" smtClean="0"/>
              <a:t>5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50680054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DK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000365D-EE85-004B-9118-EED97F4871F7}" type="slidenum">
              <a:rPr lang="en-DK" smtClean="0"/>
              <a:t>6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295217525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DK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000365D-EE85-004B-9118-EED97F4871F7}" type="slidenum">
              <a:rPr lang="en-DK" smtClean="0"/>
              <a:t>7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63009787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DK" dirty="0"/>
              <a:t>Reminder fra sidste workshop. Imperative vs. Declarative.</a:t>
            </a:r>
          </a:p>
          <a:p>
            <a:endParaRPr lang="en-DK" dirty="0"/>
          </a:p>
          <a:p>
            <a:r>
              <a:rPr lang="en-DK" dirty="0"/>
              <a:t>Både D</a:t>
            </a:r>
            <a:r>
              <a:rPr lang="en-GB" dirty="0"/>
              <a:t>o</a:t>
            </a:r>
            <a:r>
              <a:rPr lang="en-DK" dirty="0"/>
              <a:t>cker Compose og Kubernetes har declarative som fokus.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C63D1AB-2AFE-0B44-89C4-90D137365F76}" type="slidenum">
              <a:rPr lang="en-DK" smtClean="0"/>
              <a:t>9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294677273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DK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C63D1AB-2AFE-0B44-89C4-90D137365F76}" type="slidenum">
              <a:rPr lang="en-DK" smtClean="0"/>
              <a:t>10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365219115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DK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C63D1AB-2AFE-0B44-89C4-90D137365F76}" type="slidenum">
              <a:rPr lang="en-DK" smtClean="0"/>
              <a:t>13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220766250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DK" dirty="0"/>
              <a:t>Lige nu kører alt dette på jeres lokale maskine </a:t>
            </a:r>
            <a:r>
              <a:rPr lang="en-DK" dirty="0">
                <a:sym typeface="Wingdings" pitchFamily="2" charset="2"/>
              </a:rPr>
              <a:t></a:t>
            </a:r>
            <a:r>
              <a:rPr lang="en-DK" dirty="0"/>
              <a:t> agerer hjerne og muskel på én gang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C63D1AB-2AFE-0B44-89C4-90D137365F76}" type="slidenum">
              <a:rPr lang="en-DK" smtClean="0"/>
              <a:t>14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339864759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DK" dirty="0"/>
              <a:t>See API calls with -v=8</a:t>
            </a:r>
          </a:p>
          <a:p>
            <a:endParaRPr lang="en-DK" dirty="0"/>
          </a:p>
          <a:p>
            <a:r>
              <a:rPr lang="en-DK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kubectl get pods -v=8 </a:t>
            </a:r>
          </a:p>
          <a:p>
            <a:endParaRPr lang="en-DK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DK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kubectl create namespace test --dry-run=server -v=8 </a:t>
            </a:r>
            <a:endParaRPr lang="en-DK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C63D1AB-2AFE-0B44-89C4-90D137365F76}" type="slidenum">
              <a:rPr lang="en-DK" smtClean="0"/>
              <a:t>16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3567307146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atinLnBrk="0"/>
            <a:r>
              <a:rPr lang="en-GB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kubernetes</a:t>
            </a:r>
            <a:r>
              <a:rPr lang="en-GB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-workshop/</a:t>
            </a:r>
            <a:r>
              <a:rPr lang="en-GB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kubectl</a:t>
            </a:r>
            <a:r>
              <a:rPr lang="en-GB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-demo/</a:t>
            </a:r>
            <a:r>
              <a:rPr lang="en-GB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README.md</a:t>
            </a:r>
            <a:endParaRPr lang="en-GB" sz="120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endParaRPr lang="en-DK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000365D-EE85-004B-9118-EED97F4871F7}" type="slidenum">
              <a:rPr lang="en-DK" smtClean="0"/>
              <a:t>18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311535275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DK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000365D-EE85-004B-9118-EED97F4871F7}" type="slidenum">
              <a:rPr lang="en-DK" smtClean="0"/>
              <a:t>21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2347947066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DK" sz="1200" dirty="0"/>
              <a:t>En Pod der indeholder en </a:t>
            </a:r>
            <a:r>
              <a:rPr lang="en-DK" sz="1200" b="1" dirty="0"/>
              <a:t>App</a:t>
            </a:r>
            <a:r>
              <a:rPr lang="en-DK" sz="1200" dirty="0"/>
              <a:t> container, samt en </a:t>
            </a:r>
            <a:r>
              <a:rPr lang="en-DK" sz="1200" b="1" dirty="0"/>
              <a:t>Sidecar</a:t>
            </a:r>
            <a:r>
              <a:rPr lang="en-DK" sz="1200" dirty="0"/>
              <a:t> container.</a:t>
            </a:r>
          </a:p>
          <a:p>
            <a:r>
              <a:rPr lang="en-DK" sz="1200" dirty="0"/>
              <a:t>De har samme interne IP - deler porte &amp; ressourcer, men som udgangspunkt </a:t>
            </a:r>
            <a:r>
              <a:rPr lang="en-DK" sz="1200" b="1" dirty="0"/>
              <a:t>ikke filsystem.</a:t>
            </a:r>
            <a:endParaRPr lang="en-DK" sz="1200" dirty="0"/>
          </a:p>
          <a:p>
            <a:endParaRPr lang="en-DK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C63D1AB-2AFE-0B44-89C4-90D137365F76}" type="slidenum">
              <a:rPr lang="en-DK" smtClean="0"/>
              <a:t>22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2048290049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DK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C63D1AB-2AFE-0B44-89C4-90D137365F76}" type="slidenum">
              <a:rPr lang="en-DK" smtClean="0"/>
              <a:t>25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135379737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DK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000365D-EE85-004B-9118-EED97F4871F7}" type="slidenum">
              <a:rPr lang="en-DK" smtClean="0"/>
              <a:t>27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3189274897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sz="1200" dirty="0"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  <a:hlinkClick r:id="rId3"/>
              </a:rPr>
              <a:t>https://k8s.io/examples/application/nginx-with-request.yaml</a:t>
            </a:r>
            <a:r>
              <a:rPr lang="en-GB" sz="1200" dirty="0"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</a:p>
          <a:p>
            <a:endParaRPr lang="en-DK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C63D1AB-2AFE-0B44-89C4-90D137365F76}" type="slidenum">
              <a:rPr lang="en-DK" smtClean="0"/>
              <a:t>38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63584983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DK" dirty="0"/>
          </a:p>
          <a:p>
            <a:r>
              <a:rPr lang="en-GB" dirty="0"/>
              <a:t>k</a:t>
            </a:r>
            <a:r>
              <a:rPr lang="en-DK" dirty="0"/>
              <a:t>ubectl krew install ctx / ns </a:t>
            </a:r>
            <a:r>
              <a:rPr lang="en-DK" dirty="0">
                <a:sym typeface="Wingdings" pitchFamily="2" charset="2"/>
              </a:rPr>
              <a:t> Now you have </a:t>
            </a:r>
            <a:r>
              <a:rPr lang="en-GB" dirty="0">
                <a:sym typeface="Wingdings" pitchFamily="2" charset="2"/>
              </a:rPr>
              <a:t>k</a:t>
            </a:r>
            <a:r>
              <a:rPr lang="en-DK" dirty="0"/>
              <a:t>ubectl ctx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C63D1AB-2AFE-0B44-89C4-90D137365F76}" type="slidenum">
              <a:rPr lang="en-DK" smtClean="0"/>
              <a:t>39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1699294202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DK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000365D-EE85-004B-9118-EED97F4871F7}" type="slidenum">
              <a:rPr lang="en-DK" smtClean="0"/>
              <a:t>43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1170957253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DK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000365D-EE85-004B-9118-EED97F4871F7}" type="slidenum">
              <a:rPr lang="en-DK" smtClean="0"/>
              <a:t>45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2370273107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DK" sz="1200" dirty="0"/>
              <a:t>Se på eksempel i Rancher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DK" sz="1200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sz="1200" dirty="0"/>
              <a:t>https://</a:t>
            </a:r>
            <a:r>
              <a:rPr lang="en-GB" sz="1200" dirty="0" err="1"/>
              <a:t>kubernetes.io</a:t>
            </a:r>
            <a:r>
              <a:rPr lang="en-GB" sz="1200" dirty="0"/>
              <a:t>/docs/concepts/services-networking/</a:t>
            </a:r>
            <a:r>
              <a:rPr lang="en-GB" sz="1200" dirty="0" err="1"/>
              <a:t>dns</a:t>
            </a:r>
            <a:r>
              <a:rPr lang="en-GB" sz="1200" dirty="0"/>
              <a:t>-pod-service/#namespaces-of-services</a:t>
            </a:r>
            <a:endParaRPr lang="en-DK" sz="120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C63D1AB-2AFE-0B44-89C4-90D137365F76}" type="slidenum">
              <a:rPr lang="en-DK" smtClean="0"/>
              <a:t>52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3343230458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DK" dirty="0"/>
              <a:t>Eksempel:</a:t>
            </a:r>
          </a:p>
          <a:p>
            <a:pPr lvl="1"/>
            <a:r>
              <a:rPr lang="en-GB" dirty="0">
                <a:hlinkClick r:id="rId3"/>
              </a:rPr>
              <a:t>https://kubernetes.io/docs/tutorials/stateless-application/guestbook/</a:t>
            </a:r>
            <a:r>
              <a:rPr lang="en-GB" dirty="0"/>
              <a:t> </a:t>
            </a:r>
          </a:p>
          <a:p>
            <a:endParaRPr lang="en-DK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C63D1AB-2AFE-0B44-89C4-90D137365F76}" type="slidenum">
              <a:rPr lang="en-DK" smtClean="0"/>
              <a:t>56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2569803858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w</a:t>
            </a:r>
            <a:r>
              <a:rPr lang="en-DK" dirty="0"/>
              <a:t>orkshop-kubernetes/helm-teaser/README.md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C63D1AB-2AFE-0B44-89C4-90D137365F76}" type="slidenum">
              <a:rPr lang="en-DK" smtClean="0"/>
              <a:t>61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292277327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https://</a:t>
            </a:r>
            <a:r>
              <a:rPr lang="en-GB" dirty="0" err="1"/>
              <a:t>hub.docker.com</a:t>
            </a:r>
            <a:r>
              <a:rPr lang="en-GB" dirty="0"/>
              <a:t>/r/</a:t>
            </a:r>
            <a:r>
              <a:rPr lang="en-GB" dirty="0" err="1"/>
              <a:t>wbitt</a:t>
            </a:r>
            <a:r>
              <a:rPr lang="en-GB" dirty="0"/>
              <a:t>/network-multitool</a:t>
            </a:r>
          </a:p>
          <a:p>
            <a:endParaRPr lang="en-GB" dirty="0"/>
          </a:p>
          <a:p>
            <a:r>
              <a:rPr lang="en-GB" dirty="0"/>
              <a:t>https://</a:t>
            </a:r>
            <a:r>
              <a:rPr lang="en-GB" dirty="0" err="1"/>
              <a:t>hub.docker.com</a:t>
            </a:r>
            <a:r>
              <a:rPr lang="en-GB" dirty="0"/>
              <a:t>/r/</a:t>
            </a:r>
            <a:r>
              <a:rPr lang="en-GB" dirty="0" err="1"/>
              <a:t>nicolaka</a:t>
            </a:r>
            <a:r>
              <a:rPr lang="en-GB" dirty="0"/>
              <a:t>/</a:t>
            </a:r>
            <a:r>
              <a:rPr lang="en-GB" dirty="0" err="1"/>
              <a:t>netshoot</a:t>
            </a:r>
            <a:endParaRPr lang="en-DK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C63D1AB-2AFE-0B44-89C4-90D137365F76}" type="slidenum">
              <a:rPr lang="en-DK" smtClean="0"/>
              <a:t>65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355189236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emf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svg"/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elkomst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el 5"/>
          <p:cNvSpPr>
            <a:spLocks noGrp="1"/>
          </p:cNvSpPr>
          <p:nvPr>
            <p:ph type="title" hasCustomPrompt="1"/>
          </p:nvPr>
        </p:nvSpPr>
        <p:spPr/>
        <p:txBody>
          <a:bodyPr>
            <a:normAutofit/>
          </a:bodyPr>
          <a:lstStyle>
            <a:lvl1pPr>
              <a:defRPr sz="6000">
                <a:solidFill>
                  <a:srgbClr val="383838"/>
                </a:solidFill>
              </a:defRPr>
            </a:lvl1pPr>
          </a:lstStyle>
          <a:p>
            <a:r>
              <a:rPr lang="da-DK" dirty="0"/>
              <a:t>Overskrift</a:t>
            </a:r>
          </a:p>
        </p:txBody>
      </p:sp>
      <p:sp>
        <p:nvSpPr>
          <p:cNvPr id="4" name="Pladsholder til tekst 3">
            <a:extLst>
              <a:ext uri="{FF2B5EF4-FFF2-40B4-BE49-F238E27FC236}">
                <a16:creationId xmlns:a16="http://schemas.microsoft.com/office/drawing/2014/main" id="{3D6322BA-113E-4248-84BD-F20CA49A14F4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838200" y="1498181"/>
            <a:ext cx="4398963" cy="542373"/>
          </a:xfrm>
        </p:spPr>
        <p:txBody>
          <a:bodyPr>
            <a:normAutofit/>
          </a:bodyPr>
          <a:lstStyle>
            <a:lvl1pPr marL="0" indent="0">
              <a:buNone/>
              <a:defRPr sz="3200" b="0" i="0">
                <a:solidFill>
                  <a:srgbClr val="C54D02"/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</a:lstStyle>
          <a:p>
            <a:pPr lvl="0"/>
            <a:r>
              <a:rPr lang="da-DK" dirty="0"/>
              <a:t>Undertitel</a:t>
            </a:r>
          </a:p>
        </p:txBody>
      </p:sp>
      <p:sp>
        <p:nvSpPr>
          <p:cNvPr id="8" name="Pladsholder til tekst 7">
            <a:extLst>
              <a:ext uri="{FF2B5EF4-FFF2-40B4-BE49-F238E27FC236}">
                <a16:creationId xmlns:a16="http://schemas.microsoft.com/office/drawing/2014/main" id="{A419BB4A-8E47-C046-AB2F-15C740452608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838200" y="2300575"/>
            <a:ext cx="10515600" cy="3705909"/>
          </a:xfrm>
        </p:spPr>
        <p:txBody>
          <a:bodyPr>
            <a:normAutofit/>
          </a:bodyPr>
          <a:lstStyle>
            <a:lvl1pPr marL="0" indent="0">
              <a:buNone/>
              <a:defRPr sz="2400">
                <a:solidFill>
                  <a:srgbClr val="383838"/>
                </a:solidFill>
              </a:defRPr>
            </a:lvl1pPr>
          </a:lstStyle>
          <a:p>
            <a:pPr lvl="0"/>
            <a:r>
              <a:rPr lang="da-DK" dirty="0"/>
              <a:t>Introduktionstekst.</a:t>
            </a:r>
          </a:p>
          <a:p>
            <a:pPr lvl="0"/>
            <a:r>
              <a:rPr lang="da-DK" dirty="0"/>
              <a:t>Dagens program kan også indsættes her. </a:t>
            </a:r>
          </a:p>
        </p:txBody>
      </p:sp>
    </p:spTree>
    <p:extLst>
      <p:ext uri="{BB962C8B-B14F-4D97-AF65-F5344CB8AC3E}">
        <p14:creationId xmlns:p14="http://schemas.microsoft.com/office/powerpoint/2010/main" val="199080243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unktopstilli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1">
            <a:extLst>
              <a:ext uri="{FF2B5EF4-FFF2-40B4-BE49-F238E27FC236}">
                <a16:creationId xmlns:a16="http://schemas.microsoft.com/office/drawing/2014/main" id="{88E3407F-DFCF-8B4C-A4AF-3EDD6899B9D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8200" y="365125"/>
            <a:ext cx="10515600" cy="1325563"/>
          </a:xfrm>
        </p:spPr>
        <p:txBody>
          <a:bodyPr/>
          <a:lstStyle>
            <a:lvl1pPr>
              <a:defRPr>
                <a:solidFill>
                  <a:srgbClr val="C54D02"/>
                </a:solidFill>
              </a:defRPr>
            </a:lvl1pPr>
          </a:lstStyle>
          <a:p>
            <a:r>
              <a:rPr lang="da-DK" dirty="0"/>
              <a:t>Klik for at redigere i master</a:t>
            </a:r>
          </a:p>
        </p:txBody>
      </p:sp>
      <p:sp>
        <p:nvSpPr>
          <p:cNvPr id="6" name="Pladsholder til tekst 5">
            <a:extLst>
              <a:ext uri="{FF2B5EF4-FFF2-40B4-BE49-F238E27FC236}">
                <a16:creationId xmlns:a16="http://schemas.microsoft.com/office/drawing/2014/main" id="{5E1B61AE-EC69-6B45-9C53-AA716FDB84A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838132" y="1690688"/>
            <a:ext cx="10515600" cy="4442517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</a:lstStyle>
          <a:p>
            <a:pPr lvl="0"/>
            <a:r>
              <a:rPr lang="da-DK" dirty="0"/>
              <a:t>Niveau 1</a:t>
            </a:r>
          </a:p>
          <a:p>
            <a:pPr lvl="1"/>
            <a:r>
              <a:rPr lang="da-DK" dirty="0"/>
              <a:t>Niveau 2</a:t>
            </a:r>
          </a:p>
          <a:p>
            <a:pPr lvl="2"/>
            <a:r>
              <a:rPr lang="da-DK" dirty="0"/>
              <a:t>Niveau 3</a:t>
            </a:r>
          </a:p>
        </p:txBody>
      </p:sp>
    </p:spTree>
    <p:extLst>
      <p:ext uri="{BB962C8B-B14F-4D97-AF65-F5344CB8AC3E}">
        <p14:creationId xmlns:p14="http://schemas.microsoft.com/office/powerpoint/2010/main" val="210249009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unktopstilling sammenligning vertik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1">
            <a:extLst>
              <a:ext uri="{FF2B5EF4-FFF2-40B4-BE49-F238E27FC236}">
                <a16:creationId xmlns:a16="http://schemas.microsoft.com/office/drawing/2014/main" id="{88E3407F-DFCF-8B4C-A4AF-3EDD6899B9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da-DK"/>
              <a:t>Klik for at redigere i master</a:t>
            </a:r>
          </a:p>
        </p:txBody>
      </p:sp>
      <p:sp>
        <p:nvSpPr>
          <p:cNvPr id="6" name="Pladsholder til tekst 5">
            <a:extLst>
              <a:ext uri="{FF2B5EF4-FFF2-40B4-BE49-F238E27FC236}">
                <a16:creationId xmlns:a16="http://schemas.microsoft.com/office/drawing/2014/main" id="{5E1B61AE-EC69-6B45-9C53-AA716FDB84A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838132" y="1708917"/>
            <a:ext cx="10515600" cy="467692"/>
          </a:xfrm>
        </p:spPr>
        <p:txBody>
          <a:bodyPr/>
          <a:lstStyle>
            <a:lvl1pPr marL="0" indent="0">
              <a:buNone/>
              <a:defRPr sz="2400" b="1"/>
            </a:lvl1pPr>
          </a:lstStyle>
          <a:p>
            <a:pPr lvl="0"/>
            <a:r>
              <a:rPr lang="da-DK" dirty="0"/>
              <a:t>Overskrift</a:t>
            </a:r>
          </a:p>
        </p:txBody>
      </p:sp>
      <p:sp>
        <p:nvSpPr>
          <p:cNvPr id="5" name="Pladsholder til tekst 4">
            <a:extLst>
              <a:ext uri="{FF2B5EF4-FFF2-40B4-BE49-F238E27FC236}">
                <a16:creationId xmlns:a16="http://schemas.microsoft.com/office/drawing/2014/main" id="{9975FEBE-BC5F-6942-83A3-2388470F8A90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838132" y="2176608"/>
            <a:ext cx="10515668" cy="1411217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</a:lstStyle>
          <a:p>
            <a:pPr lvl="0"/>
            <a:r>
              <a:rPr lang="da-DK" dirty="0"/>
              <a:t>Klik for at redigere teksttypografierne i masteren</a:t>
            </a:r>
          </a:p>
          <a:p>
            <a:pPr lvl="1"/>
            <a:r>
              <a:rPr lang="da-DK" dirty="0"/>
              <a:t>Andet niveau</a:t>
            </a:r>
          </a:p>
          <a:p>
            <a:pPr lvl="2"/>
            <a:r>
              <a:rPr lang="da-DK" dirty="0"/>
              <a:t>Tredje niveau</a:t>
            </a:r>
          </a:p>
        </p:txBody>
      </p:sp>
      <p:sp>
        <p:nvSpPr>
          <p:cNvPr id="8" name="Pladsholder til tekst 5">
            <a:extLst>
              <a:ext uri="{FF2B5EF4-FFF2-40B4-BE49-F238E27FC236}">
                <a16:creationId xmlns:a16="http://schemas.microsoft.com/office/drawing/2014/main" id="{31705999-6D0C-A44B-BFD2-BFCCF8B1A125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838132" y="3722575"/>
            <a:ext cx="10515600" cy="467692"/>
          </a:xfrm>
        </p:spPr>
        <p:txBody>
          <a:bodyPr/>
          <a:lstStyle>
            <a:lvl1pPr marL="0" indent="0">
              <a:buNone/>
              <a:defRPr sz="2400" b="1"/>
            </a:lvl1pPr>
          </a:lstStyle>
          <a:p>
            <a:pPr lvl="0"/>
            <a:r>
              <a:rPr lang="da-DK" dirty="0"/>
              <a:t>Overskrift</a:t>
            </a:r>
          </a:p>
        </p:txBody>
      </p:sp>
      <p:sp>
        <p:nvSpPr>
          <p:cNvPr id="10" name="Pladsholder til tekst 4">
            <a:extLst>
              <a:ext uri="{FF2B5EF4-FFF2-40B4-BE49-F238E27FC236}">
                <a16:creationId xmlns:a16="http://schemas.microsoft.com/office/drawing/2014/main" id="{0B53754C-0308-C645-A05E-241A7A13AF13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838132" y="4190266"/>
            <a:ext cx="10515668" cy="1490649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</a:lstStyle>
          <a:p>
            <a:pPr lvl="0"/>
            <a:r>
              <a:rPr lang="da-DK" dirty="0"/>
              <a:t>Klik for at redigere teksttypografierne i masteren</a:t>
            </a:r>
          </a:p>
          <a:p>
            <a:pPr lvl="1"/>
            <a:r>
              <a:rPr lang="da-DK" dirty="0"/>
              <a:t>Andet niveau</a:t>
            </a:r>
          </a:p>
          <a:p>
            <a:pPr lvl="2"/>
            <a:r>
              <a:rPr lang="da-DK" dirty="0"/>
              <a:t>Tredje niveau</a:t>
            </a:r>
          </a:p>
        </p:txBody>
      </p:sp>
    </p:spTree>
    <p:extLst>
      <p:ext uri="{BB962C8B-B14F-4D97-AF65-F5344CB8AC3E}">
        <p14:creationId xmlns:p14="http://schemas.microsoft.com/office/powerpoint/2010/main" val="417414468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unktopstilling sammenligning horisont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da-DK" dirty="0"/>
              <a:t>Klik for at redigere i master</a:t>
            </a:r>
          </a:p>
        </p:txBody>
      </p:sp>
      <p:sp>
        <p:nvSpPr>
          <p:cNvPr id="8" name="Pladsholder til tekst 5">
            <a:extLst>
              <a:ext uri="{FF2B5EF4-FFF2-40B4-BE49-F238E27FC236}">
                <a16:creationId xmlns:a16="http://schemas.microsoft.com/office/drawing/2014/main" id="{3E0F637B-5CDC-F543-BC89-0C1A94818B61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838132" y="1708911"/>
            <a:ext cx="5181669" cy="467692"/>
          </a:xfrm>
        </p:spPr>
        <p:txBody>
          <a:bodyPr/>
          <a:lstStyle>
            <a:lvl1pPr marL="0" indent="0">
              <a:buNone/>
              <a:defRPr sz="2400" b="1"/>
            </a:lvl1pPr>
          </a:lstStyle>
          <a:p>
            <a:pPr lvl="0"/>
            <a:r>
              <a:rPr lang="da-DK" dirty="0"/>
              <a:t>Overskrift</a:t>
            </a:r>
          </a:p>
        </p:txBody>
      </p:sp>
      <p:sp>
        <p:nvSpPr>
          <p:cNvPr id="11" name="Pladsholder til tekst 5">
            <a:extLst>
              <a:ext uri="{FF2B5EF4-FFF2-40B4-BE49-F238E27FC236}">
                <a16:creationId xmlns:a16="http://schemas.microsoft.com/office/drawing/2014/main" id="{77340784-F8E6-FC4D-9E0D-3AEA5C177624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172199" y="1708911"/>
            <a:ext cx="5181669" cy="467692"/>
          </a:xfrm>
        </p:spPr>
        <p:txBody>
          <a:bodyPr/>
          <a:lstStyle>
            <a:lvl1pPr marL="0" indent="0">
              <a:buNone/>
              <a:defRPr sz="2400" b="1"/>
            </a:lvl1pPr>
          </a:lstStyle>
          <a:p>
            <a:pPr lvl="0"/>
            <a:r>
              <a:rPr lang="da-DK" dirty="0"/>
              <a:t>Overskrift</a:t>
            </a:r>
          </a:p>
        </p:txBody>
      </p:sp>
      <p:sp>
        <p:nvSpPr>
          <p:cNvPr id="13" name="Pladsholder til tekst 4">
            <a:extLst>
              <a:ext uri="{FF2B5EF4-FFF2-40B4-BE49-F238E27FC236}">
                <a16:creationId xmlns:a16="http://schemas.microsoft.com/office/drawing/2014/main" id="{62F6FCA6-1117-CE4C-8EDE-7471C1E44FA3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838132" y="2176602"/>
            <a:ext cx="5181669" cy="3491477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</a:lstStyle>
          <a:p>
            <a:pPr lvl="0"/>
            <a:r>
              <a:rPr lang="da-DK" dirty="0"/>
              <a:t>Klik for at redigere teksttypografierne i masteren</a:t>
            </a:r>
          </a:p>
          <a:p>
            <a:pPr lvl="1"/>
            <a:r>
              <a:rPr lang="da-DK" dirty="0"/>
              <a:t>Andet niveau</a:t>
            </a:r>
          </a:p>
          <a:p>
            <a:pPr lvl="2"/>
            <a:r>
              <a:rPr lang="da-DK" dirty="0"/>
              <a:t>Tredje niveau</a:t>
            </a:r>
          </a:p>
        </p:txBody>
      </p:sp>
      <p:sp>
        <p:nvSpPr>
          <p:cNvPr id="14" name="Pladsholder til tekst 4">
            <a:extLst>
              <a:ext uri="{FF2B5EF4-FFF2-40B4-BE49-F238E27FC236}">
                <a16:creationId xmlns:a16="http://schemas.microsoft.com/office/drawing/2014/main" id="{1D6A4F8C-7DB7-D54E-A508-970B7AFD45A6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6172198" y="2176601"/>
            <a:ext cx="5181669" cy="3491477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</a:lstStyle>
          <a:p>
            <a:pPr lvl="0"/>
            <a:r>
              <a:rPr lang="da-DK" dirty="0"/>
              <a:t>Klik for at redigere teksttypografierne i masteren</a:t>
            </a:r>
          </a:p>
          <a:p>
            <a:pPr lvl="1"/>
            <a:r>
              <a:rPr lang="da-DK" dirty="0"/>
              <a:t>Andet niveau</a:t>
            </a:r>
          </a:p>
          <a:p>
            <a:pPr lvl="2"/>
            <a:r>
              <a:rPr lang="da-DK" dirty="0"/>
              <a:t>Tredje niveau</a:t>
            </a:r>
          </a:p>
        </p:txBody>
      </p:sp>
    </p:spTree>
    <p:extLst>
      <p:ext uri="{BB962C8B-B14F-4D97-AF65-F5344CB8AC3E}">
        <p14:creationId xmlns:p14="http://schemas.microsoft.com/office/powerpoint/2010/main" val="218301852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1">
            <a:extLst>
              <a:ext uri="{FF2B5EF4-FFF2-40B4-BE49-F238E27FC236}">
                <a16:creationId xmlns:a16="http://schemas.microsoft.com/office/drawing/2014/main" id="{88E3407F-DFCF-8B4C-A4AF-3EDD6899B9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da-DK" dirty="0"/>
              <a:t>Klik for at redigere i master</a:t>
            </a:r>
          </a:p>
        </p:txBody>
      </p:sp>
      <p:sp>
        <p:nvSpPr>
          <p:cNvPr id="6" name="Pladsholder til tekst 5">
            <a:extLst>
              <a:ext uri="{FF2B5EF4-FFF2-40B4-BE49-F238E27FC236}">
                <a16:creationId xmlns:a16="http://schemas.microsoft.com/office/drawing/2014/main" id="{5E1B61AE-EC69-6B45-9C53-AA716FDB84A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838132" y="1690689"/>
            <a:ext cx="10515600" cy="4442516"/>
          </a:xfrm>
        </p:spPr>
        <p:txBody>
          <a:bodyPr>
            <a:normAutofit/>
          </a:bodyPr>
          <a:lstStyle>
            <a:lvl1pPr marL="0" indent="0">
              <a:buNone/>
              <a:defRPr sz="2400"/>
            </a:lvl1pPr>
          </a:lstStyle>
          <a:p>
            <a:pPr lvl="0"/>
            <a:r>
              <a:rPr lang="da-DK" dirty="0"/>
              <a:t>Brødtekst</a:t>
            </a:r>
          </a:p>
        </p:txBody>
      </p:sp>
    </p:spTree>
    <p:extLst>
      <p:ext uri="{BB962C8B-B14F-4D97-AF65-F5344CB8AC3E}">
        <p14:creationId xmlns:p14="http://schemas.microsoft.com/office/powerpoint/2010/main" val="309450023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bjekt (hel side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/>
              <a:t>Klik for at redigere i master</a:t>
            </a:r>
          </a:p>
        </p:txBody>
      </p:sp>
      <p:sp>
        <p:nvSpPr>
          <p:cNvPr id="3" name="Pladsholder til indhold 2"/>
          <p:cNvSpPr>
            <a:spLocks noGrp="1"/>
          </p:cNvSpPr>
          <p:nvPr>
            <p:ph idx="1"/>
          </p:nvPr>
        </p:nvSpPr>
        <p:spPr>
          <a:xfrm>
            <a:off x="838200" y="1690688"/>
            <a:ext cx="10515600" cy="3994495"/>
          </a:xfrm>
        </p:spPr>
        <p:txBody>
          <a:bodyPr>
            <a:normAutofit/>
          </a:bodyPr>
          <a:lstStyle>
            <a:lvl1pPr marL="0" indent="0">
              <a:buNone/>
              <a:defRPr sz="2400"/>
            </a:lvl1pPr>
          </a:lstStyle>
          <a:p>
            <a:pPr lvl="0"/>
            <a:endParaRPr lang="da-DK" dirty="0"/>
          </a:p>
        </p:txBody>
      </p:sp>
      <p:sp>
        <p:nvSpPr>
          <p:cNvPr id="10" name="Pladsholder til tekst 9">
            <a:extLst>
              <a:ext uri="{FF2B5EF4-FFF2-40B4-BE49-F238E27FC236}">
                <a16:creationId xmlns:a16="http://schemas.microsoft.com/office/drawing/2014/main" id="{B4D71B68-4C9C-9849-8415-AB51D29C36FB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838200" y="5784574"/>
            <a:ext cx="10515600" cy="357810"/>
          </a:xfrm>
        </p:spPr>
        <p:txBody>
          <a:bodyPr>
            <a:normAutofit/>
          </a:bodyPr>
          <a:lstStyle>
            <a:lvl1pPr marL="0" indent="0">
              <a:buNone/>
              <a:defRPr sz="1600" b="0" i="0"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/>
            <a:r>
              <a:rPr lang="da-DK" dirty="0"/>
              <a:t>Eventuel figur eller billedbeskrivelse</a:t>
            </a:r>
          </a:p>
        </p:txBody>
      </p:sp>
    </p:spTree>
    <p:extLst>
      <p:ext uri="{BB962C8B-B14F-4D97-AF65-F5344CB8AC3E}">
        <p14:creationId xmlns:p14="http://schemas.microsoft.com/office/powerpoint/2010/main" val="140537358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kst og objekt (sidestillet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/>
              <a:t>Klik for at redigere i master</a:t>
            </a:r>
          </a:p>
        </p:txBody>
      </p:sp>
      <p:sp>
        <p:nvSpPr>
          <p:cNvPr id="3" name="Pladsholder til indhold 2"/>
          <p:cNvSpPr>
            <a:spLocks noGrp="1"/>
          </p:cNvSpPr>
          <p:nvPr>
            <p:ph idx="1"/>
          </p:nvPr>
        </p:nvSpPr>
        <p:spPr>
          <a:xfrm>
            <a:off x="5516216" y="1690689"/>
            <a:ext cx="5837583" cy="3996008"/>
          </a:xfrm>
        </p:spPr>
        <p:txBody>
          <a:bodyPr>
            <a:normAutofit/>
          </a:bodyPr>
          <a:lstStyle>
            <a:lvl1pPr marL="0" indent="0">
              <a:buNone/>
              <a:defRPr sz="2400"/>
            </a:lvl1pPr>
          </a:lstStyle>
          <a:p>
            <a:pPr lvl="0"/>
            <a:endParaRPr lang="da-DK" dirty="0"/>
          </a:p>
        </p:txBody>
      </p:sp>
      <p:sp>
        <p:nvSpPr>
          <p:cNvPr id="10" name="Pladsholder til tekst 9">
            <a:extLst>
              <a:ext uri="{FF2B5EF4-FFF2-40B4-BE49-F238E27FC236}">
                <a16:creationId xmlns:a16="http://schemas.microsoft.com/office/drawing/2014/main" id="{B4D71B68-4C9C-9849-8415-AB51D29C36FB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516216" y="5774635"/>
            <a:ext cx="5837584" cy="338691"/>
          </a:xfrm>
        </p:spPr>
        <p:txBody>
          <a:bodyPr>
            <a:normAutofit/>
          </a:bodyPr>
          <a:lstStyle>
            <a:lvl1pPr marL="0" indent="0">
              <a:buNone/>
              <a:defRPr sz="1600" b="0" i="0"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/>
            <a:r>
              <a:rPr lang="da-DK" dirty="0"/>
              <a:t>Eventuel figur eller billedbeskrivelse</a:t>
            </a:r>
          </a:p>
        </p:txBody>
      </p:sp>
      <p:sp>
        <p:nvSpPr>
          <p:cNvPr id="7" name="Pladsholder til tekst 5">
            <a:extLst>
              <a:ext uri="{FF2B5EF4-FFF2-40B4-BE49-F238E27FC236}">
                <a16:creationId xmlns:a16="http://schemas.microsoft.com/office/drawing/2014/main" id="{55622C08-9FA7-464B-B26D-783B1DC3E749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838132" y="1690688"/>
            <a:ext cx="4538938" cy="399600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</a:lstStyle>
          <a:p>
            <a:pPr lvl="0"/>
            <a:r>
              <a:rPr lang="da-DK" dirty="0"/>
              <a:t>Niveau 1</a:t>
            </a:r>
          </a:p>
          <a:p>
            <a:pPr lvl="1"/>
            <a:r>
              <a:rPr lang="da-DK" dirty="0"/>
              <a:t>Niveau 2</a:t>
            </a:r>
          </a:p>
          <a:p>
            <a:pPr lvl="2"/>
            <a:r>
              <a:rPr lang="da-DK" dirty="0"/>
              <a:t>Niveau 3</a:t>
            </a:r>
          </a:p>
        </p:txBody>
      </p:sp>
    </p:spTree>
    <p:extLst>
      <p:ext uri="{BB962C8B-B14F-4D97-AF65-F5344CB8AC3E}">
        <p14:creationId xmlns:p14="http://schemas.microsoft.com/office/powerpoint/2010/main" val="417863818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kst og objekt (bund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/>
              <a:t>Klik for at redigere i master</a:t>
            </a:r>
          </a:p>
        </p:txBody>
      </p:sp>
      <p:sp>
        <p:nvSpPr>
          <p:cNvPr id="3" name="Pladsholder til indhold 2"/>
          <p:cNvSpPr>
            <a:spLocks noGrp="1"/>
          </p:cNvSpPr>
          <p:nvPr>
            <p:ph idx="1"/>
          </p:nvPr>
        </p:nvSpPr>
        <p:spPr>
          <a:xfrm>
            <a:off x="5516217" y="3554125"/>
            <a:ext cx="5837583" cy="2635489"/>
          </a:xfrm>
        </p:spPr>
        <p:txBody>
          <a:bodyPr>
            <a:normAutofit/>
          </a:bodyPr>
          <a:lstStyle>
            <a:lvl1pPr marL="0" indent="0">
              <a:buNone/>
              <a:defRPr sz="2400"/>
            </a:lvl1pPr>
          </a:lstStyle>
          <a:p>
            <a:pPr lvl="0"/>
            <a:endParaRPr lang="da-DK" dirty="0"/>
          </a:p>
        </p:txBody>
      </p:sp>
      <p:sp>
        <p:nvSpPr>
          <p:cNvPr id="7" name="Pladsholder til tekst 5">
            <a:extLst>
              <a:ext uri="{FF2B5EF4-FFF2-40B4-BE49-F238E27FC236}">
                <a16:creationId xmlns:a16="http://schemas.microsoft.com/office/drawing/2014/main" id="{EE19EB5F-DB21-B04C-8318-B9FBCB4D8D67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838132" y="1690689"/>
            <a:ext cx="10515600" cy="1863436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</a:lstStyle>
          <a:p>
            <a:pPr lvl="0"/>
            <a:r>
              <a:rPr lang="da-DK" dirty="0"/>
              <a:t>Niveau 1</a:t>
            </a:r>
          </a:p>
          <a:p>
            <a:pPr lvl="1"/>
            <a:r>
              <a:rPr lang="da-DK" dirty="0"/>
              <a:t>Niveau 2</a:t>
            </a:r>
          </a:p>
          <a:p>
            <a:pPr lvl="2"/>
            <a:r>
              <a:rPr lang="da-DK" dirty="0"/>
              <a:t>Niveau 3</a:t>
            </a:r>
          </a:p>
        </p:txBody>
      </p:sp>
    </p:spTree>
    <p:extLst>
      <p:ext uri="{BB962C8B-B14F-4D97-AF65-F5344CB8AC3E}">
        <p14:creationId xmlns:p14="http://schemas.microsoft.com/office/powerpoint/2010/main" val="302905386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o objek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Klik for at redigere i master</a:t>
            </a:r>
          </a:p>
        </p:txBody>
      </p:sp>
      <p:sp>
        <p:nvSpPr>
          <p:cNvPr id="3" name="Pladsholder til indhold 2"/>
          <p:cNvSpPr>
            <a:spLocks noGrp="1"/>
          </p:cNvSpPr>
          <p:nvPr>
            <p:ph sz="half" idx="1"/>
          </p:nvPr>
        </p:nvSpPr>
        <p:spPr>
          <a:xfrm>
            <a:off x="838201" y="1690688"/>
            <a:ext cx="5181600" cy="3969883"/>
          </a:xfrm>
        </p:spPr>
        <p:txBody>
          <a:bodyPr>
            <a:normAutofit/>
          </a:bodyPr>
          <a:lstStyle>
            <a:lvl1pPr marL="0" indent="0">
              <a:buNone/>
              <a:defRPr sz="2400"/>
            </a:lvl1pPr>
          </a:lstStyle>
          <a:p>
            <a:pPr lvl="0"/>
            <a:endParaRPr lang="da-DK" dirty="0"/>
          </a:p>
        </p:txBody>
      </p:sp>
      <p:sp>
        <p:nvSpPr>
          <p:cNvPr id="4" name="Pladsholder til indhold 3"/>
          <p:cNvSpPr>
            <a:spLocks noGrp="1"/>
          </p:cNvSpPr>
          <p:nvPr>
            <p:ph sz="half" idx="2"/>
          </p:nvPr>
        </p:nvSpPr>
        <p:spPr>
          <a:xfrm>
            <a:off x="6172201" y="1690688"/>
            <a:ext cx="5181600" cy="3969883"/>
          </a:xfrm>
        </p:spPr>
        <p:txBody>
          <a:bodyPr>
            <a:normAutofit/>
          </a:bodyPr>
          <a:lstStyle>
            <a:lvl1pPr marL="0" indent="0">
              <a:buNone/>
              <a:defRPr sz="2400"/>
            </a:lvl1pPr>
          </a:lstStyle>
          <a:p>
            <a:pPr lvl="0"/>
            <a:endParaRPr lang="da-DK" dirty="0"/>
          </a:p>
        </p:txBody>
      </p:sp>
      <p:sp>
        <p:nvSpPr>
          <p:cNvPr id="6" name="Pladsholder til tekst 9">
            <a:extLst>
              <a:ext uri="{FF2B5EF4-FFF2-40B4-BE49-F238E27FC236}">
                <a16:creationId xmlns:a16="http://schemas.microsoft.com/office/drawing/2014/main" id="{71D40CD9-7EF4-684D-BA77-18389F1A25C8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838200" y="5752484"/>
            <a:ext cx="5181600" cy="410682"/>
          </a:xfrm>
        </p:spPr>
        <p:txBody>
          <a:bodyPr>
            <a:normAutofit/>
          </a:bodyPr>
          <a:lstStyle>
            <a:lvl1pPr marL="0" indent="0">
              <a:buNone/>
              <a:defRPr sz="1600" b="0" i="0"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/>
            <a:r>
              <a:rPr lang="da-DK" dirty="0"/>
              <a:t>Eventuel figur eller billedbeskrivelse</a:t>
            </a:r>
          </a:p>
        </p:txBody>
      </p:sp>
      <p:sp>
        <p:nvSpPr>
          <p:cNvPr id="8" name="Pladsholder til tekst 9">
            <a:extLst>
              <a:ext uri="{FF2B5EF4-FFF2-40B4-BE49-F238E27FC236}">
                <a16:creationId xmlns:a16="http://schemas.microsoft.com/office/drawing/2014/main" id="{6EADE04F-1DDF-4542-BF49-5E6D1C7C8125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172201" y="5752484"/>
            <a:ext cx="5181599" cy="410682"/>
          </a:xfrm>
        </p:spPr>
        <p:txBody>
          <a:bodyPr>
            <a:normAutofit/>
          </a:bodyPr>
          <a:lstStyle>
            <a:lvl1pPr marL="0" indent="0">
              <a:buNone/>
              <a:defRPr sz="1600" b="0" i="0"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/>
            <a:r>
              <a:rPr lang="da-DK" dirty="0"/>
              <a:t>Eventuel figur eller billedbeskrivelse</a:t>
            </a:r>
          </a:p>
        </p:txBody>
      </p:sp>
    </p:spTree>
    <p:extLst>
      <p:ext uri="{BB962C8B-B14F-4D97-AF65-F5344CB8AC3E}">
        <p14:creationId xmlns:p14="http://schemas.microsoft.com/office/powerpoint/2010/main" val="176789328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ak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el 6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/>
              <a:t>Klik for at redigere i master</a:t>
            </a:r>
          </a:p>
        </p:txBody>
      </p:sp>
      <p:sp>
        <p:nvSpPr>
          <p:cNvPr id="4" name="Pladsholder til tekst 3">
            <a:extLst>
              <a:ext uri="{FF2B5EF4-FFF2-40B4-BE49-F238E27FC236}">
                <a16:creationId xmlns:a16="http://schemas.microsoft.com/office/drawing/2014/main" id="{740BFE59-D0F2-0545-A8FE-C2A7D4E5BBC8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838200" y="2183380"/>
            <a:ext cx="10515599" cy="1325563"/>
          </a:xfrm>
        </p:spPr>
        <p:txBody>
          <a:bodyPr>
            <a:normAutofit/>
          </a:bodyPr>
          <a:lstStyle>
            <a:lvl1pPr marL="0" indent="0" algn="ctr">
              <a:buNone/>
              <a:defRPr sz="7200" b="0" i="0"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/>
            <a:r>
              <a:rPr lang="da-DK" dirty="0"/>
              <a:t>Fakta</a:t>
            </a:r>
          </a:p>
        </p:txBody>
      </p:sp>
      <p:sp>
        <p:nvSpPr>
          <p:cNvPr id="8" name="Pladsholder til tekst 3">
            <a:extLst>
              <a:ext uri="{FF2B5EF4-FFF2-40B4-BE49-F238E27FC236}">
                <a16:creationId xmlns:a16="http://schemas.microsoft.com/office/drawing/2014/main" id="{2BDAB250-9F0F-BE4C-9AF8-262BDAFD5E2C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838199" y="3796832"/>
            <a:ext cx="10515599" cy="1325563"/>
          </a:xfrm>
        </p:spPr>
        <p:txBody>
          <a:bodyPr>
            <a:normAutofit/>
          </a:bodyPr>
          <a:lstStyle>
            <a:lvl1pPr marL="0" indent="0" algn="ctr">
              <a:buNone/>
              <a:defRPr sz="3200"/>
            </a:lvl1pPr>
          </a:lstStyle>
          <a:p>
            <a:pPr lvl="0"/>
            <a:r>
              <a:rPr lang="da-DK" dirty="0"/>
              <a:t>Beskrivelse af fakta</a:t>
            </a:r>
          </a:p>
        </p:txBody>
      </p:sp>
      <p:sp>
        <p:nvSpPr>
          <p:cNvPr id="11" name="Rektangel 10">
            <a:extLst>
              <a:ext uri="{FF2B5EF4-FFF2-40B4-BE49-F238E27FC236}">
                <a16:creationId xmlns:a16="http://schemas.microsoft.com/office/drawing/2014/main" id="{F63AA675-F399-D147-A7E0-F1FD67F000FF}"/>
              </a:ext>
            </a:extLst>
          </p:cNvPr>
          <p:cNvSpPr/>
          <p:nvPr userDrawn="1"/>
        </p:nvSpPr>
        <p:spPr>
          <a:xfrm flipV="1">
            <a:off x="4113242" y="3463224"/>
            <a:ext cx="3965512" cy="45719"/>
          </a:xfrm>
          <a:prstGeom prst="rect">
            <a:avLst/>
          </a:prstGeom>
          <a:solidFill>
            <a:srgbClr val="C54D0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231892189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ita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el 6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/>
              <a:t>Klik for at redigere i master</a:t>
            </a:r>
          </a:p>
        </p:txBody>
      </p:sp>
      <p:sp>
        <p:nvSpPr>
          <p:cNvPr id="4" name="Pladsholder til tekst 3">
            <a:extLst>
              <a:ext uri="{FF2B5EF4-FFF2-40B4-BE49-F238E27FC236}">
                <a16:creationId xmlns:a16="http://schemas.microsoft.com/office/drawing/2014/main" id="{740BFE59-D0F2-0545-A8FE-C2A7D4E5BBC8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2727255" y="1982823"/>
            <a:ext cx="6737485" cy="3055707"/>
          </a:xfrm>
        </p:spPr>
        <p:txBody>
          <a:bodyPr>
            <a:normAutofit/>
          </a:bodyPr>
          <a:lstStyle>
            <a:lvl1pPr marL="0" indent="0" algn="ctr">
              <a:buNone/>
              <a:defRPr sz="4000" b="0" i="0"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/>
            <a:r>
              <a:rPr lang="da-DK" dirty="0"/>
              <a:t>Citat indsættes her</a:t>
            </a:r>
          </a:p>
          <a:p>
            <a:pPr lvl="0"/>
            <a:r>
              <a:rPr lang="da-DK" dirty="0"/>
              <a:t>Husk ” før og efter</a:t>
            </a:r>
          </a:p>
        </p:txBody>
      </p:sp>
      <p:sp>
        <p:nvSpPr>
          <p:cNvPr id="8" name="Pladsholder til tekst 3">
            <a:extLst>
              <a:ext uri="{FF2B5EF4-FFF2-40B4-BE49-F238E27FC236}">
                <a16:creationId xmlns:a16="http://schemas.microsoft.com/office/drawing/2014/main" id="{2BDAB250-9F0F-BE4C-9AF8-262BDAFD5E2C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838199" y="5173613"/>
            <a:ext cx="10515599" cy="382239"/>
          </a:xfrm>
        </p:spPr>
        <p:txBody>
          <a:bodyPr>
            <a:normAutofit/>
          </a:bodyPr>
          <a:lstStyle>
            <a:lvl1pPr marL="0" indent="0" algn="ctr">
              <a:buNone/>
              <a:defRPr sz="1800"/>
            </a:lvl1pPr>
          </a:lstStyle>
          <a:p>
            <a:pPr lvl="0"/>
            <a:r>
              <a:rPr lang="da-DK" dirty="0"/>
              <a:t>Kilde til citat skrives her</a:t>
            </a:r>
          </a:p>
        </p:txBody>
      </p:sp>
    </p:spTree>
    <p:extLst>
      <p:ext uri="{BB962C8B-B14F-4D97-AF65-F5344CB8AC3E}">
        <p14:creationId xmlns:p14="http://schemas.microsoft.com/office/powerpoint/2010/main" val="93638828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userDrawn="1">
  <p:cSld name="Forside I">
    <p:bg>
      <p:bgPr>
        <a:solidFill>
          <a:srgbClr val="001F6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19138" y="654050"/>
            <a:ext cx="5213662" cy="1721087"/>
          </a:xfrm>
        </p:spPr>
        <p:txBody>
          <a:bodyPr anchor="t" anchorCtr="0"/>
          <a:lstStyle>
            <a:lvl1pPr algn="l">
              <a:defRPr sz="6500">
                <a:solidFill>
                  <a:schemeClr val="bg1"/>
                </a:solidFill>
              </a:defRPr>
            </a:lvl1pPr>
          </a:lstStyle>
          <a:p>
            <a:r>
              <a:rPr lang="da-DK"/>
              <a:t>Klik for at redigere i master</a:t>
            </a:r>
            <a:endParaRPr lang="da-DK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720000" y="2432121"/>
            <a:ext cx="5212800" cy="900000"/>
          </a:xfrm>
        </p:spPr>
        <p:txBody>
          <a:bodyPr/>
          <a:lstStyle>
            <a:lvl1pPr marL="0" indent="0" algn="l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Char char="​"/>
              <a:defRPr sz="2500" baseline="0">
                <a:solidFill>
                  <a:schemeClr val="bg1"/>
                </a:solidFill>
              </a:defRPr>
            </a:lvl1pPr>
            <a:lvl2pPr marL="800100" indent="-342900" algn="l">
              <a:buFont typeface="Arial" panose="020B0604020202020204" pitchFamily="34" charset="0"/>
              <a:buChar char="•"/>
              <a:defRPr sz="2000"/>
            </a:lvl2pPr>
            <a:lvl3pPr marL="1200150" indent="-285750" algn="l">
              <a:buFont typeface="Arial" panose="020B0604020202020204" pitchFamily="34" charset="0"/>
              <a:buChar char="•"/>
              <a:defRPr sz="2000"/>
            </a:lvl3pPr>
            <a:lvl4pPr marL="1657350" indent="-285750" algn="l">
              <a:buFont typeface="Arial" panose="020B0604020202020204" pitchFamily="34" charset="0"/>
              <a:buChar char="•"/>
              <a:defRPr sz="2000"/>
            </a:lvl4pPr>
            <a:lvl5pPr marL="2114550" indent="-285750" algn="l">
              <a:buFont typeface="Arial" panose="020B0604020202020204" pitchFamily="34" charset="0"/>
              <a:buChar char="•"/>
              <a:defRPr sz="2000"/>
            </a:lvl5pPr>
            <a:lvl6pPr marL="2571750" indent="-285750" algn="l">
              <a:buFont typeface="Arial" panose="020B0604020202020204" pitchFamily="34" charset="0"/>
              <a:buChar char="•"/>
              <a:defRPr sz="2000"/>
            </a:lvl6pPr>
            <a:lvl7pPr marL="3028950" indent="-285750" algn="l">
              <a:buFont typeface="Arial" panose="020B0604020202020204" pitchFamily="34" charset="0"/>
              <a:buChar char="•"/>
              <a:defRPr sz="2000"/>
            </a:lvl7pPr>
            <a:lvl8pPr marL="3486150" indent="-285750" algn="l">
              <a:buFont typeface="Arial" panose="020B0604020202020204" pitchFamily="34" charset="0"/>
              <a:buChar char="•"/>
              <a:defRPr sz="2000"/>
            </a:lvl8pPr>
            <a:lvl9pPr marL="3943350" indent="-285750" algn="l">
              <a:buFont typeface="Arial" panose="020B0604020202020204" pitchFamily="34" charset="0"/>
              <a:buChar char="•"/>
              <a:defRPr sz="2000"/>
            </a:lvl9pPr>
          </a:lstStyle>
          <a:p>
            <a:r>
              <a:rPr lang="da-DK" dirty="0"/>
              <a:t>Klik her for at tilføje undertitel maks. to linjer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quarter" idx="13" hasCustomPrompt="1"/>
          </p:nvPr>
        </p:nvSpPr>
        <p:spPr>
          <a:xfrm>
            <a:off x="719138" y="3529061"/>
            <a:ext cx="5212800" cy="394255"/>
          </a:xfrm>
        </p:spPr>
        <p:txBody>
          <a:bodyPr anchor="b" anchorCtr="0"/>
          <a:lstStyle>
            <a:lvl1pPr marL="0" indent="0">
              <a:lnSpc>
                <a:spcPct val="106000"/>
              </a:lnSpc>
              <a:buNone/>
              <a:defRPr sz="1600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da-DK" dirty="0"/>
              <a:t>Indsæt navn og titel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4" hasCustomPrompt="1"/>
          </p:nvPr>
        </p:nvSpPr>
        <p:spPr>
          <a:xfrm>
            <a:off x="719139" y="4063411"/>
            <a:ext cx="5212800" cy="216795"/>
          </a:xfrm>
        </p:spPr>
        <p:txBody>
          <a:bodyPr anchor="b" anchorCtr="0">
            <a:noAutofit/>
          </a:bodyPr>
          <a:lstStyle>
            <a:lvl1pPr marL="0" indent="0">
              <a:lnSpc>
                <a:spcPct val="106000"/>
              </a:lnSpc>
              <a:buNone/>
              <a:defRPr sz="1600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da-DK" dirty="0"/>
              <a:t>Indsæt location</a:t>
            </a:r>
          </a:p>
        </p:txBody>
      </p:sp>
      <p:pic>
        <p:nvPicPr>
          <p:cNvPr id="8" name="Logo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12557" y="587088"/>
            <a:ext cx="5304569" cy="5527222"/>
          </a:xfrm>
          <a:prstGeom prst="rect">
            <a:avLst/>
          </a:prstGeom>
        </p:spPr>
      </p:pic>
      <p:sp>
        <p:nvSpPr>
          <p:cNvPr id="4" name="Date_DateCustomA"/>
          <p:cNvSpPr>
            <a:spLocks noGrp="1"/>
          </p:cNvSpPr>
          <p:nvPr>
            <p:ph type="dt" sz="half" idx="10"/>
          </p:nvPr>
        </p:nvSpPr>
        <p:spPr>
          <a:xfrm>
            <a:off x="719138" y="4277666"/>
            <a:ext cx="5212800" cy="180000"/>
          </a:xfrm>
        </p:spPr>
        <p:txBody>
          <a:bodyPr/>
          <a:lstStyle>
            <a:lvl1pPr algn="l">
              <a:defRPr>
                <a:solidFill>
                  <a:schemeClr val="bg1"/>
                </a:solidFill>
              </a:defRPr>
            </a:lvl1pPr>
          </a:lstStyle>
          <a:p>
            <a:fld id="{DCEB35B1-BC5C-4F24-B72D-591F5A33F1B4}" type="datetime5">
              <a:rPr lang="da-DK" smtClean="0"/>
              <a:pPr/>
              <a:t>juni 2026</a:t>
            </a:fld>
            <a:endParaRPr lang="da-DK" dirty="0"/>
          </a:p>
        </p:txBody>
      </p:sp>
    </p:spTree>
    <p:extLst>
      <p:ext uri="{BB962C8B-B14F-4D97-AF65-F5344CB8AC3E}">
        <p14:creationId xmlns:p14="http://schemas.microsoft.com/office/powerpoint/2010/main" val="929761316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el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Pladsholder til tekst 15">
            <a:extLst>
              <a:ext uri="{FF2B5EF4-FFF2-40B4-BE49-F238E27FC236}">
                <a16:creationId xmlns:a16="http://schemas.microsoft.com/office/drawing/2014/main" id="{79E89324-3C73-5D42-BE9D-B19AC18AF94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144067" y="2164333"/>
            <a:ext cx="7566796" cy="2414552"/>
          </a:xfrm>
        </p:spPr>
        <p:txBody>
          <a:bodyPr anchor="t">
            <a:normAutofit/>
          </a:bodyPr>
          <a:lstStyle>
            <a:lvl1pPr marL="0" indent="0">
              <a:buNone/>
              <a:defRPr sz="6000" b="0" i="0">
                <a:solidFill>
                  <a:srgbClr val="383838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/>
            <a:r>
              <a:rPr lang="da-DK" dirty="0"/>
              <a:t>Det her er din præsentationstitel</a:t>
            </a:r>
          </a:p>
        </p:txBody>
      </p:sp>
      <p:sp>
        <p:nvSpPr>
          <p:cNvPr id="14" name="Pladsholder til tekst 13">
            <a:extLst>
              <a:ext uri="{FF2B5EF4-FFF2-40B4-BE49-F238E27FC236}">
                <a16:creationId xmlns:a16="http://schemas.microsoft.com/office/drawing/2014/main" id="{AACCE956-2A5F-894D-B523-8E004D090CB5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84242" y="5746282"/>
            <a:ext cx="8399876" cy="650879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rgbClr val="383838"/>
                </a:solidFill>
              </a:defRPr>
            </a:lvl1pPr>
          </a:lstStyle>
          <a:p>
            <a:pPr lvl="0"/>
            <a:r>
              <a:rPr lang="da-DK" dirty="0"/>
              <a:t>Mulighed for at skrive navn på konference, dato, kontaktoplysninger eller andet</a:t>
            </a:r>
          </a:p>
        </p:txBody>
      </p:sp>
      <p:sp>
        <p:nvSpPr>
          <p:cNvPr id="3" name="Pladsholder til tekst 2">
            <a:extLst>
              <a:ext uri="{FF2B5EF4-FFF2-40B4-BE49-F238E27FC236}">
                <a16:creationId xmlns:a16="http://schemas.microsoft.com/office/drawing/2014/main" id="{5DC13D55-26AA-194A-A9CC-DAC262E2DE8C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1144067" y="4578885"/>
            <a:ext cx="7566795" cy="546100"/>
          </a:xfrm>
        </p:spPr>
        <p:txBody>
          <a:bodyPr>
            <a:normAutofit/>
          </a:bodyPr>
          <a:lstStyle>
            <a:lvl1pPr marL="0" indent="0">
              <a:buNone/>
              <a:defRPr sz="2200" b="0" i="0">
                <a:solidFill>
                  <a:srgbClr val="C54D02"/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</a:lstStyle>
          <a:p>
            <a:pPr lvl="0"/>
            <a:r>
              <a:rPr lang="da-DK" dirty="0"/>
              <a:t>Eventuel undertitel. Juster så placering er lige under titel.</a:t>
            </a:r>
          </a:p>
        </p:txBody>
      </p:sp>
    </p:spTree>
    <p:extLst>
      <p:ext uri="{BB962C8B-B14F-4D97-AF65-F5344CB8AC3E}">
        <p14:creationId xmlns:p14="http://schemas.microsoft.com/office/powerpoint/2010/main" val="1214186821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Overgangs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ladsholder til tekst 9">
            <a:extLst>
              <a:ext uri="{FF2B5EF4-FFF2-40B4-BE49-F238E27FC236}">
                <a16:creationId xmlns:a16="http://schemas.microsoft.com/office/drawing/2014/main" id="{5FCD0FD7-5C9A-674E-8A59-EBBA9850CE9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196548" y="2703050"/>
            <a:ext cx="1391202" cy="946150"/>
          </a:xfrm>
        </p:spPr>
        <p:txBody>
          <a:bodyPr>
            <a:normAutofit/>
          </a:bodyPr>
          <a:lstStyle>
            <a:lvl1pPr marL="0" indent="0" algn="r">
              <a:buNone/>
              <a:defRPr sz="4800">
                <a:solidFill>
                  <a:srgbClr val="C54D02"/>
                </a:solidFill>
              </a:defRPr>
            </a:lvl1pPr>
          </a:lstStyle>
          <a:p>
            <a:pPr lvl="0"/>
            <a:r>
              <a:rPr lang="da-DK" dirty="0"/>
              <a:t>Nr.</a:t>
            </a:r>
          </a:p>
        </p:txBody>
      </p:sp>
      <p:sp>
        <p:nvSpPr>
          <p:cNvPr id="11" name="Pladsholder til tekst 9">
            <a:extLst>
              <a:ext uri="{FF2B5EF4-FFF2-40B4-BE49-F238E27FC236}">
                <a16:creationId xmlns:a16="http://schemas.microsoft.com/office/drawing/2014/main" id="{2BD7A4C4-EA91-CC4E-B7A7-3D2817244B7B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587750" y="2703049"/>
            <a:ext cx="5016500" cy="2884543"/>
          </a:xfrm>
        </p:spPr>
        <p:txBody>
          <a:bodyPr>
            <a:normAutofit/>
          </a:bodyPr>
          <a:lstStyle>
            <a:lvl1pPr marL="0" indent="0">
              <a:buNone/>
              <a:defRPr sz="4800">
                <a:solidFill>
                  <a:srgbClr val="383838"/>
                </a:solidFill>
              </a:defRPr>
            </a:lvl1pPr>
          </a:lstStyle>
          <a:p>
            <a:pPr lvl="0"/>
            <a:r>
              <a:rPr lang="da-DK" dirty="0"/>
              <a:t>Overgangstitel</a:t>
            </a:r>
          </a:p>
        </p:txBody>
      </p:sp>
    </p:spTree>
    <p:extLst>
      <p:ext uri="{BB962C8B-B14F-4D97-AF65-F5344CB8AC3E}">
        <p14:creationId xmlns:p14="http://schemas.microsoft.com/office/powerpoint/2010/main" val="401053353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vergangs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ladsholder til tekst 9">
            <a:extLst>
              <a:ext uri="{FF2B5EF4-FFF2-40B4-BE49-F238E27FC236}">
                <a16:creationId xmlns:a16="http://schemas.microsoft.com/office/drawing/2014/main" id="{5FCD0FD7-5C9A-674E-8A59-EBBA9850CE9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196548" y="2703050"/>
            <a:ext cx="1391202" cy="946150"/>
          </a:xfrm>
        </p:spPr>
        <p:txBody>
          <a:bodyPr>
            <a:normAutofit/>
          </a:bodyPr>
          <a:lstStyle>
            <a:lvl1pPr marL="0" indent="0" algn="r">
              <a:buNone/>
              <a:defRPr sz="4800">
                <a:solidFill>
                  <a:srgbClr val="C54D02"/>
                </a:solidFill>
              </a:defRPr>
            </a:lvl1pPr>
          </a:lstStyle>
          <a:p>
            <a:pPr lvl="0"/>
            <a:r>
              <a:rPr lang="da-DK" dirty="0"/>
              <a:t>Nr.</a:t>
            </a:r>
          </a:p>
        </p:txBody>
      </p:sp>
      <p:sp>
        <p:nvSpPr>
          <p:cNvPr id="11" name="Pladsholder til tekst 9">
            <a:extLst>
              <a:ext uri="{FF2B5EF4-FFF2-40B4-BE49-F238E27FC236}">
                <a16:creationId xmlns:a16="http://schemas.microsoft.com/office/drawing/2014/main" id="{2BD7A4C4-EA91-CC4E-B7A7-3D2817244B7B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587750" y="2703049"/>
            <a:ext cx="5016500" cy="2884543"/>
          </a:xfrm>
        </p:spPr>
        <p:txBody>
          <a:bodyPr>
            <a:normAutofit/>
          </a:bodyPr>
          <a:lstStyle>
            <a:lvl1pPr marL="0" indent="0">
              <a:buNone/>
              <a:defRPr sz="4800">
                <a:solidFill>
                  <a:srgbClr val="383838"/>
                </a:solidFill>
              </a:defRPr>
            </a:lvl1pPr>
          </a:lstStyle>
          <a:p>
            <a:pPr lvl="0"/>
            <a:r>
              <a:rPr lang="da-DK" dirty="0"/>
              <a:t>Overgangstitel</a:t>
            </a:r>
          </a:p>
        </p:txBody>
      </p:sp>
      <p:sp>
        <p:nvSpPr>
          <p:cNvPr id="2" name="Retvinklet trekant 1">
            <a:extLst>
              <a:ext uri="{FF2B5EF4-FFF2-40B4-BE49-F238E27FC236}">
                <a16:creationId xmlns:a16="http://schemas.microsoft.com/office/drawing/2014/main" id="{EB95D17B-09AB-E292-E074-BADC7270985C}"/>
              </a:ext>
            </a:extLst>
          </p:cNvPr>
          <p:cNvSpPr/>
          <p:nvPr userDrawn="1"/>
        </p:nvSpPr>
        <p:spPr>
          <a:xfrm>
            <a:off x="0" y="5232400"/>
            <a:ext cx="7585494" cy="1625600"/>
          </a:xfrm>
          <a:prstGeom prst="rtTriangle">
            <a:avLst/>
          </a:prstGeom>
          <a:solidFill>
            <a:srgbClr val="FFFDE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a-DK"/>
          </a:p>
        </p:txBody>
      </p:sp>
      <p:sp>
        <p:nvSpPr>
          <p:cNvPr id="3" name="Retvinklet trekant 2">
            <a:extLst>
              <a:ext uri="{FF2B5EF4-FFF2-40B4-BE49-F238E27FC236}">
                <a16:creationId xmlns:a16="http://schemas.microsoft.com/office/drawing/2014/main" id="{6381607A-C8C0-885E-F49C-C78CD71E5149}"/>
              </a:ext>
            </a:extLst>
          </p:cNvPr>
          <p:cNvSpPr/>
          <p:nvPr userDrawn="1"/>
        </p:nvSpPr>
        <p:spPr>
          <a:xfrm flipH="1">
            <a:off x="4606506" y="3429000"/>
            <a:ext cx="7585494" cy="3429000"/>
          </a:xfrm>
          <a:prstGeom prst="rtTriangle">
            <a:avLst/>
          </a:prstGeom>
          <a:solidFill>
            <a:srgbClr val="EEFBF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a-DK"/>
          </a:p>
        </p:txBody>
      </p:sp>
      <p:sp>
        <p:nvSpPr>
          <p:cNvPr id="4" name="Rektangel 3">
            <a:extLst>
              <a:ext uri="{FF2B5EF4-FFF2-40B4-BE49-F238E27FC236}">
                <a16:creationId xmlns:a16="http://schemas.microsoft.com/office/drawing/2014/main" id="{E252231E-6360-73D8-16BF-71A3BEBD9ABB}"/>
              </a:ext>
            </a:extLst>
          </p:cNvPr>
          <p:cNvSpPr/>
          <p:nvPr userDrawn="1"/>
        </p:nvSpPr>
        <p:spPr>
          <a:xfrm>
            <a:off x="0" y="0"/>
            <a:ext cx="12192000" cy="182880"/>
          </a:xfrm>
          <a:prstGeom prst="rect">
            <a:avLst/>
          </a:prstGeom>
          <a:solidFill>
            <a:srgbClr val="002C6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a-DK"/>
          </a:p>
        </p:txBody>
      </p:sp>
      <p:sp>
        <p:nvSpPr>
          <p:cNvPr id="5" name="Rektangel 4">
            <a:extLst>
              <a:ext uri="{FF2B5EF4-FFF2-40B4-BE49-F238E27FC236}">
                <a16:creationId xmlns:a16="http://schemas.microsoft.com/office/drawing/2014/main" id="{E4354DDF-3F63-7A02-C6A9-506EA78BBFE3}"/>
              </a:ext>
            </a:extLst>
          </p:cNvPr>
          <p:cNvSpPr/>
          <p:nvPr userDrawn="1"/>
        </p:nvSpPr>
        <p:spPr>
          <a:xfrm>
            <a:off x="0" y="6675120"/>
            <a:ext cx="12192000" cy="182880"/>
          </a:xfrm>
          <a:prstGeom prst="rect">
            <a:avLst/>
          </a:prstGeom>
          <a:solidFill>
            <a:srgbClr val="002C6B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a-DK"/>
          </a:p>
        </p:txBody>
      </p:sp>
      <p:pic>
        <p:nvPicPr>
          <p:cNvPr id="6" name="Grafik 5">
            <a:extLst>
              <a:ext uri="{FF2B5EF4-FFF2-40B4-BE49-F238E27FC236}">
                <a16:creationId xmlns:a16="http://schemas.microsoft.com/office/drawing/2014/main" id="{033F13C4-2D70-98C1-A72A-82A2621E0C0C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237406" y="6284880"/>
            <a:ext cx="1201588" cy="2723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1428154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image" Target="../media/image2.svg"/><Relationship Id="rId2" Type="http://schemas.openxmlformats.org/officeDocument/2006/relationships/slideLayout" Target="../slideLayouts/slideLayout2.xml"/><Relationship Id="rId16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_rels/slideMaster2.xml.rels><?xml version="1.0" encoding="UTF-8" standalone="yes"?>
<Relationships xmlns="http://schemas.openxmlformats.org/package/2006/relationships"><Relationship Id="rId2" Type="http://schemas.openxmlformats.org/officeDocument/2006/relationships/theme" Target="../theme/theme2.xml"/><Relationship Id="rId1" Type="http://schemas.openxmlformats.org/officeDocument/2006/relationships/slideLayout" Target="../slideLayouts/slideLayout15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tvinklet trekant 9">
            <a:extLst>
              <a:ext uri="{FF2B5EF4-FFF2-40B4-BE49-F238E27FC236}">
                <a16:creationId xmlns:a16="http://schemas.microsoft.com/office/drawing/2014/main" id="{B2E927CB-EAD8-FCB5-1D72-C6E6C30392E9}"/>
              </a:ext>
            </a:extLst>
          </p:cNvPr>
          <p:cNvSpPr/>
          <p:nvPr userDrawn="1"/>
        </p:nvSpPr>
        <p:spPr>
          <a:xfrm>
            <a:off x="0" y="5232400"/>
            <a:ext cx="7585494" cy="1625600"/>
          </a:xfrm>
          <a:prstGeom prst="rtTriangle">
            <a:avLst/>
          </a:prstGeom>
          <a:solidFill>
            <a:srgbClr val="FFFDE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a-DK"/>
          </a:p>
        </p:txBody>
      </p:sp>
      <p:sp>
        <p:nvSpPr>
          <p:cNvPr id="7" name="Retvinklet trekant 6">
            <a:extLst>
              <a:ext uri="{FF2B5EF4-FFF2-40B4-BE49-F238E27FC236}">
                <a16:creationId xmlns:a16="http://schemas.microsoft.com/office/drawing/2014/main" id="{B9386030-25BC-7C68-9A54-625D2ABE0AA8}"/>
              </a:ext>
            </a:extLst>
          </p:cNvPr>
          <p:cNvSpPr/>
          <p:nvPr userDrawn="1"/>
        </p:nvSpPr>
        <p:spPr>
          <a:xfrm flipH="1">
            <a:off x="4606506" y="3429000"/>
            <a:ext cx="7585494" cy="3429000"/>
          </a:xfrm>
          <a:prstGeom prst="rtTriangle">
            <a:avLst/>
          </a:prstGeom>
          <a:solidFill>
            <a:srgbClr val="EEFBF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a-DK"/>
          </a:p>
        </p:txBody>
      </p:sp>
      <p:sp>
        <p:nvSpPr>
          <p:cNvPr id="2" name="Pladsholder til titel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a-DK" dirty="0"/>
              <a:t>Klik for at redigere i master</a:t>
            </a:r>
          </a:p>
        </p:txBody>
      </p:sp>
      <p:sp>
        <p:nvSpPr>
          <p:cNvPr id="3" name="Pladsholder til tekst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a-DK" dirty="0"/>
              <a:t>Rediger typografien i masterens</a:t>
            </a:r>
          </a:p>
          <a:p>
            <a:pPr lvl="1"/>
            <a:r>
              <a:rPr lang="da-DK" dirty="0"/>
              <a:t>Andet niveau</a:t>
            </a:r>
          </a:p>
          <a:p>
            <a:pPr lvl="2"/>
            <a:r>
              <a:rPr lang="da-DK" dirty="0"/>
              <a:t>Tredje niveau</a:t>
            </a:r>
          </a:p>
          <a:p>
            <a:pPr lvl="3"/>
            <a:r>
              <a:rPr lang="da-DK" dirty="0"/>
              <a:t>Fjerde niveau</a:t>
            </a:r>
          </a:p>
          <a:p>
            <a:pPr lvl="4"/>
            <a:r>
              <a:rPr lang="da-DK" dirty="0"/>
              <a:t>Femte niveau</a:t>
            </a:r>
          </a:p>
        </p:txBody>
      </p:sp>
      <p:sp>
        <p:nvSpPr>
          <p:cNvPr id="14" name="Pladsholder til slidenummer 2"/>
          <p:cNvSpPr txBox="1">
            <a:spLocks/>
          </p:cNvSpPr>
          <p:nvPr userDrawn="1"/>
        </p:nvSpPr>
        <p:spPr>
          <a:xfrm>
            <a:off x="8685417" y="6284880"/>
            <a:ext cx="324089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da-DK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17F11F75-2774-4BDF-B167-252AE011E0A9}" type="slidenum">
              <a:rPr lang="da-DK" smtClean="0">
                <a:solidFill>
                  <a:srgbClr val="383838"/>
                </a:solidFill>
              </a:rPr>
              <a:pPr/>
              <a:t>‹#›</a:t>
            </a:fld>
            <a:endParaRPr lang="da-DK" dirty="0">
              <a:solidFill>
                <a:srgbClr val="383838"/>
              </a:solidFill>
            </a:endParaRPr>
          </a:p>
        </p:txBody>
      </p:sp>
      <p:pic>
        <p:nvPicPr>
          <p:cNvPr id="6" name="Billede 5">
            <a:extLst>
              <a:ext uri="{FF2B5EF4-FFF2-40B4-BE49-F238E27FC236}">
                <a16:creationId xmlns:a16="http://schemas.microsoft.com/office/drawing/2014/main" id="{C9CEE631-06D6-5648-A109-0D386A61A6E8}"/>
              </a:ext>
            </a:extLst>
          </p:cNvPr>
          <p:cNvPicPr>
            <a:picLocks noChangeAspect="1"/>
          </p:cNvPicPr>
          <p:nvPr userDrawn="1"/>
        </p:nvPicPr>
        <p:blipFill>
          <a:blip r:embed="rId1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182880"/>
          </a:xfrm>
          <a:prstGeom prst="rect">
            <a:avLst/>
          </a:prstGeom>
        </p:spPr>
      </p:pic>
      <p:pic>
        <p:nvPicPr>
          <p:cNvPr id="11" name="Billede 10">
            <a:extLst>
              <a:ext uri="{FF2B5EF4-FFF2-40B4-BE49-F238E27FC236}">
                <a16:creationId xmlns:a16="http://schemas.microsoft.com/office/drawing/2014/main" id="{17B39725-0A99-FD4E-85B1-337C6F1DAF80}"/>
              </a:ext>
            </a:extLst>
          </p:cNvPr>
          <p:cNvPicPr>
            <a:picLocks noChangeAspect="1"/>
          </p:cNvPicPr>
          <p:nvPr userDrawn="1"/>
        </p:nvPicPr>
        <p:blipFill>
          <a:blip r:embed="rId1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6675120"/>
            <a:ext cx="12192000" cy="182880"/>
          </a:xfrm>
          <a:prstGeom prst="rect">
            <a:avLst/>
          </a:prstGeom>
        </p:spPr>
      </p:pic>
      <p:sp>
        <p:nvSpPr>
          <p:cNvPr id="4" name="Rektangel 3">
            <a:extLst>
              <a:ext uri="{FF2B5EF4-FFF2-40B4-BE49-F238E27FC236}">
                <a16:creationId xmlns:a16="http://schemas.microsoft.com/office/drawing/2014/main" id="{4872FA53-1E88-F21C-691B-818CAB7B82C3}"/>
              </a:ext>
            </a:extLst>
          </p:cNvPr>
          <p:cNvSpPr/>
          <p:nvPr userDrawn="1"/>
        </p:nvSpPr>
        <p:spPr>
          <a:xfrm>
            <a:off x="0" y="0"/>
            <a:ext cx="12192000" cy="182880"/>
          </a:xfrm>
          <a:prstGeom prst="rect">
            <a:avLst/>
          </a:prstGeom>
          <a:solidFill>
            <a:srgbClr val="002C6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a-DK"/>
          </a:p>
        </p:txBody>
      </p:sp>
      <p:sp>
        <p:nvSpPr>
          <p:cNvPr id="5" name="Rektangel 4">
            <a:extLst>
              <a:ext uri="{FF2B5EF4-FFF2-40B4-BE49-F238E27FC236}">
                <a16:creationId xmlns:a16="http://schemas.microsoft.com/office/drawing/2014/main" id="{D94951B6-6CFC-8F89-7B65-2C3A2F06527A}"/>
              </a:ext>
            </a:extLst>
          </p:cNvPr>
          <p:cNvSpPr/>
          <p:nvPr userDrawn="1"/>
        </p:nvSpPr>
        <p:spPr>
          <a:xfrm>
            <a:off x="0" y="6675120"/>
            <a:ext cx="12192000" cy="182880"/>
          </a:xfrm>
          <a:prstGeom prst="rect">
            <a:avLst/>
          </a:prstGeom>
          <a:solidFill>
            <a:srgbClr val="002C6B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a-DK"/>
          </a:p>
        </p:txBody>
      </p:sp>
      <p:pic>
        <p:nvPicPr>
          <p:cNvPr id="9" name="Grafik 8">
            <a:extLst>
              <a:ext uri="{FF2B5EF4-FFF2-40B4-BE49-F238E27FC236}">
                <a16:creationId xmlns:a16="http://schemas.microsoft.com/office/drawing/2014/main" id="{AE24F5C2-BD4F-0A86-A1A2-0FAFF8DFC3A6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17"/>
              </a:ext>
            </a:extLst>
          </a:blip>
          <a:stretch>
            <a:fillRect/>
          </a:stretch>
        </p:blipFill>
        <p:spPr>
          <a:xfrm>
            <a:off x="237406" y="6284880"/>
            <a:ext cx="1201588" cy="2723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813661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82" r:id="rId2"/>
    <p:sldLayoutId id="2147483714" r:id="rId3"/>
    <p:sldLayoutId id="2147483678" r:id="rId4"/>
    <p:sldLayoutId id="2147483709" r:id="rId5"/>
    <p:sldLayoutId id="2147483675" r:id="rId6"/>
    <p:sldLayoutId id="2147483710" r:id="rId7"/>
    <p:sldLayoutId id="2147483729" r:id="rId8"/>
    <p:sldLayoutId id="2147483677" r:id="rId9"/>
    <p:sldLayoutId id="2147483676" r:id="rId10"/>
    <p:sldLayoutId id="2147483711" r:id="rId11"/>
    <p:sldLayoutId id="2147483731" r:id="rId12"/>
    <p:sldLayoutId id="2147483732" r:id="rId13"/>
    <p:sldLayoutId id="2147483733" r:id="rId14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800" b="0" i="0" kern="1200">
          <a:solidFill>
            <a:srgbClr val="B8580A"/>
          </a:solidFill>
          <a:latin typeface="Calibri Light" panose="020F0302020204030204" pitchFamily="34" charset="0"/>
          <a:ea typeface="+mj-ea"/>
          <a:cs typeface="Calibri Light" panose="020F0302020204030204" pitchFamily="34" charset="0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400" kern="1200">
          <a:solidFill>
            <a:srgbClr val="383838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rgbClr val="383838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rgbClr val="383838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rgbClr val="383838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rgbClr val="383838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a-DK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dsholder til titel 1">
            <a:extLst>
              <a:ext uri="{FF2B5EF4-FFF2-40B4-BE49-F238E27FC236}">
                <a16:creationId xmlns:a16="http://schemas.microsoft.com/office/drawing/2014/main" id="{1A86782B-4E6E-0B4B-B4DC-6380705BF6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a-DK"/>
              <a:t>Klik for at redigere titeltypografien i masteren</a:t>
            </a:r>
          </a:p>
        </p:txBody>
      </p:sp>
      <p:sp>
        <p:nvSpPr>
          <p:cNvPr id="3" name="Pladsholder til tekst 2">
            <a:extLst>
              <a:ext uri="{FF2B5EF4-FFF2-40B4-BE49-F238E27FC236}">
                <a16:creationId xmlns:a16="http://schemas.microsoft.com/office/drawing/2014/main" id="{67C3217D-BCCB-9B42-9152-0393F6FB61B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a-DK"/>
              <a:t>Klik for at redigere teksttypografierne i masteren</a:t>
            </a:r>
          </a:p>
          <a:p>
            <a:pPr lvl="1"/>
            <a:r>
              <a:rPr lang="da-DK"/>
              <a:t>Andet niveau</a:t>
            </a:r>
          </a:p>
          <a:p>
            <a:pPr lvl="2"/>
            <a:r>
              <a:rPr lang="da-DK"/>
              <a:t>Tredje niveau</a:t>
            </a:r>
          </a:p>
          <a:p>
            <a:pPr lvl="3"/>
            <a:r>
              <a:rPr lang="da-DK"/>
              <a:t>Fjerde niveau</a:t>
            </a:r>
          </a:p>
          <a:p>
            <a:pPr lvl="4"/>
            <a:r>
              <a:rPr lang="da-DK"/>
              <a:t>Femte niveau</a:t>
            </a:r>
          </a:p>
        </p:txBody>
      </p:sp>
      <p:sp>
        <p:nvSpPr>
          <p:cNvPr id="4" name="Pladsholder til dato 3">
            <a:extLst>
              <a:ext uri="{FF2B5EF4-FFF2-40B4-BE49-F238E27FC236}">
                <a16:creationId xmlns:a16="http://schemas.microsoft.com/office/drawing/2014/main" id="{4A95A279-8FE0-EB4D-B6CC-8FE9927506C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3F101B6-9FE4-A441-BA9E-EB4796521961}" type="datetimeFigureOut">
              <a:rPr lang="da-DK" smtClean="0"/>
              <a:t>14.06.2026</a:t>
            </a:fld>
            <a:endParaRPr lang="da-DK"/>
          </a:p>
        </p:txBody>
      </p:sp>
      <p:sp>
        <p:nvSpPr>
          <p:cNvPr id="5" name="Pladsholder til sidefod 4">
            <a:extLst>
              <a:ext uri="{FF2B5EF4-FFF2-40B4-BE49-F238E27FC236}">
                <a16:creationId xmlns:a16="http://schemas.microsoft.com/office/drawing/2014/main" id="{EE866B57-A80B-824D-B1E5-EECD402E7F8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da-DK"/>
          </a:p>
        </p:txBody>
      </p:sp>
      <p:sp>
        <p:nvSpPr>
          <p:cNvPr id="6" name="Pladsholder til slidenummer 5">
            <a:extLst>
              <a:ext uri="{FF2B5EF4-FFF2-40B4-BE49-F238E27FC236}">
                <a16:creationId xmlns:a16="http://schemas.microsoft.com/office/drawing/2014/main" id="{0E449ADB-4206-4F44-B909-487682656F6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5CD3F01-BE8D-0C47-92DA-22F72A1178FD}" type="slidenum">
              <a:rPr lang="da-DK" smtClean="0"/>
              <a:t>‹#›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269022836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8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a-DK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image" Target="../media/image5.png"/><Relationship Id="rId7" Type="http://schemas.microsoft.com/office/2007/relationships/hdphoto" Target="../media/hdphoto2.wdp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png"/><Relationship Id="rId5" Type="http://schemas.microsoft.com/office/2007/relationships/hdphoto" Target="../media/hdphoto1.wdp"/><Relationship Id="rId4" Type="http://schemas.openxmlformats.org/officeDocument/2006/relationships/image" Target="../media/image6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Relationship Id="rId4" Type="http://schemas.microsoft.com/office/2007/relationships/hdphoto" Target="../media/hdphoto3.wdp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microsoft.com/office/2007/relationships/hdphoto" Target="../media/hdphoto4.wdp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.png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hyperlink" Target="https://kubernetes.io/docs/concepts/overview/components/#kube-apiserver" TargetMode="External"/><Relationship Id="rId2" Type="http://schemas.openxmlformats.org/officeDocument/2006/relationships/hyperlink" Target="https://kubernetes.io/docs/reference/glossary/?all=true#term-control-plane" TargetMode="Externa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hyperlink" Target="https://hub.docker.com/" TargetMode="Externa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hyperlink" Target="https://kubernetes.io/docs/concepts/workloads/controllers/replicaset/" TargetMode="External"/><Relationship Id="rId2" Type="http://schemas.openxmlformats.org/officeDocument/2006/relationships/hyperlink" Target="https://kubernetes.io/docs/concepts/workloads/pods/" TargetMode="Externa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hyperlink" Target="https://kubernetes.io/docs" TargetMode="External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notalib/workshop-kubernetes" TargetMode="Externa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hyperlink" Target="https://k8s.io/examples/application/nginx-with-request.yaml" TargetMode="External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hyperlink" Target="https://12factor.net/" TargetMode="External"/><Relationship Id="rId2" Type="http://schemas.openxmlformats.org/officeDocument/2006/relationships/image" Target="../media/image19.svg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w.wiki/MHUu" TargetMode="Externa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5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hyperlink" Target="https://kubernetes.io/docs/tutorials/services/connect-applications-service/#creating-a-service" TargetMode="External"/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hyperlink" Target="https://kubernetes.io/docs/tasks/debug/debug-application/debug-running-pod/" TargetMode="External"/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ctrTitle"/>
          </p:nvPr>
        </p:nvSpPr>
        <p:spPr/>
        <p:txBody>
          <a:bodyPr>
            <a:normAutofit fontScale="90000"/>
          </a:bodyPr>
          <a:lstStyle/>
          <a:p>
            <a:r>
              <a:rPr lang="da-DK" dirty="0" err="1"/>
              <a:t>Kubernetes</a:t>
            </a:r>
            <a:r>
              <a:rPr lang="da-DK" dirty="0"/>
              <a:t> Workshop</a:t>
            </a:r>
            <a:br>
              <a:rPr lang="da-DK" dirty="0"/>
            </a:br>
            <a:endParaRPr lang="da-DK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Subtitle 7">
            <a:extLst>
              <a:ext uri="{FF2B5EF4-FFF2-40B4-BE49-F238E27FC236}">
                <a16:creationId xmlns:a16="http://schemas.microsoft.com/office/drawing/2014/main" id="{9A4294B2-87FA-99C2-8EF7-AC6BC8E424D9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>
            <a:normAutofit/>
          </a:bodyPr>
          <a:lstStyle/>
          <a:p>
            <a:r>
              <a:rPr lang="en-DK" sz="2000" dirty="0"/>
              <a:t>DevOps workshop #2</a:t>
            </a:r>
          </a:p>
        </p:txBody>
      </p:sp>
      <p:sp>
        <p:nvSpPr>
          <p:cNvPr id="6" name="Pladsholder til dato 5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a-DK" sz="1600" dirty="0">
                <a:latin typeface="Calibri" panose="020F0502020204030204" pitchFamily="34" charset="0"/>
                <a:cs typeface="Calibri" panose="020F0502020204030204" pitchFamily="34" charset="0"/>
              </a:rPr>
              <a:t>juni 2026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1ECF4BB4-14E3-6F76-849C-B3D19197886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719138" y="3832941"/>
            <a:ext cx="5212800" cy="394255"/>
          </a:xfrm>
        </p:spPr>
        <p:txBody>
          <a:bodyPr/>
          <a:lstStyle/>
          <a:p>
            <a:r>
              <a:rPr lang="da-DK" dirty="0">
                <a:latin typeface="Calibri" panose="020F0502020204030204" pitchFamily="34" charset="0"/>
                <a:cs typeface="Calibri" panose="020F0502020204030204" pitchFamily="34" charset="0"/>
              </a:rPr>
              <a:t>af Daniel Freiling</a:t>
            </a:r>
          </a:p>
        </p:txBody>
      </p:sp>
    </p:spTree>
    <p:extLst>
      <p:ext uri="{BB962C8B-B14F-4D97-AF65-F5344CB8AC3E}">
        <p14:creationId xmlns:p14="http://schemas.microsoft.com/office/powerpoint/2010/main" val="29113801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dsholder til tekst 1">
            <a:extLst>
              <a:ext uri="{FF2B5EF4-FFF2-40B4-BE49-F238E27FC236}">
                <a16:creationId xmlns:a16="http://schemas.microsoft.com/office/drawing/2014/main" id="{36D4FF87-FD24-074B-AA92-053389FCDDC5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1144067" y="2372808"/>
            <a:ext cx="7566796" cy="1713812"/>
          </a:xfrm>
        </p:spPr>
        <p:txBody>
          <a:bodyPr>
            <a:normAutofit/>
          </a:bodyPr>
          <a:lstStyle/>
          <a:p>
            <a:r>
              <a:rPr lang="da-DK" dirty="0" err="1"/>
              <a:t>Kubernetes</a:t>
            </a:r>
            <a:r>
              <a:rPr lang="da-DK" dirty="0"/>
              <a:t> Workshop</a:t>
            </a:r>
          </a:p>
        </p:txBody>
      </p:sp>
      <p:sp>
        <p:nvSpPr>
          <p:cNvPr id="4" name="Pladsholder til tekst 3">
            <a:extLst>
              <a:ext uri="{FF2B5EF4-FFF2-40B4-BE49-F238E27FC236}">
                <a16:creationId xmlns:a16="http://schemas.microsoft.com/office/drawing/2014/main" id="{A52497D8-102A-F34E-8052-7799AF571F3F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1144068" y="3229714"/>
            <a:ext cx="7566795" cy="546101"/>
          </a:xfrm>
        </p:spPr>
        <p:txBody>
          <a:bodyPr>
            <a:normAutofit/>
          </a:bodyPr>
          <a:lstStyle/>
          <a:p>
            <a:r>
              <a:rPr lang="da-DK" sz="2400" dirty="0"/>
              <a:t>Part #2</a:t>
            </a:r>
          </a:p>
        </p:txBody>
      </p:sp>
    </p:spTree>
    <p:extLst>
      <p:ext uri="{BB962C8B-B14F-4D97-AF65-F5344CB8AC3E}">
        <p14:creationId xmlns:p14="http://schemas.microsoft.com/office/powerpoint/2010/main" val="225250955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2CDEC703-19F7-3DDC-DD3D-A811BE743CD9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39365" y="1689494"/>
            <a:ext cx="2211435" cy="1402497"/>
          </a:xfrm>
        </p:spPr>
        <p:txBody>
          <a:bodyPr>
            <a:normAutofit fontScale="77500" lnSpcReduction="20000"/>
          </a:bodyPr>
          <a:lstStyle/>
          <a:p>
            <a:r>
              <a:rPr lang="en-DK" dirty="0"/>
              <a:t>Workshop</a:t>
            </a:r>
            <a:br>
              <a:rPr lang="en-DK" dirty="0"/>
            </a:br>
            <a:r>
              <a:rPr lang="en-DK" dirty="0"/>
              <a:t>indhold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9F70071-98AF-1E51-A08C-DC0949918E43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2645069" y="1675528"/>
            <a:ext cx="8924631" cy="4369672"/>
          </a:xfrm>
        </p:spPr>
        <p:txBody>
          <a:bodyPr>
            <a:normAutofit fontScale="92500" lnSpcReduction="20000"/>
          </a:bodyPr>
          <a:lstStyle/>
          <a:p>
            <a:pPr marL="914400" indent="-914400">
              <a:buFont typeface="+mj-lt"/>
              <a:buAutoNum type="arabicPeriod"/>
            </a:pPr>
            <a:r>
              <a:rPr lang="en-DK" sz="3600" dirty="0"/>
              <a:t>Kubernetes Basics</a:t>
            </a:r>
          </a:p>
          <a:p>
            <a:pPr marL="914400" indent="-914400">
              <a:buFont typeface="+mj-lt"/>
              <a:buAutoNum type="arabicPeriod"/>
            </a:pPr>
            <a:r>
              <a:rPr lang="en-DK" sz="3600" dirty="0"/>
              <a:t>CLI Demo</a:t>
            </a:r>
          </a:p>
          <a:p>
            <a:pPr marL="914400" indent="-914400">
              <a:buFont typeface="+mj-lt"/>
              <a:buAutoNum type="arabicPeriod"/>
            </a:pPr>
            <a:r>
              <a:rPr lang="en-DK" sz="3600" b="1" dirty="0">
                <a:solidFill>
                  <a:srgbClr val="C54D02"/>
                </a:solidFill>
              </a:rPr>
              <a:t>Exercise</a:t>
            </a:r>
            <a:r>
              <a:rPr lang="en-DK" sz="3600" dirty="0"/>
              <a:t>: Deployments &amp; Pods</a:t>
            </a:r>
          </a:p>
          <a:p>
            <a:pPr marL="914400" indent="-914400">
              <a:buFont typeface="+mj-lt"/>
              <a:buAutoNum type="arabicPeriod"/>
            </a:pPr>
            <a:r>
              <a:rPr lang="en-DK" sz="3600" dirty="0"/>
              <a:t>Manifests &amp; Reconciliation</a:t>
            </a:r>
          </a:p>
          <a:p>
            <a:pPr marL="914400" indent="-914400">
              <a:buFont typeface="+mj-lt"/>
              <a:buAutoNum type="arabicPeriod"/>
            </a:pPr>
            <a:r>
              <a:rPr lang="en-GB" sz="3600" dirty="0"/>
              <a:t>K</a:t>
            </a:r>
            <a:r>
              <a:rPr lang="en-DK" sz="3600" dirty="0"/>
              <a:t>ubectl &amp; k9s</a:t>
            </a:r>
          </a:p>
          <a:p>
            <a:pPr marL="914400" indent="-914400">
              <a:buFont typeface="+mj-lt"/>
              <a:buAutoNum type="arabicPeriod"/>
            </a:pPr>
            <a:r>
              <a:rPr lang="en-DK" sz="3600" b="1" dirty="0"/>
              <a:t>Demo</a:t>
            </a:r>
            <a:r>
              <a:rPr lang="en-DK" sz="3600" dirty="0"/>
              <a:t>: Kubernetes + Rancher UI</a:t>
            </a:r>
          </a:p>
          <a:p>
            <a:pPr marL="914400" indent="-914400">
              <a:buFont typeface="+mj-lt"/>
              <a:buAutoNum type="arabicPeriod"/>
            </a:pPr>
            <a:r>
              <a:rPr lang="en-DK" sz="3600" dirty="0"/>
              <a:t>Environment &amp; Volume Mounts </a:t>
            </a:r>
            <a:r>
              <a:rPr lang="en-DK" sz="3600" dirty="0">
                <a:solidFill>
                  <a:srgbClr val="C54D02"/>
                </a:solidFill>
              </a:rPr>
              <a:t>[+Exercise]</a:t>
            </a:r>
          </a:p>
          <a:p>
            <a:pPr marL="914400" indent="-914400">
              <a:buFont typeface="+mj-lt"/>
              <a:buAutoNum type="arabicPeriod"/>
            </a:pPr>
            <a:r>
              <a:rPr lang="en-DK" sz="3600" dirty="0"/>
              <a:t>Exposing containers </a:t>
            </a:r>
            <a:r>
              <a:rPr lang="en-DK" sz="3600" dirty="0">
                <a:solidFill>
                  <a:srgbClr val="C54D02"/>
                </a:solidFill>
              </a:rPr>
              <a:t>[+Exercise]</a:t>
            </a:r>
          </a:p>
          <a:p>
            <a:pPr marL="914400" indent="-914400">
              <a:buFont typeface="+mj-lt"/>
              <a:buAutoNum type="arabicPeriod"/>
            </a:pPr>
            <a:r>
              <a:rPr lang="en-DK" sz="3600" dirty="0"/>
              <a:t>Complex systems </a:t>
            </a:r>
            <a:r>
              <a:rPr lang="en-DK" sz="3600" dirty="0">
                <a:solidFill>
                  <a:srgbClr val="C54D02"/>
                </a:solidFill>
              </a:rPr>
              <a:t>[+Exercise]</a:t>
            </a:r>
          </a:p>
          <a:p>
            <a:pPr marL="914400" indent="-914400">
              <a:buFont typeface="+mj-lt"/>
              <a:buAutoNum type="arabicPeriod"/>
            </a:pPr>
            <a:endParaRPr lang="en-DK" sz="3600" dirty="0"/>
          </a:p>
        </p:txBody>
      </p:sp>
    </p:spTree>
    <p:extLst>
      <p:ext uri="{BB962C8B-B14F-4D97-AF65-F5344CB8AC3E}">
        <p14:creationId xmlns:p14="http://schemas.microsoft.com/office/powerpoint/2010/main" val="259486223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dsholder til tekst 1">
            <a:extLst>
              <a:ext uri="{FF2B5EF4-FFF2-40B4-BE49-F238E27FC236}">
                <a16:creationId xmlns:a16="http://schemas.microsoft.com/office/drawing/2014/main" id="{9D24A061-C323-8A4F-8E89-14C21DF6239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da-DK"/>
              <a:t>1.</a:t>
            </a:r>
          </a:p>
        </p:txBody>
      </p:sp>
      <p:sp>
        <p:nvSpPr>
          <p:cNvPr id="3" name="Pladsholder til tekst 2">
            <a:extLst>
              <a:ext uri="{FF2B5EF4-FFF2-40B4-BE49-F238E27FC236}">
                <a16:creationId xmlns:a16="http://schemas.microsoft.com/office/drawing/2014/main" id="{4EFCCC45-2736-FB49-8F57-5E5E55DF5903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da-DK" dirty="0" err="1"/>
              <a:t>Kubernetes</a:t>
            </a:r>
            <a:r>
              <a:rPr lang="da-DK" dirty="0"/>
              <a:t> Basics</a:t>
            </a:r>
          </a:p>
        </p:txBody>
      </p:sp>
    </p:spTree>
    <p:extLst>
      <p:ext uri="{BB962C8B-B14F-4D97-AF65-F5344CB8AC3E}">
        <p14:creationId xmlns:p14="http://schemas.microsoft.com/office/powerpoint/2010/main" val="362062558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EF6486-3651-9A06-5A6F-3E23E06ED6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K" dirty="0"/>
              <a:t>Container = Legoklods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381E595-117E-B275-CAF8-CF920DBC83CF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838130" y="1690688"/>
            <a:ext cx="10605517" cy="4442517"/>
          </a:xfrm>
        </p:spPr>
        <p:txBody>
          <a:bodyPr>
            <a:normAutofit/>
          </a:bodyPr>
          <a:lstStyle/>
          <a:p>
            <a:r>
              <a:rPr lang="en-DK" dirty="0"/>
              <a:t>Hvis vi kan bygge hvert komponent</a:t>
            </a:r>
            <a:br>
              <a:rPr lang="en-DK" dirty="0"/>
            </a:br>
            <a:r>
              <a:rPr lang="en-DK" dirty="0"/>
              <a:t>i vores system som selvstændige</a:t>
            </a:r>
            <a:br>
              <a:rPr lang="en-DK" dirty="0"/>
            </a:br>
            <a:r>
              <a:rPr lang="en-DK" dirty="0"/>
              <a:t>isolerede komponenter…</a:t>
            </a:r>
            <a:br>
              <a:rPr lang="en-DK" dirty="0"/>
            </a:br>
            <a:endParaRPr lang="en-DK" dirty="0"/>
          </a:p>
          <a:p>
            <a:pPr lvl="1">
              <a:buFont typeface="Wingdings" pitchFamily="2" charset="2"/>
              <a:buChar char="Ø"/>
            </a:pPr>
            <a:r>
              <a:rPr lang="en-DK" dirty="0"/>
              <a:t>Kan vi køre systemet </a:t>
            </a:r>
            <a:r>
              <a:rPr lang="en-DK" u="sng" dirty="0"/>
              <a:t>hvor som helst</a:t>
            </a:r>
            <a:r>
              <a:rPr lang="en-DK" dirty="0"/>
              <a:t>.</a:t>
            </a:r>
          </a:p>
          <a:p>
            <a:endParaRPr lang="en-DK" dirty="0"/>
          </a:p>
          <a:p>
            <a:pPr lvl="1">
              <a:buFont typeface="Wingdings" pitchFamily="2" charset="2"/>
              <a:buChar char="Ø"/>
            </a:pPr>
            <a:r>
              <a:rPr lang="en-DK" dirty="0"/>
              <a:t>Kan vi hurtigt </a:t>
            </a:r>
            <a:r>
              <a:rPr lang="en-DK" u="sng" dirty="0"/>
              <a:t>skalere efter behov</a:t>
            </a:r>
            <a:r>
              <a:rPr lang="en-DK" dirty="0"/>
              <a:t>, ved at sætte flere af de samme legoklodser på pladen.</a:t>
            </a:r>
          </a:p>
          <a:p>
            <a:endParaRPr lang="en-DK" dirty="0"/>
          </a:p>
          <a:p>
            <a:pPr lvl="1">
              <a:buFont typeface="Wingdings" pitchFamily="2" charset="2"/>
              <a:buChar char="Ø"/>
            </a:pPr>
            <a:r>
              <a:rPr lang="en-DK" dirty="0"/>
              <a:t>Kan vi </a:t>
            </a:r>
            <a:r>
              <a:rPr lang="en-DK" u="sng" dirty="0"/>
              <a:t>opbygge komplekse systemer</a:t>
            </a:r>
            <a:r>
              <a:rPr lang="en-DK" dirty="0"/>
              <a:t> ud af flere lego-klodser, ved at sætte dem sammen.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en-DK" dirty="0"/>
              <a:t>Også legoklodser vi ikke selv kender opskriften på eller har bygget.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en-DK" dirty="0"/>
              <a:t>Legoklodser kan hentes fra forskellige forretninger (repositories).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en-DK" dirty="0"/>
              <a:t>Vi kan bygge vores egen legoklodser ovenpå andres.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43617030-578C-F4AF-ECE3-DBE0E89D8B6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27548" y="1088617"/>
            <a:ext cx="6655483" cy="27725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5826503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2D3D89-9BEF-8D55-1382-2D41438AA8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DK" dirty="0"/>
              <a:t>Containerization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487DB9C-5433-7909-E2B9-424400D5840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endParaRPr lang="en-DK" sz="2000" dirty="0"/>
          </a:p>
          <a:p>
            <a:r>
              <a:rPr lang="en-DK" sz="2000" b="1" dirty="0"/>
              <a:t>Dockerfile</a:t>
            </a:r>
            <a:r>
              <a:rPr lang="en-DK" sz="2000" dirty="0"/>
              <a:t> = Opskrift på en containerized applikation.</a:t>
            </a:r>
          </a:p>
          <a:p>
            <a:pPr lvl="1"/>
            <a:r>
              <a:rPr lang="en-DK" sz="1800" dirty="0"/>
              <a:t>Udviklernes ansvar – Dependencies håndteret, konfigurerbar opsætning.</a:t>
            </a:r>
          </a:p>
          <a:p>
            <a:endParaRPr lang="en-DK" sz="2000" dirty="0"/>
          </a:p>
          <a:p>
            <a:r>
              <a:rPr lang="en-DK" sz="2000" b="1" dirty="0"/>
              <a:t>Container image</a:t>
            </a:r>
            <a:r>
              <a:rPr lang="en-DK" sz="2000" dirty="0"/>
              <a:t> = Den byggede containerized app, klar til at køre hvor som helst!</a:t>
            </a:r>
          </a:p>
          <a:p>
            <a:pPr lvl="1"/>
            <a:r>
              <a:rPr lang="en-DK" sz="1800" dirty="0"/>
              <a:t>Er artefakt der kan afvikle en app uafhængigt af host maskinen.</a:t>
            </a:r>
          </a:p>
          <a:p>
            <a:endParaRPr lang="en-DK" sz="2000" dirty="0"/>
          </a:p>
          <a:p>
            <a:r>
              <a:rPr lang="en-DK" sz="2000" b="1" dirty="0"/>
              <a:t>Container runtime</a:t>
            </a:r>
            <a:r>
              <a:rPr lang="en-DK" sz="2000" dirty="0"/>
              <a:t> = Der hvor container images/apps afvikles.</a:t>
            </a:r>
          </a:p>
          <a:p>
            <a:pPr lvl="1"/>
            <a:r>
              <a:rPr lang="en-DK" sz="1800" dirty="0"/>
              <a:t>Docker</a:t>
            </a:r>
          </a:p>
          <a:p>
            <a:pPr lvl="1"/>
            <a:r>
              <a:rPr lang="en-DK" sz="1800" dirty="0"/>
              <a:t>Kubernetes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41051377-DB27-605A-F6EB-29524A5D141E}"/>
              </a:ext>
            </a:extLst>
          </p:cNvPr>
          <p:cNvSpPr/>
          <p:nvPr/>
        </p:nvSpPr>
        <p:spPr>
          <a:xfrm>
            <a:off x="838132" y="4187952"/>
            <a:ext cx="7217732" cy="1261872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K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B168C44-07F9-CD0F-12E8-812DBF74C046}"/>
              </a:ext>
            </a:extLst>
          </p:cNvPr>
          <p:cNvSpPr txBox="1"/>
          <p:nvPr/>
        </p:nvSpPr>
        <p:spPr>
          <a:xfrm>
            <a:off x="774898" y="5449824"/>
            <a:ext cx="218775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DK" b="1" dirty="0">
                <a:solidFill>
                  <a:srgbClr val="FF0000"/>
                </a:solidFill>
              </a:rPr>
              <a:t>Fokus for workshop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1AE1295E-7BFD-CBE6-6E0D-1DA6A64B081D}"/>
              </a:ext>
            </a:extLst>
          </p:cNvPr>
          <p:cNvGrpSpPr/>
          <p:nvPr/>
        </p:nvGrpSpPr>
        <p:grpSpPr>
          <a:xfrm>
            <a:off x="8968847" y="768561"/>
            <a:ext cx="2857500" cy="1920187"/>
            <a:chOff x="7339440" y="365125"/>
            <a:chExt cx="2857500" cy="1920187"/>
          </a:xfrm>
        </p:grpSpPr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52112581-CEBA-F5F7-CEE6-91024BDD007D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b="37154"/>
            <a:stretch>
              <a:fillRect/>
            </a:stretch>
          </p:blipFill>
          <p:spPr>
            <a:xfrm>
              <a:off x="7339440" y="824710"/>
              <a:ext cx="2857500" cy="1460602"/>
            </a:xfrm>
            <a:prstGeom prst="rect">
              <a:avLst/>
            </a:prstGeom>
          </p:spPr>
        </p:pic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DE971C68-95C2-D1B8-622B-609A03D8C73C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BEBA8EAE-BF5A-486C-A8C5-ECC9F3942E4B}">
                  <a14:imgProps xmlns:a14="http://schemas.microsoft.com/office/drawing/2010/main">
                    <a14:imgLayer r:embed="rId5">
                      <a14:imgEffect>
                        <a14:backgroundRemoval t="6364" b="57276" l="10000" r="9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b="36360"/>
            <a:stretch>
              <a:fillRect/>
            </a:stretch>
          </p:blipFill>
          <p:spPr>
            <a:xfrm>
              <a:off x="7855300" y="365125"/>
              <a:ext cx="2341640" cy="1261872"/>
            </a:xfrm>
            <a:prstGeom prst="rect">
              <a:avLst/>
            </a:prstGeom>
          </p:spPr>
        </p:pic>
      </p:grpSp>
      <p:grpSp>
        <p:nvGrpSpPr>
          <p:cNvPr id="10" name="Group 9">
            <a:extLst>
              <a:ext uri="{FF2B5EF4-FFF2-40B4-BE49-F238E27FC236}">
                <a16:creationId xmlns:a16="http://schemas.microsoft.com/office/drawing/2014/main" id="{C0DFC7F9-D249-2FE7-627E-980CF77CE697}"/>
              </a:ext>
            </a:extLst>
          </p:cNvPr>
          <p:cNvGrpSpPr/>
          <p:nvPr/>
        </p:nvGrpSpPr>
        <p:grpSpPr>
          <a:xfrm>
            <a:off x="8795157" y="3970545"/>
            <a:ext cx="2857500" cy="1938605"/>
            <a:chOff x="9263638" y="3132872"/>
            <a:chExt cx="2857500" cy="1938605"/>
          </a:xfrm>
        </p:grpSpPr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5DAECC6A-7C84-E265-251A-D51643218BF9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BEBA8EAE-BF5A-486C-A8C5-ECC9F3942E4B}">
                  <a14:imgProps xmlns:a14="http://schemas.microsoft.com/office/drawing/2010/main">
                    <a14:imgLayer r:embed="rId7">
                      <a14:imgEffect>
                        <a14:backgroundRemoval t="6011" b="57104" l="2667" r="93111">
                          <a14:foregroundMark x1="8889" y1="27869" x2="10667" y2="27322"/>
                          <a14:foregroundMark x1="11556" y1="29781" x2="8667" y2="26503"/>
                          <a14:foregroundMark x1="10000" y1="28142" x2="8222" y2="29235"/>
                          <a14:foregroundMark x1="9556" y1="32240" x2="2667" y2="31148"/>
                          <a14:foregroundMark x1="59778" y1="46721" x2="74667" y2="56557"/>
                          <a14:foregroundMark x1="74667" y1="56557" x2="88444" y2="42350"/>
                          <a14:foregroundMark x1="88444" y1="42350" x2="82222" y2="22678"/>
                          <a14:foregroundMark x1="82222" y1="22678" x2="64000" y2="30601"/>
                          <a14:foregroundMark x1="64000" y1="30601" x2="54444" y2="48361"/>
                          <a14:foregroundMark x1="54444" y1="48361" x2="64000" y2="57104"/>
                          <a14:foregroundMark x1="82889" y1="23224" x2="88222" y2="24863"/>
                          <a14:foregroundMark x1="88667" y1="24317" x2="93111" y2="28962"/>
                          <a14:backgroundMark x1="12889" y1="24044" x2="11556" y2="24590"/>
                          <a14:backgroundMark x1="12222" y1="25683" x2="10667" y2="26230"/>
                        </a14:backgroundRemoval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b="37154"/>
            <a:stretch>
              <a:fillRect/>
            </a:stretch>
          </p:blipFill>
          <p:spPr>
            <a:xfrm>
              <a:off x="9263638" y="3610875"/>
              <a:ext cx="2857500" cy="1460602"/>
            </a:xfrm>
            <a:prstGeom prst="rect">
              <a:avLst/>
            </a:prstGeom>
          </p:spPr>
        </p:pic>
        <p:pic>
          <p:nvPicPr>
            <p:cNvPr id="3074" name="Picture 2">
              <a:extLst>
                <a:ext uri="{FF2B5EF4-FFF2-40B4-BE49-F238E27FC236}">
                  <a16:creationId xmlns:a16="http://schemas.microsoft.com/office/drawing/2014/main" id="{82F81A2C-1359-A5EC-C89A-F9109B8049EB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0168309" y="3132872"/>
              <a:ext cx="1395538" cy="135629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E5DB54C7-0CFE-A976-734B-85929372C357}"/>
              </a:ext>
            </a:extLst>
          </p:cNvPr>
          <p:cNvCxnSpPr>
            <a:cxnSpLocks/>
            <a:stCxn id="8" idx="2"/>
          </p:cNvCxnSpPr>
          <p:nvPr/>
        </p:nvCxnSpPr>
        <p:spPr>
          <a:xfrm>
            <a:off x="10397597" y="2688748"/>
            <a:ext cx="0" cy="1114626"/>
          </a:xfrm>
          <a:prstGeom prst="straightConnector1">
            <a:avLst/>
          </a:prstGeom>
          <a:ln w="76200">
            <a:solidFill>
              <a:srgbClr val="005DE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8028747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E08BC0-E8A5-AFEF-4A65-A0CFDD6293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K" dirty="0"/>
              <a:t>Docker vs Kubernetes (k8s)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C5FCB6A-AE6B-58BA-6E2F-1496A525AAA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838132" y="1690688"/>
            <a:ext cx="10515600" cy="4442517"/>
          </a:xfrm>
        </p:spPr>
        <p:txBody>
          <a:bodyPr>
            <a:normAutofit/>
          </a:bodyPr>
          <a:lstStyle/>
          <a:p>
            <a:r>
              <a:rPr lang="en-GB" sz="2000" dirty="0"/>
              <a:t>Docker is a container runtime used to build, package, and </a:t>
            </a:r>
            <a:r>
              <a:rPr lang="en-GB" sz="2000" b="1" dirty="0"/>
              <a:t>run containers on a single machine.</a:t>
            </a:r>
          </a:p>
          <a:p>
            <a:r>
              <a:rPr lang="en-GB" sz="2000" dirty="0"/>
              <a:t>Docker makes applications portable by packaging code, dependencies, libraries, and configuration into a consistent container image.</a:t>
            </a:r>
          </a:p>
          <a:p>
            <a:endParaRPr lang="en-GB" sz="2000" dirty="0"/>
          </a:p>
          <a:p>
            <a:r>
              <a:rPr lang="en-GB" sz="2000" dirty="0"/>
              <a:t>Kubernetes is a </a:t>
            </a:r>
            <a:r>
              <a:rPr lang="en-GB" sz="2000" b="1" dirty="0"/>
              <a:t>platform</a:t>
            </a:r>
            <a:r>
              <a:rPr lang="en-GB" sz="2000" dirty="0"/>
              <a:t> for deploying, managing, and </a:t>
            </a:r>
            <a:r>
              <a:rPr lang="en-GB" sz="2000" b="1" dirty="0"/>
              <a:t>scaling containers across multiple machines </a:t>
            </a:r>
            <a:r>
              <a:rPr lang="en-GB" sz="2000" dirty="0"/>
              <a:t>(aka. a cluster).</a:t>
            </a:r>
          </a:p>
          <a:p>
            <a:r>
              <a:rPr lang="en-GB" sz="2000" dirty="0"/>
              <a:t>Kubernetes </a:t>
            </a:r>
            <a:r>
              <a:rPr lang="en-GB" sz="2000" b="1" dirty="0"/>
              <a:t>also handles orchestration </a:t>
            </a:r>
            <a:r>
              <a:rPr lang="en-GB" sz="2000" dirty="0"/>
              <a:t>tasks such as scheduling, self-healing, service discovery, rolling updates, and load balancing.</a:t>
            </a:r>
          </a:p>
          <a:p>
            <a:endParaRPr lang="en-GB" sz="2000" dirty="0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BF331C3D-6994-17E1-1030-C1DAFF1D7D66}"/>
              </a:ext>
            </a:extLst>
          </p:cNvPr>
          <p:cNvCxnSpPr/>
          <p:nvPr/>
        </p:nvCxnSpPr>
        <p:spPr>
          <a:xfrm>
            <a:off x="539086" y="2934268"/>
            <a:ext cx="11252580" cy="0"/>
          </a:xfrm>
          <a:prstGeom prst="line">
            <a:avLst/>
          </a:prstGeom>
          <a:ln w="12700">
            <a:solidFill>
              <a:schemeClr val="accent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TextBox 4">
            <a:extLst>
              <a:ext uri="{FF2B5EF4-FFF2-40B4-BE49-F238E27FC236}">
                <a16:creationId xmlns:a16="http://schemas.microsoft.com/office/drawing/2014/main" id="{1ABEDF49-4DA4-048A-8606-A778D6BA534F}"/>
              </a:ext>
            </a:extLst>
          </p:cNvPr>
          <p:cNvSpPr txBox="1"/>
          <p:nvPr/>
        </p:nvSpPr>
        <p:spPr>
          <a:xfrm>
            <a:off x="2205724" y="5009493"/>
            <a:ext cx="7919303" cy="1123712"/>
          </a:xfrm>
          <a:prstGeom prst="roundRect">
            <a:avLst/>
          </a:prstGeom>
          <a:ln/>
        </p:spPr>
        <p:style>
          <a:lnRef idx="0">
            <a:schemeClr val="accent5"/>
          </a:lnRef>
          <a:fillRef idx="3">
            <a:schemeClr val="accent5"/>
          </a:fillRef>
          <a:effectRef idx="3">
            <a:schemeClr val="accent5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GB" sz="2000" b="1" dirty="0"/>
              <a:t>Docker</a:t>
            </a:r>
            <a:r>
              <a:rPr lang="en-GB" sz="2000" dirty="0"/>
              <a:t> creates and runs containers,</a:t>
            </a:r>
            <a:br>
              <a:rPr lang="en-GB" sz="2000" dirty="0"/>
            </a:br>
            <a:r>
              <a:rPr lang="en-GB" sz="2000" dirty="0"/>
              <a:t>while </a:t>
            </a:r>
            <a:r>
              <a:rPr lang="en-GB" sz="2000" b="1" dirty="0"/>
              <a:t>Kubernetes</a:t>
            </a:r>
            <a:r>
              <a:rPr lang="en-GB" sz="2000" dirty="0"/>
              <a:t> </a:t>
            </a:r>
            <a:r>
              <a:rPr lang="en-GB" sz="2000" i="1" dirty="0"/>
              <a:t>also</a:t>
            </a:r>
            <a:r>
              <a:rPr lang="en-GB" sz="2000" dirty="0"/>
              <a:t> ensures those containers stay:</a:t>
            </a:r>
            <a:br>
              <a:rPr lang="en-GB" sz="2000" dirty="0"/>
            </a:br>
            <a:r>
              <a:rPr lang="en-GB" sz="2000" b="1" dirty="0"/>
              <a:t>available, scalable, and reliable </a:t>
            </a:r>
            <a:r>
              <a:rPr lang="en-GB" sz="2000" dirty="0"/>
              <a:t>in production</a:t>
            </a:r>
          </a:p>
        </p:txBody>
      </p:sp>
    </p:spTree>
    <p:extLst>
      <p:ext uri="{BB962C8B-B14F-4D97-AF65-F5344CB8AC3E}">
        <p14:creationId xmlns:p14="http://schemas.microsoft.com/office/powerpoint/2010/main" val="26741154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CDC576AD-C039-BBB7-C924-818AB6DC04A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8869"/>
          <a:stretch>
            <a:fillRect/>
          </a:stretch>
        </p:blipFill>
        <p:spPr>
          <a:xfrm>
            <a:off x="1276350" y="300831"/>
            <a:ext cx="9639300" cy="5856288"/>
          </a:xfrm>
          <a:prstGeom prst="rect">
            <a:avLst/>
          </a:prstGeom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C541DDA9-7FDF-EAD3-3697-828F515CAE8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artisticBlur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47594" t="40636" r="7346" b="23946"/>
          <a:stretch>
            <a:fillRect/>
          </a:stretch>
        </p:blipFill>
        <p:spPr>
          <a:xfrm>
            <a:off x="5864086" y="2912165"/>
            <a:ext cx="4343401" cy="22760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071818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xit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up)">
                                      <p:cBhvr>
                                        <p:cTn id="6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F3998498-C728-BA30-64E6-A922BCA536C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118" b="5887"/>
          <a:stretch>
            <a:fillRect/>
          </a:stretch>
        </p:blipFill>
        <p:spPr>
          <a:xfrm>
            <a:off x="1483113" y="362731"/>
            <a:ext cx="10136458" cy="60140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4451041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91B53F-9E38-2828-55E8-6BE97AC277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K" dirty="0"/>
              <a:t>Docker Compose vs. Kubernetes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E86EFF4-0F36-BF02-2EB8-E0E087B591C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>
            <a:normAutofit lnSpcReduction="10000"/>
          </a:bodyPr>
          <a:lstStyle/>
          <a:p>
            <a:r>
              <a:rPr lang="en-DK" dirty="0"/>
              <a:t>Både Docker Compose og Kubernetes er </a:t>
            </a:r>
            <a:r>
              <a:rPr lang="en-DK" b="1" dirty="0"/>
              <a:t>deklarative</a:t>
            </a:r>
            <a:endParaRPr lang="en-DK" dirty="0"/>
          </a:p>
          <a:p>
            <a:pPr lvl="1">
              <a:buFont typeface="Courier New" panose="02070309020205020404" pitchFamily="49" charset="0"/>
              <a:buChar char="o"/>
            </a:pPr>
            <a:r>
              <a:rPr lang="en-DK" dirty="0"/>
              <a:t>Du </a:t>
            </a:r>
            <a:r>
              <a:rPr lang="en-DK" u="sng" dirty="0"/>
              <a:t>beskriver en ønsket tilstand</a:t>
            </a:r>
            <a:r>
              <a:rPr lang="en-DK" dirty="0"/>
              <a:t> for din IT arkitektur.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en-DK" dirty="0"/>
              <a:t>Platformen forsøger at gøre denne til virkelighed.</a:t>
            </a:r>
          </a:p>
          <a:p>
            <a:pPr marL="457200" lvl="1" indent="0">
              <a:buNone/>
            </a:pPr>
            <a:endParaRPr lang="en-DK" dirty="0"/>
          </a:p>
          <a:p>
            <a:r>
              <a:rPr lang="en-DK" dirty="0"/>
              <a:t>Docker Compose er primært: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en-DK" dirty="0"/>
              <a:t>Single-host orkestrering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en-DK" dirty="0"/>
              <a:t>Udvikler-fokuseret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en-DK" dirty="0"/>
              <a:t>Begrænset scaling, load-balancing og self-healing.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en-DK" dirty="0"/>
              <a:t>Hvis Docker hosten dør, er dine systemer bare nede.</a:t>
            </a:r>
          </a:p>
          <a:p>
            <a:pPr>
              <a:buFont typeface="Courier New" panose="02070309020205020404" pitchFamily="49" charset="0"/>
              <a:buChar char="o"/>
            </a:pPr>
            <a:endParaRPr lang="en-DK" dirty="0"/>
          </a:p>
          <a:p>
            <a:r>
              <a:rPr lang="en-DK" dirty="0"/>
              <a:t>Compose     = Deklarativ opstart af infrastruktur</a:t>
            </a:r>
          </a:p>
          <a:p>
            <a:r>
              <a:rPr lang="en-DK" dirty="0"/>
              <a:t>Kubernetes = Deklarativ </a:t>
            </a:r>
            <a:r>
              <a:rPr lang="en-DK" u="sng" dirty="0"/>
              <a:t>kontinuerlig drift</a:t>
            </a:r>
            <a:r>
              <a:rPr lang="en-DK" dirty="0"/>
              <a:t> af infrastruktur</a:t>
            </a:r>
          </a:p>
        </p:txBody>
      </p:sp>
      <p:sp>
        <p:nvSpPr>
          <p:cNvPr id="4" name="Folded Corner 3">
            <a:extLst>
              <a:ext uri="{FF2B5EF4-FFF2-40B4-BE49-F238E27FC236}">
                <a16:creationId xmlns:a16="http://schemas.microsoft.com/office/drawing/2014/main" id="{FA078691-EE60-C647-7410-99B41A490E31}"/>
              </a:ext>
            </a:extLst>
          </p:cNvPr>
          <p:cNvSpPr/>
          <p:nvPr/>
        </p:nvSpPr>
        <p:spPr>
          <a:xfrm>
            <a:off x="9207157" y="4206451"/>
            <a:ext cx="1126273" cy="1325563"/>
          </a:xfrm>
          <a:prstGeom prst="foldedCorner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DK" dirty="0"/>
              <a:t>My desired state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C09F8AC-F311-0230-2997-68549F7FB2A9}"/>
              </a:ext>
            </a:extLst>
          </p:cNvPr>
          <p:cNvSpPr txBox="1"/>
          <p:nvPr/>
        </p:nvSpPr>
        <p:spPr>
          <a:xfrm>
            <a:off x="7848566" y="2213319"/>
            <a:ext cx="4192859" cy="1077218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accent1">
                <a:shade val="15000"/>
              </a:schemeClr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square" rtlCol="0">
            <a:spAutoFit/>
          </a:bodyPr>
          <a:lstStyle/>
          <a:p>
            <a:r>
              <a:rPr lang="en-GB" sz="1600" dirty="0">
                <a:latin typeface="Consolas" panose="020B0609020204030204" pitchFamily="49" charset="0"/>
                <a:cs typeface="Consolas" panose="020B0609020204030204" pitchFamily="49" charset="0"/>
              </a:rPr>
              <a:t>docker network create </a:t>
            </a:r>
            <a:r>
              <a:rPr lang="en-GB" sz="1600" dirty="0" err="1">
                <a:latin typeface="Consolas" panose="020B0609020204030204" pitchFamily="49" charset="0"/>
                <a:cs typeface="Consolas" panose="020B0609020204030204" pitchFamily="49" charset="0"/>
              </a:rPr>
              <a:t>mynet</a:t>
            </a:r>
            <a:endParaRPr lang="en-GB" sz="16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GB" sz="1600" dirty="0">
                <a:latin typeface="Consolas" panose="020B0609020204030204" pitchFamily="49" charset="0"/>
                <a:cs typeface="Consolas" panose="020B0609020204030204" pitchFamily="49" charset="0"/>
              </a:rPr>
              <a:t>docker volume create my-data</a:t>
            </a:r>
          </a:p>
          <a:p>
            <a:r>
              <a:rPr lang="en-GB" sz="1600" dirty="0">
                <a:latin typeface="Consolas" panose="020B0609020204030204" pitchFamily="49" charset="0"/>
                <a:cs typeface="Consolas" panose="020B0609020204030204" pitchFamily="49" charset="0"/>
              </a:rPr>
              <a:t>d</a:t>
            </a:r>
            <a:r>
              <a:rPr lang="en-DK" sz="1600" dirty="0">
                <a:latin typeface="Consolas" panose="020B0609020204030204" pitchFamily="49" charset="0"/>
                <a:cs typeface="Consolas" panose="020B0609020204030204" pitchFamily="49" charset="0"/>
              </a:rPr>
              <a:t>ocker run -d --network=mynet my-app</a:t>
            </a:r>
          </a:p>
          <a:p>
            <a:r>
              <a:rPr lang="en-DK" sz="1600" dirty="0">
                <a:latin typeface="Consolas" panose="020B0609020204030204" pitchFamily="49" charset="0"/>
                <a:cs typeface="Consolas" panose="020B0609020204030204" pitchFamily="49" charset="0"/>
              </a:rPr>
              <a:t>...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FB47B3F-09E3-65A2-4F8A-5B4F904F034B}"/>
              </a:ext>
            </a:extLst>
          </p:cNvPr>
          <p:cNvSpPr txBox="1"/>
          <p:nvPr/>
        </p:nvSpPr>
        <p:spPr>
          <a:xfrm>
            <a:off x="9319598" y="1876253"/>
            <a:ext cx="155559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DK" dirty="0"/>
              <a:t>Commands:</a:t>
            </a:r>
          </a:p>
        </p:txBody>
      </p:sp>
      <p:sp>
        <p:nvSpPr>
          <p:cNvPr id="7" name="Folded Corner 6">
            <a:extLst>
              <a:ext uri="{FF2B5EF4-FFF2-40B4-BE49-F238E27FC236}">
                <a16:creationId xmlns:a16="http://schemas.microsoft.com/office/drawing/2014/main" id="{16FD2180-D68B-5568-B4C3-8B7785A9C78E}"/>
              </a:ext>
            </a:extLst>
          </p:cNvPr>
          <p:cNvSpPr/>
          <p:nvPr/>
        </p:nvSpPr>
        <p:spPr>
          <a:xfrm>
            <a:off x="9359557" y="4358851"/>
            <a:ext cx="1126273" cy="1325563"/>
          </a:xfrm>
          <a:prstGeom prst="foldedCorner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DK" dirty="0"/>
              <a:t>My desired state</a:t>
            </a:r>
          </a:p>
        </p:txBody>
      </p:sp>
      <p:sp>
        <p:nvSpPr>
          <p:cNvPr id="8" name="Folded Corner 7">
            <a:extLst>
              <a:ext uri="{FF2B5EF4-FFF2-40B4-BE49-F238E27FC236}">
                <a16:creationId xmlns:a16="http://schemas.microsoft.com/office/drawing/2014/main" id="{A5B032BD-03E2-0909-390B-8D41ABC377E3}"/>
              </a:ext>
            </a:extLst>
          </p:cNvPr>
          <p:cNvSpPr/>
          <p:nvPr/>
        </p:nvSpPr>
        <p:spPr>
          <a:xfrm>
            <a:off x="9511957" y="4511251"/>
            <a:ext cx="1126273" cy="1325563"/>
          </a:xfrm>
          <a:prstGeom prst="foldedCorner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DK" dirty="0"/>
              <a:t>My desired state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EA7B9F2-4A1F-04A1-B888-EBABAB34A96E}"/>
              </a:ext>
            </a:extLst>
          </p:cNvPr>
          <p:cNvSpPr txBox="1"/>
          <p:nvPr/>
        </p:nvSpPr>
        <p:spPr>
          <a:xfrm>
            <a:off x="9381860" y="3628502"/>
            <a:ext cx="99060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DK" dirty="0"/>
              <a:t>VERSUS</a:t>
            </a:r>
          </a:p>
        </p:txBody>
      </p:sp>
    </p:spTree>
    <p:extLst>
      <p:ext uri="{BB962C8B-B14F-4D97-AF65-F5344CB8AC3E}">
        <p14:creationId xmlns:p14="http://schemas.microsoft.com/office/powerpoint/2010/main" val="202810676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601616-C8F5-E0FB-517D-7628002A2F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K" dirty="0"/>
              <a:t>Hvad er Kubernetes?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6AB69C7-EAD7-6D5F-A326-169044F2CF8B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838132" y="1690689"/>
            <a:ext cx="10515600" cy="4050919"/>
          </a:xfrm>
        </p:spPr>
        <p:txBody>
          <a:bodyPr>
            <a:normAutofit/>
          </a:bodyPr>
          <a:lstStyle/>
          <a:p>
            <a:r>
              <a:rPr lang="en-DK" u="sng" dirty="0"/>
              <a:t>Et multi-node high-availability container runtime.</a:t>
            </a:r>
            <a:br>
              <a:rPr lang="en-DK" u="sng" dirty="0"/>
            </a:br>
            <a:endParaRPr lang="en-DK" u="sng" dirty="0"/>
          </a:p>
          <a:p>
            <a:r>
              <a:rPr lang="en-DK" dirty="0"/>
              <a:t>I forhold til Docker Compose får vi også:</a:t>
            </a:r>
          </a:p>
          <a:p>
            <a:pPr lvl="1"/>
            <a:r>
              <a:rPr lang="en-GB" b="1" dirty="0" err="1"/>
              <a:t>Orkestrering</a:t>
            </a:r>
            <a:r>
              <a:rPr lang="en-GB" dirty="0"/>
              <a:t>: Automatic management of containerized applications across multiple servers</a:t>
            </a:r>
          </a:p>
          <a:p>
            <a:pPr lvl="1"/>
            <a:r>
              <a:rPr lang="en-GB" b="1" dirty="0"/>
              <a:t>Service  &amp; Load Balancing</a:t>
            </a:r>
            <a:r>
              <a:rPr lang="en-GB" dirty="0"/>
              <a:t>: Automatic service detection and internal traffic distribution</a:t>
            </a:r>
          </a:p>
          <a:p>
            <a:pPr lvl="1"/>
            <a:r>
              <a:rPr lang="en-GB" b="1" dirty="0" err="1"/>
              <a:t>Automatiseret</a:t>
            </a:r>
            <a:r>
              <a:rPr lang="en-GB" b="1" dirty="0"/>
              <a:t> </a:t>
            </a:r>
            <a:r>
              <a:rPr lang="en-GB" b="1" dirty="0" err="1"/>
              <a:t>udrulning</a:t>
            </a:r>
            <a:r>
              <a:rPr lang="en-GB" dirty="0"/>
              <a:t>: Streamlined application rollouts, updates, and rollbacks</a:t>
            </a:r>
          </a:p>
          <a:p>
            <a:pPr lvl="1"/>
            <a:r>
              <a:rPr lang="en-GB" b="1" dirty="0"/>
              <a:t>Self-healing features</a:t>
            </a:r>
            <a:r>
              <a:rPr lang="en-GB" dirty="0"/>
              <a:t>: Continuously monitors health to automatically restart, replace, or reschedule failed containers, maintaining service uptime.</a:t>
            </a:r>
          </a:p>
          <a:p>
            <a:pPr lvl="1"/>
            <a:r>
              <a:rPr lang="en-GB" b="1" dirty="0" err="1"/>
              <a:t>Ressource</a:t>
            </a:r>
            <a:r>
              <a:rPr lang="en-GB" b="1" dirty="0"/>
              <a:t> </a:t>
            </a:r>
            <a:r>
              <a:rPr lang="en-GB" b="1" dirty="0" err="1"/>
              <a:t>styring</a:t>
            </a:r>
            <a:r>
              <a:rPr lang="en-GB" dirty="0"/>
              <a:t>: Optimization of CPU, memory, and storage usage through precise configuration and dynamic allocation, maximizing hardware utilization.</a:t>
            </a:r>
            <a:endParaRPr lang="en-DK" dirty="0"/>
          </a:p>
          <a:p>
            <a:endParaRPr lang="en-DK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46A2ABD-1B84-3930-21E4-8732C08D267B}"/>
              </a:ext>
            </a:extLst>
          </p:cNvPr>
          <p:cNvSpPr txBox="1"/>
          <p:nvPr/>
        </p:nvSpPr>
        <p:spPr>
          <a:xfrm>
            <a:off x="3303651" y="5461523"/>
            <a:ext cx="7919303" cy="783193"/>
          </a:xfrm>
          <a:prstGeom prst="roundRect">
            <a:avLst/>
          </a:prstGeom>
          <a:ln/>
        </p:spPr>
        <p:style>
          <a:lnRef idx="0">
            <a:schemeClr val="accent5"/>
          </a:lnRef>
          <a:fillRef idx="3">
            <a:schemeClr val="accent5"/>
          </a:fillRef>
          <a:effectRef idx="3">
            <a:schemeClr val="accent5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GB" sz="2000" dirty="0"/>
              <a:t>Kubernetes is a declarative control plane that continuously reconciles desired cluster state against actual runtime state.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1D18D7F1-B4E5-5B05-AD70-E30492142DF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6011" b="59563" l="6222" r="94000">
                        <a14:foregroundMark x1="8889" y1="28962" x2="7556" y2="30601"/>
                        <a14:foregroundMark x1="77333" y1="24590" x2="92889" y2="32514"/>
                        <a14:foregroundMark x1="92889" y1="32514" x2="82889" y2="49454"/>
                        <a14:foregroundMark x1="82889" y1="49454" x2="65556" y2="59563"/>
                        <a14:foregroundMark x1="65556" y1="59563" x2="73333" y2="39344"/>
                        <a14:foregroundMark x1="73333" y1="39344" x2="85778" y2="22404"/>
                        <a14:foregroundMark x1="84889" y1="25683" x2="71111" y2="37705"/>
                        <a14:foregroundMark x1="71111" y1="37705" x2="57778" y2="17213"/>
                        <a14:foregroundMark x1="57778" y1="17213" x2="57333" y2="15847"/>
                        <a14:foregroundMark x1="86222" y1="27322" x2="87556" y2="25683"/>
                        <a14:foregroundMark x1="86222" y1="26776" x2="89778" y2="28415"/>
                        <a14:foregroundMark x1="87556" y1="23497" x2="88444" y2="25137"/>
                        <a14:foregroundMark x1="94222" y1="28962" x2="83556" y2="38251"/>
                        <a14:foregroundMark x1="8444" y1="31148" x2="6222" y2="32787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b="37154"/>
          <a:stretch>
            <a:fillRect/>
          </a:stretch>
        </p:blipFill>
        <p:spPr>
          <a:xfrm>
            <a:off x="9392370" y="109668"/>
            <a:ext cx="2350516" cy="1201459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B7F16FBD-60C0-8A1F-0CB6-FDBE5EC1C28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6011" b="59563" l="6222" r="94000">
                        <a14:foregroundMark x1="8889" y1="28962" x2="7556" y2="30601"/>
                        <a14:foregroundMark x1="77333" y1="24590" x2="92889" y2="32514"/>
                        <a14:foregroundMark x1="92889" y1="32514" x2="82889" y2="49454"/>
                        <a14:foregroundMark x1="82889" y1="49454" x2="65556" y2="59563"/>
                        <a14:foregroundMark x1="65556" y1="59563" x2="73333" y2="39344"/>
                        <a14:foregroundMark x1="73333" y1="39344" x2="85778" y2="22404"/>
                        <a14:foregroundMark x1="84889" y1="25683" x2="71111" y2="37705"/>
                        <a14:foregroundMark x1="71111" y1="37705" x2="57778" y2="17213"/>
                        <a14:foregroundMark x1="57778" y1="17213" x2="57333" y2="15847"/>
                        <a14:foregroundMark x1="86222" y1="27322" x2="87556" y2="25683"/>
                        <a14:foregroundMark x1="86222" y1="26776" x2="89778" y2="28415"/>
                        <a14:foregroundMark x1="87556" y1="23497" x2="88444" y2="25137"/>
                        <a14:foregroundMark x1="94222" y1="28962" x2="83556" y2="38251"/>
                        <a14:foregroundMark x1="8444" y1="31148" x2="6222" y2="32787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b="37154"/>
          <a:stretch>
            <a:fillRect/>
          </a:stretch>
        </p:blipFill>
        <p:spPr>
          <a:xfrm>
            <a:off x="8045588" y="710397"/>
            <a:ext cx="2181455" cy="1115044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58F87D20-0DBB-A3FC-C466-7EB2E8E3559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6011" b="59563" l="6222" r="94000">
                        <a14:foregroundMark x1="8889" y1="28962" x2="7556" y2="30601"/>
                        <a14:foregroundMark x1="77333" y1="24590" x2="92889" y2="32514"/>
                        <a14:foregroundMark x1="92889" y1="32514" x2="82889" y2="49454"/>
                        <a14:foregroundMark x1="82889" y1="49454" x2="65556" y2="59563"/>
                        <a14:foregroundMark x1="65556" y1="59563" x2="73333" y2="39344"/>
                        <a14:foregroundMark x1="73333" y1="39344" x2="85778" y2="22404"/>
                        <a14:foregroundMark x1="84889" y1="25683" x2="71111" y2="37705"/>
                        <a14:foregroundMark x1="71111" y1="37705" x2="57778" y2="17213"/>
                        <a14:foregroundMark x1="57778" y1="17213" x2="57333" y2="15847"/>
                        <a14:foregroundMark x1="86222" y1="27322" x2="87556" y2="25683"/>
                        <a14:foregroundMark x1="86222" y1="26776" x2="89778" y2="28415"/>
                        <a14:foregroundMark x1="87556" y1="23497" x2="88444" y2="25137"/>
                        <a14:foregroundMark x1="94222" y1="28962" x2="83556" y2="38251"/>
                        <a14:foregroundMark x1="8444" y1="31148" x2="6222" y2="32787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b="37154"/>
          <a:stretch>
            <a:fillRect/>
          </a:stretch>
        </p:blipFill>
        <p:spPr>
          <a:xfrm>
            <a:off x="9912348" y="1070537"/>
            <a:ext cx="2181455" cy="1115044"/>
          </a:xfrm>
          <a:prstGeom prst="rect">
            <a:avLst/>
          </a:prstGeom>
        </p:spPr>
      </p:pic>
      <p:pic>
        <p:nvPicPr>
          <p:cNvPr id="9" name="Picture 2">
            <a:extLst>
              <a:ext uri="{FF2B5EF4-FFF2-40B4-BE49-F238E27FC236}">
                <a16:creationId xmlns:a16="http://schemas.microsoft.com/office/drawing/2014/main" id="{9EF99A41-BBD2-3E00-05E1-04961A0D98C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415742" y="361222"/>
            <a:ext cx="1236223" cy="1201459"/>
          </a:xfrm>
          <a:prstGeom prst="rect">
            <a:avLst/>
          </a:prstGeom>
          <a:noFill/>
          <a:effectLst>
            <a:outerShdw blurRad="71843" dist="89017" dir="2700000" sx="104233" sy="104233" algn="tl" rotWithShape="0">
              <a:prstClr val="black">
                <a:alpha val="40000"/>
              </a:prst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6" name="Freeform 15">
            <a:extLst>
              <a:ext uri="{FF2B5EF4-FFF2-40B4-BE49-F238E27FC236}">
                <a16:creationId xmlns:a16="http://schemas.microsoft.com/office/drawing/2014/main" id="{34D549BF-E6D8-164A-D1D2-F0B18B2649EB}"/>
              </a:ext>
            </a:extLst>
          </p:cNvPr>
          <p:cNvSpPr/>
          <p:nvPr/>
        </p:nvSpPr>
        <p:spPr>
          <a:xfrm>
            <a:off x="8720488" y="778801"/>
            <a:ext cx="770021" cy="510984"/>
          </a:xfrm>
          <a:custGeom>
            <a:avLst/>
            <a:gdLst>
              <a:gd name="csX0" fmla="*/ 0 w 770021"/>
              <a:gd name="csY0" fmla="*/ 510984 h 510984"/>
              <a:gd name="csX1" fmla="*/ 404261 w 770021"/>
              <a:gd name="csY1" fmla="*/ 20096 h 510984"/>
              <a:gd name="csX2" fmla="*/ 770021 w 770021"/>
              <a:gd name="csY2" fmla="*/ 125974 h 51098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770021" h="510984">
                <a:moveTo>
                  <a:pt x="0" y="510984"/>
                </a:moveTo>
                <a:cubicBezTo>
                  <a:pt x="137962" y="297624"/>
                  <a:pt x="275924" y="84264"/>
                  <a:pt x="404261" y="20096"/>
                </a:cubicBezTo>
                <a:cubicBezTo>
                  <a:pt x="532598" y="-44072"/>
                  <a:pt x="701040" y="60201"/>
                  <a:pt x="770021" y="125974"/>
                </a:cubicBezTo>
              </a:path>
            </a:pathLst>
          </a:custGeom>
          <a:noFill/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K"/>
          </a:p>
        </p:txBody>
      </p:sp>
      <p:sp>
        <p:nvSpPr>
          <p:cNvPr id="17" name="Freeform 16">
            <a:extLst>
              <a:ext uri="{FF2B5EF4-FFF2-40B4-BE49-F238E27FC236}">
                <a16:creationId xmlns:a16="http://schemas.microsoft.com/office/drawing/2014/main" id="{DE795248-9093-1144-5FA4-3DE6F70B75EB}"/>
              </a:ext>
            </a:extLst>
          </p:cNvPr>
          <p:cNvSpPr/>
          <p:nvPr/>
        </p:nvSpPr>
        <p:spPr>
          <a:xfrm>
            <a:off x="10616129" y="983710"/>
            <a:ext cx="722431" cy="710336"/>
          </a:xfrm>
          <a:custGeom>
            <a:avLst/>
            <a:gdLst>
              <a:gd name="csX0" fmla="*/ 722431 w 722431"/>
              <a:gd name="csY0" fmla="*/ 710336 h 710336"/>
              <a:gd name="csX1" fmla="*/ 452924 w 722431"/>
              <a:gd name="csY1" fmla="*/ 65444 h 710336"/>
              <a:gd name="csX2" fmla="*/ 536 w 722431"/>
              <a:gd name="csY2" fmla="*/ 75069 h 71033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722431" h="710336">
                <a:moveTo>
                  <a:pt x="722431" y="710336"/>
                </a:moveTo>
                <a:cubicBezTo>
                  <a:pt x="647835" y="440829"/>
                  <a:pt x="573240" y="171322"/>
                  <a:pt x="452924" y="65444"/>
                </a:cubicBezTo>
                <a:cubicBezTo>
                  <a:pt x="332608" y="-40434"/>
                  <a:pt x="-15506" y="-3537"/>
                  <a:pt x="536" y="75069"/>
                </a:cubicBezTo>
              </a:path>
            </a:pathLst>
          </a:custGeom>
          <a:noFill/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K"/>
          </a:p>
        </p:txBody>
      </p:sp>
      <p:sp>
        <p:nvSpPr>
          <p:cNvPr id="19" name="Freeform 18">
            <a:extLst>
              <a:ext uri="{FF2B5EF4-FFF2-40B4-BE49-F238E27FC236}">
                <a16:creationId xmlns:a16="http://schemas.microsoft.com/office/drawing/2014/main" id="{1683F1A9-DD73-FD14-1CE8-78E425736D8C}"/>
              </a:ext>
            </a:extLst>
          </p:cNvPr>
          <p:cNvSpPr/>
          <p:nvPr/>
        </p:nvSpPr>
        <p:spPr>
          <a:xfrm>
            <a:off x="10357980" y="495172"/>
            <a:ext cx="516297" cy="343397"/>
          </a:xfrm>
          <a:custGeom>
            <a:avLst/>
            <a:gdLst>
              <a:gd name="csX0" fmla="*/ 722431 w 722431"/>
              <a:gd name="csY0" fmla="*/ 710336 h 710336"/>
              <a:gd name="csX1" fmla="*/ 452924 w 722431"/>
              <a:gd name="csY1" fmla="*/ 65444 h 710336"/>
              <a:gd name="csX2" fmla="*/ 536 w 722431"/>
              <a:gd name="csY2" fmla="*/ 75069 h 71033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722431" h="710336">
                <a:moveTo>
                  <a:pt x="722431" y="710336"/>
                </a:moveTo>
                <a:cubicBezTo>
                  <a:pt x="647835" y="440829"/>
                  <a:pt x="573240" y="171322"/>
                  <a:pt x="452924" y="65444"/>
                </a:cubicBezTo>
                <a:cubicBezTo>
                  <a:pt x="332608" y="-40434"/>
                  <a:pt x="-15506" y="-3537"/>
                  <a:pt x="536" y="75069"/>
                </a:cubicBezTo>
              </a:path>
            </a:pathLst>
          </a:custGeom>
          <a:noFill/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50191301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C02D8C-289F-E420-28DB-5D66C9DC80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K" dirty="0"/>
              <a:t>Control Plane (“The Brain”) 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8721456-BEA4-5091-B7D8-C14FFEC8F270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838132" y="1690688"/>
            <a:ext cx="10515600" cy="4710112"/>
          </a:xfrm>
        </p:spPr>
        <p:txBody>
          <a:bodyPr>
            <a:normAutofit fontScale="92500" lnSpcReduction="20000"/>
          </a:bodyPr>
          <a:lstStyle/>
          <a:p>
            <a:r>
              <a:rPr lang="en-DK" b="1" dirty="0"/>
              <a:t>kube-apiserver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en-DK" dirty="0"/>
              <a:t>Central API entrypoint 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en-DK" dirty="0"/>
              <a:t>Stores &amp; validates desired state 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en-DK" dirty="0"/>
              <a:t>All components communicate through it </a:t>
            </a:r>
          </a:p>
          <a:p>
            <a:r>
              <a:rPr lang="en-DK" b="1" dirty="0"/>
              <a:t>etcd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en-DK" dirty="0"/>
              <a:t>Distributed cluster database 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en-DK" dirty="0"/>
              <a:t>Stores all cluster state/configuration </a:t>
            </a:r>
          </a:p>
          <a:p>
            <a:r>
              <a:rPr lang="en-DK" b="1" dirty="0"/>
              <a:t>kube-controller-manager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en-DK" dirty="0"/>
              <a:t>Ensures actual state matches desired state via “reconciliation loops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en-DK" dirty="0"/>
              <a:t>Examples: </a:t>
            </a:r>
          </a:p>
          <a:p>
            <a:pPr lvl="2"/>
            <a:r>
              <a:rPr lang="en-DK" dirty="0"/>
              <a:t>Deployment controller </a:t>
            </a:r>
          </a:p>
          <a:p>
            <a:pPr lvl="2"/>
            <a:r>
              <a:rPr lang="en-DK" dirty="0"/>
              <a:t>Node controller </a:t>
            </a:r>
          </a:p>
          <a:p>
            <a:pPr lvl="2"/>
            <a:r>
              <a:rPr lang="en-DK" dirty="0"/>
              <a:t>ReplicaSet controller </a:t>
            </a:r>
          </a:p>
          <a:p>
            <a:r>
              <a:rPr lang="en-DK" b="1" dirty="0"/>
              <a:t>kube-scheduler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en-DK" dirty="0"/>
              <a:t>Decides </a:t>
            </a:r>
            <a:r>
              <a:rPr lang="en-DK" i="1" dirty="0"/>
              <a:t>where</a:t>
            </a:r>
            <a:r>
              <a:rPr lang="en-DK" dirty="0"/>
              <a:t> Pods should run 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en-DK" dirty="0"/>
              <a:t>Considers: resources, affinity, taints/tolerations and more.</a:t>
            </a:r>
          </a:p>
          <a:p>
            <a:endParaRPr lang="en-DK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9023688-B8E6-6214-23B3-53F8277F4F24}"/>
              </a:ext>
            </a:extLst>
          </p:cNvPr>
          <p:cNvSpPr txBox="1"/>
          <p:nvPr/>
        </p:nvSpPr>
        <p:spPr>
          <a:xfrm>
            <a:off x="8158942" y="601872"/>
            <a:ext cx="2241395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DK" sz="7200" dirty="0"/>
              <a:t>🧠</a:t>
            </a:r>
          </a:p>
        </p:txBody>
      </p:sp>
    </p:spTree>
    <p:extLst>
      <p:ext uri="{BB962C8B-B14F-4D97-AF65-F5344CB8AC3E}">
        <p14:creationId xmlns:p14="http://schemas.microsoft.com/office/powerpoint/2010/main" val="203003425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5F8D512-4A86-6EED-D1A5-F4FD065812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K" dirty="0"/>
              <a:t>Worker Nodes (“The Muscle”)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F5FE6FA-DDC9-3B17-46F2-AB057E1F2184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DK" b="1" dirty="0"/>
              <a:t>kubelet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en-DK" dirty="0"/>
              <a:t>Node agent 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en-DK" dirty="0"/>
              <a:t>Ensures Pods are running correctly 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en-DK" dirty="0"/>
              <a:t>Talks to API server – “What’s our state? What should I run?”</a:t>
            </a:r>
          </a:p>
          <a:p>
            <a:r>
              <a:rPr lang="en-DK" b="1" dirty="0"/>
              <a:t>Container Runtime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en-DK" dirty="0"/>
              <a:t>Examples: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en-DK" dirty="0"/>
              <a:t>containerd 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en-DK" dirty="0"/>
              <a:t>CRI-O 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en-DK" dirty="0"/>
              <a:t>Responsible for: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en-DK" dirty="0"/>
              <a:t>pulling images 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en-DK" dirty="0"/>
              <a:t>starting/stopping containers </a:t>
            </a:r>
          </a:p>
          <a:p>
            <a:r>
              <a:rPr lang="en-DK" b="1" dirty="0"/>
              <a:t>kube-proxy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en-DK" dirty="0"/>
              <a:t>Cluster networking/load balancing 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en-DK" dirty="0"/>
              <a:t>Service routing rules</a:t>
            </a:r>
          </a:p>
          <a:p>
            <a:endParaRPr lang="en-DK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D174BA9-0A55-7769-995B-CE91C5DCF11F}"/>
              </a:ext>
            </a:extLst>
          </p:cNvPr>
          <p:cNvSpPr txBox="1"/>
          <p:nvPr/>
        </p:nvSpPr>
        <p:spPr>
          <a:xfrm>
            <a:off x="8660747" y="590720"/>
            <a:ext cx="2241395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DK" sz="7200" dirty="0"/>
              <a:t>💪</a:t>
            </a:r>
          </a:p>
        </p:txBody>
      </p:sp>
    </p:spTree>
    <p:extLst>
      <p:ext uri="{BB962C8B-B14F-4D97-AF65-F5344CB8AC3E}">
        <p14:creationId xmlns:p14="http://schemas.microsoft.com/office/powerpoint/2010/main" val="284384648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578AD8-1D55-B56D-CD65-DB1D44CC71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243681"/>
            <a:ext cx="10515600" cy="1325563"/>
          </a:xfrm>
        </p:spPr>
        <p:txBody>
          <a:bodyPr/>
          <a:lstStyle/>
          <a:p>
            <a:r>
              <a:rPr lang="en-DK" dirty="0"/>
              <a:t>Kubernetes Cluster</a:t>
            </a:r>
          </a:p>
        </p:txBody>
      </p:sp>
      <p:pic>
        <p:nvPicPr>
          <p:cNvPr id="4098" name="Picture 2" descr="Kubernetes vs Docker - Kubernetes components. Kubernetes vs Docker">
            <a:extLst>
              <a:ext uri="{FF2B5EF4-FFF2-40B4-BE49-F238E27FC236}">
                <a16:creationId xmlns:a16="http://schemas.microsoft.com/office/drawing/2014/main" id="{36FFC76C-9A9F-F423-F94D-B27F0C86F9B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131541" y="1296367"/>
            <a:ext cx="7928918" cy="531795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CFECDFFA-55AC-3ED7-F3FF-275EE8011DA9}"/>
              </a:ext>
            </a:extLst>
          </p:cNvPr>
          <p:cNvSpPr txBox="1"/>
          <p:nvPr/>
        </p:nvSpPr>
        <p:spPr>
          <a:xfrm>
            <a:off x="6252084" y="1153745"/>
            <a:ext cx="2241395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DK" sz="4800" dirty="0"/>
              <a:t>🧠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9C8AEEB-96C8-A2E7-720B-BD3ED79F0C8D}"/>
              </a:ext>
            </a:extLst>
          </p:cNvPr>
          <p:cNvSpPr txBox="1"/>
          <p:nvPr/>
        </p:nvSpPr>
        <p:spPr>
          <a:xfrm>
            <a:off x="6004102" y="4165373"/>
            <a:ext cx="224139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DK" sz="4000" dirty="0"/>
              <a:t>💪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C1DC6EC-0C42-F360-1D23-FB6D6D306B11}"/>
              </a:ext>
            </a:extLst>
          </p:cNvPr>
          <p:cNvSpPr txBox="1"/>
          <p:nvPr/>
        </p:nvSpPr>
        <p:spPr>
          <a:xfrm>
            <a:off x="1947745" y="4142197"/>
            <a:ext cx="224139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DK" sz="4000" dirty="0"/>
              <a:t>💪</a:t>
            </a:r>
          </a:p>
        </p:txBody>
      </p:sp>
    </p:spTree>
    <p:extLst>
      <p:ext uri="{BB962C8B-B14F-4D97-AF65-F5344CB8AC3E}">
        <p14:creationId xmlns:p14="http://schemas.microsoft.com/office/powerpoint/2010/main" val="186016647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C18750-7BE5-890B-208A-8CA4034E8A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K" dirty="0"/>
              <a:t>Kubernetes API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9305E5D-02E5-61D2-E6D2-EF168E4EBBB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>
            <a:normAutofit/>
          </a:bodyPr>
          <a:lstStyle/>
          <a:p>
            <a:pPr algn="l"/>
            <a:r>
              <a:rPr lang="en-GB" dirty="0"/>
              <a:t>The core of Kubernetes' </a:t>
            </a:r>
            <a:r>
              <a:rPr lang="en-GB" dirty="0">
                <a:hlinkClick r:id="rId2"/>
              </a:rPr>
              <a:t>control plane</a:t>
            </a:r>
            <a:r>
              <a:rPr lang="en-GB" dirty="0"/>
              <a:t> is the </a:t>
            </a:r>
            <a:r>
              <a:rPr lang="en-GB" dirty="0">
                <a:hlinkClick r:id="rId3"/>
              </a:rPr>
              <a:t>API server</a:t>
            </a:r>
            <a:r>
              <a:rPr lang="en-GB" dirty="0"/>
              <a:t>. The API server exposes an HTTP API that lets end-users, parts of your cluster, and external components communicate with one another.</a:t>
            </a:r>
            <a:br>
              <a:rPr lang="en-GB" dirty="0"/>
            </a:br>
            <a:endParaRPr lang="en-GB" dirty="0"/>
          </a:p>
          <a:p>
            <a:pPr algn="l"/>
            <a:r>
              <a:rPr lang="en-GB" dirty="0"/>
              <a:t>Query and manipulate the state of API objects in Kubernetes</a:t>
            </a:r>
          </a:p>
          <a:p>
            <a:pPr lvl="1"/>
            <a:r>
              <a:rPr lang="en-GB" dirty="0" err="1"/>
              <a:t>Fx</a:t>
            </a:r>
            <a:r>
              <a:rPr lang="en-GB" dirty="0"/>
              <a:t>. Namespaces, Deployments, Pods, </a:t>
            </a:r>
            <a:r>
              <a:rPr lang="en-GB" dirty="0" err="1"/>
              <a:t>ConfigMaps</a:t>
            </a:r>
            <a:r>
              <a:rPr lang="en-GB" dirty="0"/>
              <a:t>.</a:t>
            </a:r>
          </a:p>
          <a:p>
            <a:pPr lvl="1"/>
            <a:r>
              <a:rPr lang="en-GB" dirty="0"/>
              <a:t>These objects (or manifests) simply describes the desired state of the cluster.</a:t>
            </a:r>
          </a:p>
          <a:p>
            <a:pPr algn="l"/>
            <a:endParaRPr lang="en-GB" dirty="0"/>
          </a:p>
          <a:p>
            <a:pPr algn="l"/>
            <a:r>
              <a:rPr lang="en-GB" b="1" dirty="0" err="1">
                <a:solidFill>
                  <a:srgbClr val="005DE0"/>
                </a:solidFill>
              </a:rPr>
              <a:t>kubectl</a:t>
            </a:r>
            <a:r>
              <a:rPr lang="en-GB" dirty="0"/>
              <a:t> </a:t>
            </a:r>
            <a:r>
              <a:rPr lang="en-GB" dirty="0">
                <a:sym typeface="Wingdings" pitchFamily="2" charset="2"/>
              </a:rPr>
              <a:t></a:t>
            </a:r>
            <a:r>
              <a:rPr lang="en-GB" dirty="0"/>
              <a:t> just an easy way to interact with API</a:t>
            </a:r>
          </a:p>
          <a:p>
            <a:endParaRPr lang="en-DK" dirty="0"/>
          </a:p>
        </p:txBody>
      </p:sp>
    </p:spTree>
    <p:extLst>
      <p:ext uri="{BB962C8B-B14F-4D97-AF65-F5344CB8AC3E}">
        <p14:creationId xmlns:p14="http://schemas.microsoft.com/office/powerpoint/2010/main" val="378482907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678323-5920-816F-6C41-5C70265B78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K" dirty="0"/>
              <a:t>Hvordan bruger man så Kubernetes?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86B3432-0AC5-C360-75A4-8C7EEDE32797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DK" dirty="0"/>
              <a:t>CLI værktøjet </a:t>
            </a:r>
            <a:r>
              <a:rPr lang="en-DK" b="1" dirty="0">
                <a:latin typeface="Consolas" panose="020B0609020204030204" pitchFamily="49" charset="0"/>
                <a:cs typeface="Consolas" panose="020B0609020204030204" pitchFamily="49" charset="0"/>
              </a:rPr>
              <a:t>kubectl</a:t>
            </a:r>
          </a:p>
          <a:p>
            <a:pPr lvl="1"/>
            <a:r>
              <a:rPr lang="en-DK" dirty="0"/>
              <a:t>Meget ens med </a:t>
            </a:r>
            <a:r>
              <a:rPr lang="en-DK" b="1" dirty="0">
                <a:latin typeface="Consolas" panose="020B0609020204030204" pitchFamily="49" charset="0"/>
                <a:cs typeface="Consolas" panose="020B0609020204030204" pitchFamily="49" charset="0"/>
              </a:rPr>
              <a:t>docker</a:t>
            </a:r>
            <a:r>
              <a:rPr lang="en-DK" dirty="0"/>
              <a:t> og </a:t>
            </a:r>
            <a:r>
              <a:rPr lang="en-DK" b="1" dirty="0">
                <a:latin typeface="Consolas" panose="020B0609020204030204" pitchFamily="49" charset="0"/>
                <a:cs typeface="Consolas" panose="020B0609020204030204" pitchFamily="49" charset="0"/>
              </a:rPr>
              <a:t>docker compose </a:t>
            </a:r>
            <a:r>
              <a:rPr lang="en-DK" dirty="0">
                <a:latin typeface="Calibri" panose="020F0502020204030204" pitchFamily="34" charset="0"/>
                <a:cs typeface="Calibri" panose="020F0502020204030204" pitchFamily="34" charset="0"/>
              </a:rPr>
              <a:t>(cmds og flag)</a:t>
            </a:r>
          </a:p>
          <a:p>
            <a:endParaRPr lang="en-DK" dirty="0"/>
          </a:p>
          <a:p>
            <a:r>
              <a:rPr lang="en-DK" dirty="0"/>
              <a:t>Faktisk laver </a:t>
            </a:r>
            <a:r>
              <a:rPr lang="en-DK" b="1" dirty="0">
                <a:latin typeface="Consolas" panose="020B0609020204030204" pitchFamily="49" charset="0"/>
                <a:cs typeface="Consolas" panose="020B0609020204030204" pitchFamily="49" charset="0"/>
              </a:rPr>
              <a:t>kubectl</a:t>
            </a:r>
            <a:r>
              <a:rPr lang="en-DK" dirty="0"/>
              <a:t> bare API kald der opretter og redigerer dokumenter.</a:t>
            </a:r>
          </a:p>
          <a:p>
            <a:endParaRPr lang="en-DK" dirty="0"/>
          </a:p>
          <a:p>
            <a:r>
              <a:rPr lang="en-DK" sz="2800" dirty="0"/>
              <a:t>Lad os prøve at oprette en Deployment!</a:t>
            </a:r>
            <a:br>
              <a:rPr lang="en-DK" sz="2800" dirty="0"/>
            </a:br>
            <a:br>
              <a:rPr lang="en-DK" sz="2800" dirty="0"/>
            </a:br>
            <a:r>
              <a:rPr lang="en-DK" dirty="0">
                <a:solidFill>
                  <a:srgbClr val="005DE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kubectl create deployment web --image=nginx</a:t>
            </a:r>
            <a:br>
              <a:rPr lang="en-DK" dirty="0">
                <a:solidFill>
                  <a:srgbClr val="005DE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DK" dirty="0">
                <a:solidFill>
                  <a:srgbClr val="005DE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kubectl get all -o wide</a:t>
            </a:r>
            <a:endParaRPr lang="en-DK" sz="2800" dirty="0">
              <a:solidFill>
                <a:srgbClr val="005DE0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246816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dsholder til tekst 1">
            <a:extLst>
              <a:ext uri="{FF2B5EF4-FFF2-40B4-BE49-F238E27FC236}">
                <a16:creationId xmlns:a16="http://schemas.microsoft.com/office/drawing/2014/main" id="{391F6EE4-50F2-FB06-9153-6CFF7145519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205033" y="2703050"/>
            <a:ext cx="1391202" cy="946150"/>
          </a:xfrm>
        </p:spPr>
        <p:txBody>
          <a:bodyPr/>
          <a:lstStyle/>
          <a:p>
            <a:r>
              <a:rPr lang="da-DK" dirty="0"/>
              <a:t>2.</a:t>
            </a:r>
          </a:p>
        </p:txBody>
      </p:sp>
      <p:sp>
        <p:nvSpPr>
          <p:cNvPr id="3" name="Pladsholder til tekst 2">
            <a:extLst>
              <a:ext uri="{FF2B5EF4-FFF2-40B4-BE49-F238E27FC236}">
                <a16:creationId xmlns:a16="http://schemas.microsoft.com/office/drawing/2014/main" id="{7517BDA5-72B2-1B8B-DDD6-81808EDF1A65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2596235" y="2703049"/>
            <a:ext cx="5578284" cy="2884543"/>
          </a:xfrm>
        </p:spPr>
        <p:txBody>
          <a:bodyPr/>
          <a:lstStyle/>
          <a:p>
            <a:r>
              <a:rPr lang="da-DK" dirty="0" err="1"/>
              <a:t>Kubernetes</a:t>
            </a:r>
            <a:br>
              <a:rPr lang="da-DK" dirty="0"/>
            </a:br>
            <a:r>
              <a:rPr lang="da-DK" sz="3600" dirty="0"/>
              <a:t>CLI Demo</a:t>
            </a:r>
          </a:p>
          <a:p>
            <a:r>
              <a:rPr lang="da-DK" sz="2400" dirty="0">
                <a:solidFill>
                  <a:srgbClr val="005DE0"/>
                </a:solidFill>
              </a:rPr>
              <a:t>Appetitvækker</a:t>
            </a:r>
          </a:p>
        </p:txBody>
      </p:sp>
    </p:spTree>
    <p:extLst>
      <p:ext uri="{BB962C8B-B14F-4D97-AF65-F5344CB8AC3E}">
        <p14:creationId xmlns:p14="http://schemas.microsoft.com/office/powerpoint/2010/main" val="23704753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519E1D-F72D-C25C-ED0E-EE93C3603C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K" dirty="0"/>
              <a:t>2. Demo – Smagsprøve på k8s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470A9C0-C8AA-0235-10F5-1A1C3B59B28F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>
            <a:normAutofit fontScale="92500" lnSpcReduction="20000"/>
          </a:bodyPr>
          <a:lstStyle/>
          <a:p>
            <a:pPr marL="457200" indent="-457200">
              <a:buFont typeface="+mj-lt"/>
              <a:buAutoNum type="arabicPeriod"/>
            </a:pPr>
            <a:r>
              <a:rPr lang="en-DK" dirty="0"/>
              <a:t>Let’s create a Deployment and mess </a:t>
            </a:r>
            <a:r>
              <a:rPr lang="en-GB" dirty="0" err="1"/>
              <a:t>wi</a:t>
            </a:r>
            <a:r>
              <a:rPr lang="en-DK" dirty="0"/>
              <a:t>th it!</a:t>
            </a:r>
          </a:p>
          <a:p>
            <a:pPr marL="457200" lvl="1" indent="0">
              <a:buNone/>
            </a:pPr>
            <a:r>
              <a:rPr lang="en-DK" dirty="0"/>
              <a:t>Deployment </a:t>
            </a:r>
            <a:r>
              <a:rPr lang="en-DK" dirty="0">
                <a:sym typeface="Wingdings" pitchFamily="2" charset="2"/>
              </a:rPr>
              <a:t> ReplicaSet  Pod</a:t>
            </a:r>
          </a:p>
          <a:p>
            <a:pPr marL="457200" lvl="1" indent="0">
              <a:buNone/>
            </a:pPr>
            <a:endParaRPr lang="en-DK" dirty="0"/>
          </a:p>
          <a:p>
            <a:pPr marL="457200" indent="-457200">
              <a:buFont typeface="+mj-lt"/>
              <a:buAutoNum type="arabicPeriod"/>
            </a:pPr>
            <a:r>
              <a:rPr lang="en-DK" dirty="0"/>
              <a:t>Destroy stuff and watch Kubernetes reconcile 😈</a:t>
            </a:r>
          </a:p>
          <a:p>
            <a:pPr marL="457200" indent="-457200">
              <a:buFont typeface="+mj-lt"/>
              <a:buAutoNum type="arabicPeriod"/>
            </a:pPr>
            <a:endParaRPr lang="en-DK" dirty="0"/>
          </a:p>
          <a:p>
            <a:pPr marL="457200" indent="-457200">
              <a:buFont typeface="+mj-lt"/>
              <a:buAutoNum type="arabicPeriod"/>
            </a:pPr>
            <a:r>
              <a:rPr lang="en-DK" dirty="0"/>
              <a:t>Let’s horizontally scale our Deployment</a:t>
            </a:r>
          </a:p>
          <a:p>
            <a:pPr marL="457200" indent="-457200">
              <a:buFont typeface="+mj-lt"/>
              <a:buAutoNum type="arabicPeriod"/>
            </a:pPr>
            <a:endParaRPr lang="en-DK" dirty="0"/>
          </a:p>
          <a:p>
            <a:pPr marL="457200" indent="-457200">
              <a:buFont typeface="+mj-lt"/>
              <a:buAutoNum type="arabicPeriod"/>
            </a:pPr>
            <a:r>
              <a:rPr lang="en-DK" dirty="0"/>
              <a:t>Zero-downtime changes</a:t>
            </a:r>
          </a:p>
          <a:p>
            <a:pPr marL="457200" indent="-457200">
              <a:buFont typeface="+mj-lt"/>
              <a:buAutoNum type="arabicPeriod"/>
            </a:pPr>
            <a:endParaRPr lang="en-DK" dirty="0"/>
          </a:p>
          <a:p>
            <a:pPr marL="457200" indent="-457200">
              <a:buFont typeface="+mj-lt"/>
              <a:buAutoNum type="arabicPeriod"/>
            </a:pPr>
            <a:r>
              <a:rPr lang="en-DK" dirty="0"/>
              <a:t>Reach a container</a:t>
            </a:r>
          </a:p>
          <a:p>
            <a:pPr marL="457200" indent="-457200">
              <a:buFont typeface="+mj-lt"/>
              <a:buAutoNum type="arabicPeriod"/>
            </a:pPr>
            <a:endParaRPr lang="en-DK" dirty="0"/>
          </a:p>
          <a:p>
            <a:pPr marL="457200" indent="-457200">
              <a:buFont typeface="+mj-lt"/>
              <a:buAutoNum type="arabicPeriod"/>
            </a:pPr>
            <a:r>
              <a:rPr lang="en-DK" dirty="0"/>
              <a:t>A peek inside</a:t>
            </a:r>
            <a:br>
              <a:rPr lang="en-DK" dirty="0"/>
            </a:br>
            <a:endParaRPr lang="en-DK" dirty="0"/>
          </a:p>
        </p:txBody>
      </p:sp>
    </p:spTree>
    <p:extLst>
      <p:ext uri="{BB962C8B-B14F-4D97-AF65-F5344CB8AC3E}">
        <p14:creationId xmlns:p14="http://schemas.microsoft.com/office/powerpoint/2010/main" val="338374344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3" grpId="1" build="p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F3DC07-C2A9-85B8-C699-182DA18B55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K" dirty="0"/>
              <a:t>Kubernetes Manifests (YAML)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77F301F-8CD3-E01C-146D-9B94F70184CB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DK" dirty="0"/>
              <a:t>YAML manifests are the documents describing our desired state.</a:t>
            </a:r>
          </a:p>
          <a:p>
            <a:endParaRPr lang="en-DK" dirty="0"/>
          </a:p>
          <a:p>
            <a:r>
              <a:rPr lang="en-DK" dirty="0"/>
              <a:t>Let’s look at a Manifest (YAML) for one of our objects.</a:t>
            </a:r>
          </a:p>
          <a:p>
            <a:endParaRPr lang="en-DK" dirty="0"/>
          </a:p>
          <a:p>
            <a:r>
              <a:rPr lang="en-DK" dirty="0">
                <a:latin typeface="Consolas" panose="020B0609020204030204" pitchFamily="49" charset="0"/>
                <a:cs typeface="Consolas" panose="020B0609020204030204" pitchFamily="49" charset="0"/>
              </a:rPr>
              <a:t># From imperative to declarative</a:t>
            </a:r>
          </a:p>
          <a:p>
            <a:r>
              <a:rPr lang="en-GB" dirty="0">
                <a:solidFill>
                  <a:srgbClr val="005DE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k</a:t>
            </a:r>
            <a:r>
              <a:rPr lang="en-DK" dirty="0">
                <a:solidFill>
                  <a:srgbClr val="005DE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ubectl create</a:t>
            </a:r>
            <a:r>
              <a:rPr lang="en-DK" dirty="0">
                <a:latin typeface="Consolas" panose="020B0609020204030204" pitchFamily="49" charset="0"/>
                <a:cs typeface="Consolas" panose="020B0609020204030204" pitchFamily="49" charset="0"/>
              </a:rPr>
              <a:t> … </a:t>
            </a:r>
            <a:r>
              <a:rPr lang="en-DK" dirty="0">
                <a:latin typeface="Consolas" panose="020B0609020204030204" pitchFamily="49" charset="0"/>
                <a:cs typeface="Consolas" panose="020B0609020204030204" pitchFamily="49" charset="0"/>
                <a:sym typeface="Wingdings" pitchFamily="2" charset="2"/>
              </a:rPr>
              <a:t></a:t>
            </a:r>
            <a:r>
              <a:rPr lang="en-DK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DK" dirty="0">
                <a:solidFill>
                  <a:srgbClr val="005DE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kubectl get deploy –o yaml &gt; deploy.yml</a:t>
            </a:r>
          </a:p>
          <a:p>
            <a:endParaRPr lang="en-DK" dirty="0">
              <a:latin typeface="Consolas" panose="020B0609020204030204" pitchFamily="49" charset="0"/>
              <a:cs typeface="Consolas" panose="020B0609020204030204" pitchFamily="49" charset="0"/>
              <a:sym typeface="Wingdings" pitchFamily="2" charset="2"/>
            </a:endParaRPr>
          </a:p>
          <a:p>
            <a:r>
              <a:rPr lang="en-DK" dirty="0">
                <a:latin typeface="Consolas" panose="020B0609020204030204" pitchFamily="49" charset="0"/>
                <a:cs typeface="Consolas" panose="020B0609020204030204" pitchFamily="49" charset="0"/>
                <a:sym typeface="Wingdings" pitchFamily="2" charset="2"/>
              </a:rPr>
              <a:t># From gone to re-applied</a:t>
            </a:r>
            <a:br>
              <a:rPr lang="en-DK" dirty="0">
                <a:latin typeface="Consolas" panose="020B0609020204030204" pitchFamily="49" charset="0"/>
                <a:cs typeface="Consolas" panose="020B0609020204030204" pitchFamily="49" charset="0"/>
                <a:sym typeface="Wingdings" pitchFamily="2" charset="2"/>
              </a:rPr>
            </a:br>
            <a:r>
              <a:rPr lang="en-DK" dirty="0">
                <a:solidFill>
                  <a:srgbClr val="005DE0"/>
                </a:solidFill>
                <a:latin typeface="Consolas" panose="020B0609020204030204" pitchFamily="49" charset="0"/>
                <a:cs typeface="Consolas" panose="020B0609020204030204" pitchFamily="49" charset="0"/>
                <a:sym typeface="Wingdings" pitchFamily="2" charset="2"/>
              </a:rPr>
              <a:t>kubectl delete</a:t>
            </a:r>
            <a:r>
              <a:rPr lang="en-DK" dirty="0">
                <a:latin typeface="Consolas" panose="020B0609020204030204" pitchFamily="49" charset="0"/>
                <a:cs typeface="Consolas" panose="020B0609020204030204" pitchFamily="49" charset="0"/>
                <a:sym typeface="Wingdings" pitchFamily="2" charset="2"/>
              </a:rPr>
              <a:t> …  </a:t>
            </a:r>
            <a:r>
              <a:rPr lang="en-DK" dirty="0">
                <a:solidFill>
                  <a:srgbClr val="005DE0"/>
                </a:solidFill>
                <a:latin typeface="Consolas" panose="020B0609020204030204" pitchFamily="49" charset="0"/>
                <a:cs typeface="Consolas" panose="020B0609020204030204" pitchFamily="49" charset="0"/>
                <a:sym typeface="Wingdings" pitchFamily="2" charset="2"/>
              </a:rPr>
              <a:t>kubectl apply deploy.yml</a:t>
            </a:r>
            <a:endParaRPr lang="en-DK" dirty="0">
              <a:solidFill>
                <a:srgbClr val="005DE0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endParaRPr lang="en-DK" dirty="0"/>
          </a:p>
          <a:p>
            <a:endParaRPr lang="en-DK" dirty="0"/>
          </a:p>
        </p:txBody>
      </p:sp>
    </p:spTree>
    <p:extLst>
      <p:ext uri="{BB962C8B-B14F-4D97-AF65-F5344CB8AC3E}">
        <p14:creationId xmlns:p14="http://schemas.microsoft.com/office/powerpoint/2010/main" val="112950861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F35425-810D-1386-0EBD-F83E09B41C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B2D960-614A-C839-088C-B2801986EA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K" dirty="0"/>
              <a:t>Namespaces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9BB43B7-46E7-9476-0BC8-9193AD7F08E7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DK" dirty="0"/>
              <a:t>Logisk opdeling af ressourcer (aka. </a:t>
            </a:r>
            <a:r>
              <a:rPr lang="en-GB" dirty="0"/>
              <a:t>L</a:t>
            </a:r>
            <a:r>
              <a:rPr lang="en-DK" dirty="0"/>
              <a:t>abeled fence).</a:t>
            </a:r>
            <a:br>
              <a:rPr lang="en-DK" dirty="0"/>
            </a:br>
            <a:endParaRPr lang="en-DK" dirty="0"/>
          </a:p>
          <a:p>
            <a:pPr marL="0" indent="0">
              <a:buNone/>
            </a:pPr>
            <a:r>
              <a:rPr lang="en-DK" dirty="0"/>
              <a:t>Optionally:</a:t>
            </a:r>
          </a:p>
          <a:p>
            <a:r>
              <a:rPr lang="en-DK" dirty="0"/>
              <a:t>Group-wide resource limits.</a:t>
            </a:r>
          </a:p>
          <a:p>
            <a:r>
              <a:rPr lang="en-DK" dirty="0"/>
              <a:t>Role-based access policy.</a:t>
            </a:r>
          </a:p>
          <a:p>
            <a:r>
              <a:rPr lang="en-DK" dirty="0"/>
              <a:t>Network separation.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897BBD9A-4C82-4A3D-87B8-41CF9F25645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781" t="15919" r="13783" b="22800"/>
          <a:stretch>
            <a:fillRect/>
          </a:stretch>
        </p:blipFill>
        <p:spPr>
          <a:xfrm>
            <a:off x="4937466" y="2296709"/>
            <a:ext cx="6895981" cy="38364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5507589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3BE94B-EAF7-E3C6-4C06-B6A093F347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K" dirty="0"/>
              <a:t>W</a:t>
            </a:r>
            <a:r>
              <a:rPr lang="en-GB" dirty="0"/>
              <a:t>h</a:t>
            </a:r>
            <a:r>
              <a:rPr lang="en-DK" dirty="0"/>
              <a:t>at is a Pod?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C3C3B05-A533-6D64-223F-ACFEF714C85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838132" y="1690688"/>
            <a:ext cx="10837312" cy="4442517"/>
          </a:xfrm>
        </p:spPr>
        <p:txBody>
          <a:bodyPr>
            <a:normAutofit/>
          </a:bodyPr>
          <a:lstStyle/>
          <a:p>
            <a:pPr algn="l"/>
            <a:r>
              <a:rPr lang="en-GB" dirty="0"/>
              <a:t>“Pods are the </a:t>
            </a:r>
            <a:r>
              <a:rPr lang="en-GB" b="1" dirty="0"/>
              <a:t>smallest deployable unit </a:t>
            </a:r>
            <a:r>
              <a:rPr lang="en-GB" dirty="0"/>
              <a:t>you can create and manage in Kubernetes.”</a:t>
            </a:r>
          </a:p>
          <a:p>
            <a:pPr algn="l"/>
            <a:endParaRPr lang="en-GB" dirty="0"/>
          </a:p>
          <a:p>
            <a:pPr algn="l"/>
            <a:r>
              <a:rPr lang="en-GB" dirty="0"/>
              <a:t>En Pod er </a:t>
            </a:r>
            <a:r>
              <a:rPr lang="en-GB" dirty="0" err="1"/>
              <a:t>en</a:t>
            </a:r>
            <a:r>
              <a:rPr lang="en-GB" dirty="0"/>
              <a:t> </a:t>
            </a:r>
            <a:r>
              <a:rPr lang="en-GB" dirty="0" err="1"/>
              <a:t>eller</a:t>
            </a:r>
            <a:r>
              <a:rPr lang="en-GB" dirty="0"/>
              <a:t> </a:t>
            </a:r>
            <a:r>
              <a:rPr lang="en-GB" dirty="0" err="1"/>
              <a:t>flere</a:t>
            </a:r>
            <a:r>
              <a:rPr lang="en-GB" dirty="0"/>
              <a:t> </a:t>
            </a:r>
            <a:r>
              <a:rPr lang="en-GB" dirty="0" err="1"/>
              <a:t>containere</a:t>
            </a:r>
            <a:r>
              <a:rPr lang="en-GB" dirty="0"/>
              <a:t> der </a:t>
            </a:r>
            <a:r>
              <a:rPr lang="en-GB" dirty="0" err="1"/>
              <a:t>kører</a:t>
            </a:r>
            <a:r>
              <a:rPr lang="en-GB" dirty="0"/>
              <a:t> </a:t>
            </a:r>
            <a:r>
              <a:rPr lang="en-GB" dirty="0" err="1"/>
              <a:t>som</a:t>
            </a:r>
            <a:r>
              <a:rPr lang="en-GB" dirty="0"/>
              <a:t> </a:t>
            </a:r>
            <a:r>
              <a:rPr lang="en-GB" dirty="0" err="1"/>
              <a:t>én</a:t>
            </a:r>
            <a:r>
              <a:rPr lang="en-GB" dirty="0"/>
              <a:t> </a:t>
            </a:r>
            <a:r>
              <a:rPr lang="en-GB" dirty="0" err="1"/>
              <a:t>enhed</a:t>
            </a:r>
            <a:r>
              <a:rPr lang="en-GB" dirty="0"/>
              <a:t>. De </a:t>
            </a:r>
            <a:r>
              <a:rPr lang="en-GB" dirty="0" err="1"/>
              <a:t>kører</a:t>
            </a:r>
            <a:r>
              <a:rPr lang="en-GB" dirty="0"/>
              <a:t> </a:t>
            </a:r>
            <a:r>
              <a:rPr lang="en-GB" dirty="0" err="1"/>
              <a:t>i</a:t>
            </a:r>
            <a:r>
              <a:rPr lang="en-GB" dirty="0"/>
              <a:t> </a:t>
            </a:r>
            <a:r>
              <a:rPr lang="en-GB" dirty="0" err="1"/>
              <a:t>samme</a:t>
            </a:r>
            <a:r>
              <a:rPr lang="en-GB" dirty="0"/>
              <a:t> “</a:t>
            </a:r>
            <a:r>
              <a:rPr lang="en-GB" dirty="0" err="1"/>
              <a:t>kravlegård</a:t>
            </a:r>
            <a:r>
              <a:rPr lang="en-GB" dirty="0"/>
              <a:t>” </a:t>
            </a:r>
            <a:r>
              <a:rPr lang="en-GB" dirty="0" err="1"/>
              <a:t>ift</a:t>
            </a:r>
            <a:r>
              <a:rPr lang="en-GB" dirty="0"/>
              <a:t>. </a:t>
            </a:r>
            <a:r>
              <a:rPr lang="en-GB" dirty="0" err="1"/>
              <a:t>ressourcer</a:t>
            </a:r>
            <a:r>
              <a:rPr lang="en-GB" dirty="0"/>
              <a:t> </a:t>
            </a:r>
            <a:r>
              <a:rPr lang="en-GB" dirty="0" err="1"/>
              <a:t>og</a:t>
            </a:r>
            <a:r>
              <a:rPr lang="en-GB" dirty="0"/>
              <a:t> </a:t>
            </a:r>
            <a:r>
              <a:rPr lang="en-GB" dirty="0" err="1"/>
              <a:t>deler</a:t>
            </a:r>
            <a:r>
              <a:rPr lang="en-GB" dirty="0"/>
              <a:t> </a:t>
            </a:r>
            <a:r>
              <a:rPr lang="en-GB" dirty="0" err="1"/>
              <a:t>én</a:t>
            </a:r>
            <a:r>
              <a:rPr lang="en-GB" dirty="0"/>
              <a:t> intern IP </a:t>
            </a:r>
            <a:r>
              <a:rPr lang="en-GB" dirty="0" err="1"/>
              <a:t>adresse</a:t>
            </a:r>
            <a:r>
              <a:rPr lang="en-GB" dirty="0"/>
              <a:t>.</a:t>
            </a:r>
          </a:p>
          <a:p>
            <a:pPr algn="l"/>
            <a:endParaRPr lang="en-GB" dirty="0"/>
          </a:p>
          <a:p>
            <a:pPr algn="l"/>
            <a:r>
              <a:rPr lang="en-GB" dirty="0" err="1"/>
              <a:t>Hver</a:t>
            </a:r>
            <a:r>
              <a:rPr lang="en-GB" dirty="0"/>
              <a:t> container </a:t>
            </a:r>
            <a:r>
              <a:rPr lang="en-GB" dirty="0" err="1"/>
              <a:t>i</a:t>
            </a:r>
            <a:r>
              <a:rPr lang="en-GB" dirty="0"/>
              <a:t> </a:t>
            </a:r>
            <a:r>
              <a:rPr lang="en-GB" dirty="0" err="1"/>
              <a:t>en</a:t>
            </a:r>
            <a:r>
              <a:rPr lang="en-GB" dirty="0"/>
              <a:t> Pod </a:t>
            </a:r>
            <a:r>
              <a:rPr lang="en-GB" dirty="0" err="1"/>
              <a:t>har</a:t>
            </a:r>
            <a:r>
              <a:rPr lang="en-GB" dirty="0"/>
              <a:t> </a:t>
            </a:r>
            <a:r>
              <a:rPr lang="en-GB" dirty="0" err="1"/>
              <a:t>hvert</a:t>
            </a:r>
            <a:r>
              <a:rPr lang="en-GB" dirty="0"/>
              <a:t> </a:t>
            </a:r>
            <a:r>
              <a:rPr lang="en-GB" dirty="0" err="1"/>
              <a:t>deres</a:t>
            </a:r>
            <a:r>
              <a:rPr lang="en-GB" dirty="0"/>
              <a:t> </a:t>
            </a:r>
            <a:r>
              <a:rPr lang="en-GB" dirty="0" err="1"/>
              <a:t>filsystem</a:t>
            </a:r>
            <a:r>
              <a:rPr lang="en-GB" dirty="0"/>
              <a:t>, men </a:t>
            </a:r>
            <a:r>
              <a:rPr lang="en-GB" dirty="0" err="1"/>
              <a:t>kan</a:t>
            </a:r>
            <a:r>
              <a:rPr lang="en-GB" dirty="0"/>
              <a:t> dele </a:t>
            </a:r>
            <a:r>
              <a:rPr lang="en-GB" dirty="0" err="1"/>
              <a:t>enkelte</a:t>
            </a:r>
            <a:r>
              <a:rPr lang="en-GB" dirty="0"/>
              <a:t> mounts.</a:t>
            </a:r>
          </a:p>
          <a:p>
            <a:pPr algn="l"/>
            <a:endParaRPr lang="en-GB" dirty="0"/>
          </a:p>
          <a:p>
            <a:pPr algn="l"/>
            <a:r>
              <a:rPr lang="en-GB" dirty="0"/>
              <a:t>En Pod </a:t>
            </a:r>
            <a:r>
              <a:rPr lang="en-GB" dirty="0" err="1"/>
              <a:t>har</a:t>
            </a:r>
            <a:r>
              <a:rPr lang="en-GB" dirty="0"/>
              <a:t> </a:t>
            </a:r>
            <a:r>
              <a:rPr lang="en-GB" dirty="0" err="1"/>
              <a:t>altid</a:t>
            </a:r>
            <a:r>
              <a:rPr lang="en-GB" dirty="0"/>
              <a:t> </a:t>
            </a:r>
            <a:r>
              <a:rPr lang="en-GB" dirty="0" err="1"/>
              <a:t>én</a:t>
            </a:r>
            <a:r>
              <a:rPr lang="en-GB" dirty="0"/>
              <a:t> </a:t>
            </a:r>
            <a:r>
              <a:rPr lang="en-GB" dirty="0" err="1"/>
              <a:t>eller</a:t>
            </a:r>
            <a:r>
              <a:rPr lang="en-GB" dirty="0"/>
              <a:t> </a:t>
            </a:r>
            <a:r>
              <a:rPr lang="en-GB" dirty="0" err="1"/>
              <a:t>flere</a:t>
            </a:r>
            <a:r>
              <a:rPr lang="en-GB" dirty="0"/>
              <a:t> </a:t>
            </a:r>
            <a:r>
              <a:rPr lang="en-GB" dirty="0" err="1"/>
              <a:t>normale</a:t>
            </a:r>
            <a:r>
              <a:rPr lang="en-GB" dirty="0"/>
              <a:t> </a:t>
            </a:r>
            <a:r>
              <a:rPr lang="en-GB" dirty="0" err="1"/>
              <a:t>containere</a:t>
            </a:r>
            <a:r>
              <a:rPr lang="en-GB" dirty="0"/>
              <a:t> – </a:t>
            </a:r>
            <a:r>
              <a:rPr lang="en-GB" dirty="0" err="1"/>
              <a:t>Oftest</a:t>
            </a:r>
            <a:r>
              <a:rPr lang="en-GB" dirty="0"/>
              <a:t> bare 1.</a:t>
            </a:r>
          </a:p>
          <a:p>
            <a:pPr lvl="1"/>
            <a:r>
              <a:rPr lang="en-GB" dirty="0"/>
              <a:t>Kan </a:t>
            </a:r>
            <a:r>
              <a:rPr lang="en-GB" dirty="0" err="1"/>
              <a:t>også</a:t>
            </a:r>
            <a:r>
              <a:rPr lang="en-GB" dirty="0"/>
              <a:t> have </a:t>
            </a:r>
            <a:r>
              <a:rPr lang="en-GB" dirty="0" err="1"/>
              <a:t>en</a:t>
            </a:r>
            <a:r>
              <a:rPr lang="en-GB" dirty="0"/>
              <a:t> </a:t>
            </a:r>
            <a:r>
              <a:rPr lang="en-GB" dirty="0" err="1"/>
              <a:t>eller</a:t>
            </a:r>
            <a:r>
              <a:rPr lang="en-GB" dirty="0"/>
              <a:t> </a:t>
            </a:r>
            <a:r>
              <a:rPr lang="en-GB" dirty="0" err="1"/>
              <a:t>flere</a:t>
            </a:r>
            <a:r>
              <a:rPr lang="en-GB" dirty="0"/>
              <a:t> </a:t>
            </a:r>
            <a:r>
              <a:rPr lang="en-GB" b="1" dirty="0" err="1"/>
              <a:t>init</a:t>
            </a:r>
            <a:r>
              <a:rPr lang="en-GB" b="1" dirty="0"/>
              <a:t> containers</a:t>
            </a:r>
            <a:r>
              <a:rPr lang="en-GB" dirty="0"/>
              <a:t>, </a:t>
            </a:r>
            <a:r>
              <a:rPr lang="en-GB" dirty="0" err="1"/>
              <a:t>en</a:t>
            </a:r>
            <a:r>
              <a:rPr lang="en-GB" dirty="0"/>
              <a:t> container der </a:t>
            </a:r>
            <a:r>
              <a:rPr lang="en-GB" dirty="0" err="1"/>
              <a:t>skal</a:t>
            </a:r>
            <a:r>
              <a:rPr lang="en-GB" dirty="0"/>
              <a:t> </a:t>
            </a:r>
            <a:r>
              <a:rPr lang="en-GB" dirty="0" err="1"/>
              <a:t>køre</a:t>
            </a:r>
            <a:r>
              <a:rPr lang="en-GB" dirty="0"/>
              <a:t> </a:t>
            </a:r>
            <a:r>
              <a:rPr lang="en-GB" dirty="0" err="1"/>
              <a:t>og</a:t>
            </a:r>
            <a:r>
              <a:rPr lang="en-GB" dirty="0"/>
              <a:t> exit </a:t>
            </a:r>
            <a:r>
              <a:rPr lang="en-GB" dirty="0" err="1"/>
              <a:t>uden</a:t>
            </a:r>
            <a:r>
              <a:rPr lang="en-GB" dirty="0"/>
              <a:t> </a:t>
            </a:r>
            <a:r>
              <a:rPr lang="en-GB" dirty="0" err="1"/>
              <a:t>fejl</a:t>
            </a:r>
            <a:r>
              <a:rPr lang="en-GB" dirty="0"/>
              <a:t> </a:t>
            </a:r>
            <a:r>
              <a:rPr lang="en-GB" dirty="0" err="1"/>
              <a:t>før</a:t>
            </a:r>
            <a:r>
              <a:rPr lang="en-GB" dirty="0"/>
              <a:t> de </a:t>
            </a:r>
            <a:r>
              <a:rPr lang="en-GB" dirty="0" err="1"/>
              <a:t>normale</a:t>
            </a:r>
            <a:r>
              <a:rPr lang="en-GB" dirty="0"/>
              <a:t> starter.</a:t>
            </a:r>
          </a:p>
          <a:p>
            <a:endParaRPr lang="en-DK" dirty="0"/>
          </a:p>
        </p:txBody>
      </p:sp>
    </p:spTree>
    <p:extLst>
      <p:ext uri="{BB962C8B-B14F-4D97-AF65-F5344CB8AC3E}">
        <p14:creationId xmlns:p14="http://schemas.microsoft.com/office/powerpoint/2010/main" val="147732428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628880C9-FF6F-6E89-5436-7E96866C11C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731" t="15766" r="2858" b="3870"/>
          <a:stretch>
            <a:fillRect/>
          </a:stretch>
        </p:blipFill>
        <p:spPr>
          <a:xfrm>
            <a:off x="1172816" y="635228"/>
            <a:ext cx="9846367" cy="55875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8765654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502531-CA05-6F17-A308-64E2058C41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K" dirty="0"/>
              <a:t>Pod manifest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D3A6733-AF53-51A2-2C1C-AE1963041743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838132" y="1690688"/>
            <a:ext cx="7044449" cy="4442517"/>
          </a:xfrm>
        </p:spPr>
        <p:txBody>
          <a:bodyPr/>
          <a:lstStyle/>
          <a:p>
            <a:r>
              <a:rPr lang="en-DK" dirty="0"/>
              <a:t>Manifests describe a desired “state” of the cluster.</a:t>
            </a:r>
            <a:br>
              <a:rPr lang="en-DK" dirty="0"/>
            </a:br>
            <a:endParaRPr lang="en-DK" dirty="0"/>
          </a:p>
          <a:p>
            <a:r>
              <a:rPr lang="en-DK" dirty="0"/>
              <a:t>This manifest says:</a:t>
            </a:r>
          </a:p>
          <a:p>
            <a:pPr lvl="1"/>
            <a:r>
              <a:rPr lang="en-DK" dirty="0"/>
              <a:t>A Pod should exist</a:t>
            </a:r>
          </a:p>
          <a:p>
            <a:pPr lvl="1"/>
            <a:r>
              <a:rPr lang="en-DK" dirty="0"/>
              <a:t>It should be named “nginx”</a:t>
            </a:r>
          </a:p>
          <a:p>
            <a:pPr lvl="1"/>
            <a:r>
              <a:rPr lang="en-DK" dirty="0"/>
              <a:t>It should have a container also named “nginx”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en-DK" dirty="0"/>
              <a:t>This container should use the Docker image “nginx:1.14.2”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en-DK" dirty="0"/>
              <a:t>Like Docker, default repository is </a:t>
            </a:r>
            <a:r>
              <a:rPr lang="en-GB" dirty="0">
                <a:hlinkClick r:id="rId2"/>
              </a:rPr>
              <a:t>hub.docker.com</a:t>
            </a:r>
            <a:endParaRPr lang="en-DK" dirty="0"/>
          </a:p>
          <a:p>
            <a:pPr lvl="1"/>
            <a:endParaRPr lang="en-DK" dirty="0"/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58F92C31-FFD6-86AE-47FA-A0082A67B67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048908" y="1690688"/>
            <a:ext cx="3471219" cy="2900516"/>
          </a:xfrm>
          <a:prstGeom prst="rect">
            <a:avLst/>
          </a:prstGeom>
          <a:solidFill>
            <a:schemeClr val="bg1"/>
          </a:solidFill>
          <a:ln>
            <a:solidFill>
              <a:schemeClr val="accent1"/>
            </a:solidFill>
          </a:ln>
        </p:spPr>
      </p:pic>
    </p:spTree>
    <p:extLst>
      <p:ext uri="{BB962C8B-B14F-4D97-AF65-F5344CB8AC3E}">
        <p14:creationId xmlns:p14="http://schemas.microsoft.com/office/powerpoint/2010/main" val="276446555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92F636-7244-0E71-F685-E7289B0D14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K" dirty="0"/>
              <a:t>What is a Deployment?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6966593-0B01-7CD6-E5C3-AF8C5AD67172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GB" dirty="0"/>
              <a:t>A Deployment provides declarative updates for </a:t>
            </a:r>
            <a:r>
              <a:rPr lang="en-GB" dirty="0">
                <a:hlinkClick r:id="rId2"/>
              </a:rPr>
              <a:t>Pods</a:t>
            </a:r>
            <a:r>
              <a:rPr lang="en-GB" dirty="0"/>
              <a:t> and </a:t>
            </a:r>
            <a:r>
              <a:rPr lang="en-GB" dirty="0">
                <a:hlinkClick r:id="rId3"/>
              </a:rPr>
              <a:t>ReplicaSets</a:t>
            </a:r>
            <a:r>
              <a:rPr lang="en-GB" dirty="0"/>
              <a:t>.</a:t>
            </a:r>
          </a:p>
          <a:p>
            <a:endParaRPr lang="en-GB" dirty="0"/>
          </a:p>
          <a:p>
            <a:pPr algn="l"/>
            <a:r>
              <a:rPr lang="en-GB" dirty="0"/>
              <a:t>A </a:t>
            </a:r>
            <a:r>
              <a:rPr lang="en-GB" b="1" dirty="0" err="1"/>
              <a:t>ReplicaSet</a:t>
            </a:r>
            <a:r>
              <a:rPr lang="en-GB" dirty="0"/>
              <a:t> must maintain a stable set of replicas of the same Pod.</a:t>
            </a:r>
          </a:p>
          <a:p>
            <a:pPr lvl="1"/>
            <a:r>
              <a:rPr lang="en-GB" dirty="0"/>
              <a:t>Replicas must be running at any given time (self-correcting).</a:t>
            </a:r>
          </a:p>
          <a:p>
            <a:pPr lvl="1"/>
            <a:r>
              <a:rPr lang="en-GB" dirty="0"/>
              <a:t>Used to guarantee availability of a specified number of identical Pods.</a:t>
            </a:r>
            <a:br>
              <a:rPr lang="en-GB" dirty="0"/>
            </a:br>
            <a:endParaRPr lang="en-DK" dirty="0"/>
          </a:p>
        </p:txBody>
      </p:sp>
    </p:spTree>
    <p:extLst>
      <p:ext uri="{BB962C8B-B14F-4D97-AF65-F5344CB8AC3E}">
        <p14:creationId xmlns:p14="http://schemas.microsoft.com/office/powerpoint/2010/main" val="278616861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A2961F-E50D-9EE5-81B5-48ECBEAAC8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K" dirty="0"/>
              <a:t>Deployment manifest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466D830-E3C6-072D-D779-CF3A8DF96D91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838132" y="1690688"/>
            <a:ext cx="7429500" cy="4442517"/>
          </a:xfrm>
        </p:spPr>
        <p:txBody>
          <a:bodyPr/>
          <a:lstStyle/>
          <a:p>
            <a:r>
              <a:rPr lang="en-DK" dirty="0"/>
              <a:t>This manifest says:</a:t>
            </a:r>
          </a:p>
          <a:p>
            <a:pPr lvl="1"/>
            <a:r>
              <a:rPr lang="en-DK" dirty="0"/>
              <a:t>There should exist a </a:t>
            </a:r>
            <a:r>
              <a:rPr lang="en-DK" b="1" dirty="0"/>
              <a:t>Deployment</a:t>
            </a:r>
            <a:r>
              <a:rPr lang="en-DK" dirty="0"/>
              <a:t> named “nginx-deployment”</a:t>
            </a:r>
          </a:p>
          <a:p>
            <a:pPr lvl="1"/>
            <a:r>
              <a:rPr lang="en-GB" dirty="0"/>
              <a:t>I</a:t>
            </a:r>
            <a:r>
              <a:rPr lang="en-DK" dirty="0"/>
              <a:t>t should contain 3 identical </a:t>
            </a:r>
            <a:r>
              <a:rPr lang="en-DK" b="1" dirty="0"/>
              <a:t>Pods</a:t>
            </a:r>
          </a:p>
          <a:p>
            <a:pPr lvl="2"/>
            <a:r>
              <a:rPr lang="en-DK" dirty="0"/>
              <a:t>with label </a:t>
            </a:r>
            <a:r>
              <a:rPr lang="en-DK" b="1" dirty="0"/>
              <a:t>app=nginx</a:t>
            </a:r>
            <a:endParaRPr lang="en-DK" dirty="0"/>
          </a:p>
          <a:p>
            <a:pPr lvl="1"/>
            <a:r>
              <a:rPr lang="en-DK" dirty="0"/>
              <a:t>All 3 Pods should be created from the given template</a:t>
            </a:r>
          </a:p>
          <a:p>
            <a:pPr lvl="2"/>
            <a:r>
              <a:rPr lang="en-DK" dirty="0"/>
              <a:t>Template says each Pod has 1 container using </a:t>
            </a:r>
            <a:r>
              <a:rPr lang="en-DK" b="1" dirty="0"/>
              <a:t>nginx:1.14.2 </a:t>
            </a:r>
            <a:r>
              <a:rPr lang="en-DK" dirty="0"/>
              <a:t>image</a:t>
            </a:r>
          </a:p>
          <a:p>
            <a:pPr lvl="2"/>
            <a:r>
              <a:rPr lang="en-DK" dirty="0"/>
              <a:t>It identifies its “owned” pods from a selector</a:t>
            </a:r>
          </a:p>
          <a:p>
            <a:pPr lvl="1"/>
            <a:endParaRPr lang="en-DK" dirty="0"/>
          </a:p>
          <a:p>
            <a:endParaRPr lang="en-DK" dirty="0"/>
          </a:p>
          <a:p>
            <a:endParaRPr lang="en-DK" dirty="0"/>
          </a:p>
          <a:p>
            <a:endParaRPr lang="en-DK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4DD9DD8-701E-5206-6D0F-68E4242299D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8985" t="17855" r="1628"/>
          <a:stretch>
            <a:fillRect/>
          </a:stretch>
        </p:blipFill>
        <p:spPr>
          <a:xfrm>
            <a:off x="8420066" y="836044"/>
            <a:ext cx="3086100" cy="5185912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433897016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3F09A0-5356-C8A0-9E54-858EC42F7E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dsholder til tekst 1">
            <a:extLst>
              <a:ext uri="{FF2B5EF4-FFF2-40B4-BE49-F238E27FC236}">
                <a16:creationId xmlns:a16="http://schemas.microsoft.com/office/drawing/2014/main" id="{14116DA8-0C0C-6DD5-9601-C911D2345A89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205033" y="2703050"/>
            <a:ext cx="1391202" cy="946150"/>
          </a:xfrm>
        </p:spPr>
        <p:txBody>
          <a:bodyPr/>
          <a:lstStyle/>
          <a:p>
            <a:r>
              <a:rPr lang="da-DK" dirty="0"/>
              <a:t>3.</a:t>
            </a:r>
          </a:p>
        </p:txBody>
      </p:sp>
      <p:sp>
        <p:nvSpPr>
          <p:cNvPr id="3" name="Pladsholder til tekst 2">
            <a:extLst>
              <a:ext uri="{FF2B5EF4-FFF2-40B4-BE49-F238E27FC236}">
                <a16:creationId xmlns:a16="http://schemas.microsoft.com/office/drawing/2014/main" id="{88921C93-43F1-9C31-D61E-07D43B44A87D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2596235" y="2703049"/>
            <a:ext cx="5578284" cy="2884543"/>
          </a:xfrm>
        </p:spPr>
        <p:txBody>
          <a:bodyPr/>
          <a:lstStyle/>
          <a:p>
            <a:r>
              <a:rPr lang="da-DK" b="1" dirty="0" err="1"/>
              <a:t>Exercise</a:t>
            </a:r>
            <a:r>
              <a:rPr lang="da-DK" dirty="0"/>
              <a:t>:</a:t>
            </a:r>
            <a:br>
              <a:rPr lang="da-DK" dirty="0"/>
            </a:br>
            <a:r>
              <a:rPr lang="da-DK" dirty="0"/>
              <a:t>Deployments &amp; </a:t>
            </a:r>
            <a:r>
              <a:rPr lang="da-DK" dirty="0" err="1"/>
              <a:t>Pods</a:t>
            </a:r>
            <a:endParaRPr lang="da-DK" sz="2400" dirty="0"/>
          </a:p>
        </p:txBody>
      </p:sp>
    </p:spTree>
    <p:extLst>
      <p:ext uri="{BB962C8B-B14F-4D97-AF65-F5344CB8AC3E}">
        <p14:creationId xmlns:p14="http://schemas.microsoft.com/office/powerpoint/2010/main" val="886160789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4C70DD-688B-711D-5120-8EF8FEA2DD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K" dirty="0"/>
              <a:t>Setup a local Kubernetes cluster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E22ED35-65E3-ADE1-8425-62C77CB78A97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>
            <a:normAutofit/>
          </a:bodyPr>
          <a:lstStyle/>
          <a:p>
            <a:r>
              <a:rPr lang="en-DK" dirty="0"/>
              <a:t>Windows:</a:t>
            </a:r>
          </a:p>
          <a:p>
            <a:pPr lvl="1"/>
            <a:r>
              <a:rPr lang="en-DK" b="1" dirty="0"/>
              <a:t>Rancher Desktop</a:t>
            </a:r>
          </a:p>
          <a:p>
            <a:pPr lvl="1"/>
            <a:r>
              <a:rPr lang="en-GB" dirty="0"/>
              <a:t>k</a:t>
            </a:r>
            <a:r>
              <a:rPr lang="en-DK" dirty="0"/>
              <a:t>ind (choco install)</a:t>
            </a:r>
            <a:br>
              <a:rPr lang="en-DK" dirty="0"/>
            </a:br>
            <a:endParaRPr lang="en-DK" dirty="0"/>
          </a:p>
          <a:p>
            <a:r>
              <a:rPr lang="en-GB" dirty="0"/>
              <a:t>Linux / Mac</a:t>
            </a:r>
          </a:p>
          <a:p>
            <a:pPr lvl="1"/>
            <a:r>
              <a:rPr lang="en-DK" b="1" dirty="0"/>
              <a:t>Rancher Desktop</a:t>
            </a:r>
          </a:p>
          <a:p>
            <a:pPr lvl="1"/>
            <a:r>
              <a:rPr lang="en-DK" dirty="0"/>
              <a:t>kind</a:t>
            </a:r>
            <a:endParaRPr lang="en-GB" dirty="0"/>
          </a:p>
          <a:p>
            <a:pPr lvl="1"/>
            <a:r>
              <a:rPr lang="en-GB" dirty="0"/>
              <a:t>k</a:t>
            </a:r>
            <a:r>
              <a:rPr lang="en-DK" dirty="0"/>
              <a:t>3d</a:t>
            </a:r>
          </a:p>
          <a:p>
            <a:pPr lvl="1"/>
            <a:endParaRPr lang="en-DK" dirty="0"/>
          </a:p>
          <a:p>
            <a:r>
              <a:rPr lang="en-DK" dirty="0"/>
              <a:t>Have the docs at hand!</a:t>
            </a:r>
          </a:p>
          <a:p>
            <a:pPr lvl="1"/>
            <a:r>
              <a:rPr lang="en-GB" dirty="0">
                <a:hlinkClick r:id="rId3"/>
              </a:rPr>
              <a:t>https://kubernetes.io/docs</a:t>
            </a:r>
            <a:r>
              <a:rPr lang="en-GB" dirty="0"/>
              <a:t> </a:t>
            </a:r>
          </a:p>
          <a:p>
            <a:pPr lvl="1"/>
            <a:r>
              <a:rPr lang="en-GB" dirty="0"/>
              <a:t>ChatGPT or similar LLM knows lots about Kubernetes!</a:t>
            </a:r>
            <a:endParaRPr lang="en-DK" dirty="0"/>
          </a:p>
        </p:txBody>
      </p:sp>
    </p:spTree>
    <p:extLst>
      <p:ext uri="{BB962C8B-B14F-4D97-AF65-F5344CB8AC3E}">
        <p14:creationId xmlns:p14="http://schemas.microsoft.com/office/powerpoint/2010/main" val="3354348205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E92848-06E7-EDA7-70E7-E8385E224F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K" dirty="0"/>
              <a:t>Workshop Repo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C57ED57-886A-B59D-5F7A-D3216F9A5664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pPr marL="457200" indent="-457200">
              <a:buFont typeface="+mj-lt"/>
              <a:buAutoNum type="arabicPeriod"/>
            </a:pPr>
            <a:r>
              <a:rPr lang="en-DK" dirty="0"/>
              <a:t>Sørg for at Kubernetes kører lokalt</a:t>
            </a:r>
          </a:p>
          <a:p>
            <a:pPr marL="457200" indent="-457200">
              <a:buFont typeface="+mj-lt"/>
              <a:buAutoNum type="arabicPeriod"/>
            </a:pPr>
            <a:r>
              <a:rPr lang="en-DK" dirty="0"/>
              <a:t>Tjek at </a:t>
            </a:r>
            <a:r>
              <a:rPr lang="en-DK" dirty="0">
                <a:solidFill>
                  <a:srgbClr val="005DE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kubectl get nodes</a:t>
            </a:r>
            <a:r>
              <a:rPr lang="en-DK" dirty="0"/>
              <a:t> virker og viser din egen maskine som node.</a:t>
            </a:r>
          </a:p>
          <a:p>
            <a:pPr marL="457200" indent="-457200">
              <a:buFont typeface="+mj-lt"/>
              <a:buAutoNum type="arabicPeriod"/>
            </a:pPr>
            <a:endParaRPr lang="en-DK" dirty="0"/>
          </a:p>
          <a:p>
            <a:pPr marL="457200" indent="-457200">
              <a:buFont typeface="+mj-lt"/>
              <a:buAutoNum type="arabicPeriod"/>
            </a:pPr>
            <a:r>
              <a:rPr lang="en-DK" dirty="0"/>
              <a:t>Hent repo ned </a:t>
            </a:r>
            <a:r>
              <a:rPr lang="en-DK" dirty="0">
                <a:hlinkClick r:id="rId2"/>
              </a:rPr>
              <a:t>https://github.com/notalib/workshop-kubernetes</a:t>
            </a:r>
            <a:r>
              <a:rPr lang="en-DK" dirty="0"/>
              <a:t> </a:t>
            </a:r>
            <a:br>
              <a:rPr lang="en-DK" dirty="0"/>
            </a:br>
            <a:endParaRPr lang="en-DK" dirty="0"/>
          </a:p>
          <a:p>
            <a:pPr marL="457200" indent="-457200">
              <a:buFont typeface="+mj-lt"/>
              <a:buAutoNum type="arabicPeriod"/>
            </a:pPr>
            <a:r>
              <a:rPr lang="en-DK" dirty="0"/>
              <a:t>Følg instruktioner i </a:t>
            </a:r>
            <a:r>
              <a:rPr lang="en-DK" b="1" dirty="0"/>
              <a:t>1-deployments-pods/README.md</a:t>
            </a:r>
          </a:p>
          <a:p>
            <a:pPr marL="914400" lvl="1" indent="-457200">
              <a:buFont typeface="+mj-lt"/>
              <a:buAutoNum type="alphaLcParenR"/>
            </a:pPr>
            <a:r>
              <a:rPr lang="en-DK" dirty="0"/>
              <a:t>Først kører vi tingene via cmds (imperative)</a:t>
            </a:r>
          </a:p>
          <a:p>
            <a:pPr marL="914400" lvl="1" indent="-457200">
              <a:buFont typeface="+mj-lt"/>
              <a:buAutoNum type="alphaLcParenR"/>
            </a:pPr>
            <a:r>
              <a:rPr lang="en-DK" dirty="0"/>
              <a:t>Så skriver vi det samme som manifester (declarative).</a:t>
            </a:r>
          </a:p>
        </p:txBody>
      </p:sp>
    </p:spTree>
    <p:extLst>
      <p:ext uri="{BB962C8B-B14F-4D97-AF65-F5344CB8AC3E}">
        <p14:creationId xmlns:p14="http://schemas.microsoft.com/office/powerpoint/2010/main" val="2065150521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85B93F-12BD-9BD2-F908-EF3E43E1E9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K" dirty="0"/>
              <a:t>Exercise recap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8407E87-95A9-C552-BEF9-02958CA8D5AD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DK" dirty="0"/>
              <a:t>Hvad lærte vi?</a:t>
            </a:r>
          </a:p>
          <a:p>
            <a:r>
              <a:rPr lang="en-DK" dirty="0"/>
              <a:t>Hvad havde vi svært ved?</a:t>
            </a:r>
          </a:p>
          <a:p>
            <a:r>
              <a:rPr lang="en-DK" dirty="0"/>
              <a:t>Se på løsning</a:t>
            </a:r>
          </a:p>
        </p:txBody>
      </p:sp>
    </p:spTree>
    <p:extLst>
      <p:ext uri="{BB962C8B-B14F-4D97-AF65-F5344CB8AC3E}">
        <p14:creationId xmlns:p14="http://schemas.microsoft.com/office/powerpoint/2010/main" val="4159634025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3472AF-C387-00FE-4978-1A82B3D260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dsholder til tekst 1">
            <a:extLst>
              <a:ext uri="{FF2B5EF4-FFF2-40B4-BE49-F238E27FC236}">
                <a16:creationId xmlns:a16="http://schemas.microsoft.com/office/drawing/2014/main" id="{1A01B9D8-1C24-512A-0FB1-882C120FD36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205033" y="2703050"/>
            <a:ext cx="1391202" cy="946150"/>
          </a:xfrm>
        </p:spPr>
        <p:txBody>
          <a:bodyPr/>
          <a:lstStyle/>
          <a:p>
            <a:r>
              <a:rPr lang="da-DK" dirty="0"/>
              <a:t>4.</a:t>
            </a:r>
          </a:p>
        </p:txBody>
      </p:sp>
      <p:sp>
        <p:nvSpPr>
          <p:cNvPr id="3" name="Pladsholder til tekst 2">
            <a:extLst>
              <a:ext uri="{FF2B5EF4-FFF2-40B4-BE49-F238E27FC236}">
                <a16:creationId xmlns:a16="http://schemas.microsoft.com/office/drawing/2014/main" id="{7F3DD706-C8D0-81A4-2EDB-CDDA9503B3F5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2596235" y="2703049"/>
            <a:ext cx="5578284" cy="2884543"/>
          </a:xfrm>
        </p:spPr>
        <p:txBody>
          <a:bodyPr/>
          <a:lstStyle/>
          <a:p>
            <a:r>
              <a:rPr lang="da-DK" dirty="0"/>
              <a:t>Manifests &amp; </a:t>
            </a:r>
            <a:r>
              <a:rPr lang="da-DK" dirty="0" err="1"/>
              <a:t>Reconciliation</a:t>
            </a:r>
            <a:endParaRPr lang="da-DK" sz="2400" dirty="0"/>
          </a:p>
        </p:txBody>
      </p:sp>
    </p:spTree>
    <p:extLst>
      <p:ext uri="{BB962C8B-B14F-4D97-AF65-F5344CB8AC3E}">
        <p14:creationId xmlns:p14="http://schemas.microsoft.com/office/powerpoint/2010/main" val="3129454410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CD372B-E9A8-1FEA-2B7D-01E2621551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K" dirty="0"/>
              <a:t>Manifest vs. Controller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A054678-5B87-7544-E190-91D011A047DD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>
            <a:normAutofit/>
          </a:bodyPr>
          <a:lstStyle/>
          <a:p>
            <a:r>
              <a:rPr lang="en-DK" sz="2000" b="1" dirty="0"/>
              <a:t>Manifest</a:t>
            </a:r>
          </a:p>
          <a:p>
            <a:pPr lvl="1"/>
            <a:r>
              <a:rPr lang="en-DK" sz="1800" dirty="0"/>
              <a:t>Definition of desired state in YAML for a resource type.</a:t>
            </a:r>
          </a:p>
          <a:p>
            <a:pPr lvl="1"/>
            <a:r>
              <a:rPr lang="en-DK" sz="1800" dirty="0"/>
              <a:t>Fx. </a:t>
            </a:r>
            <a:r>
              <a:rPr lang="en-DK" sz="1800" dirty="0">
                <a:latin typeface="Consolas" panose="020B0609020204030204" pitchFamily="49" charset="0"/>
                <a:cs typeface="Consolas" panose="020B0609020204030204" pitchFamily="49" charset="0"/>
              </a:rPr>
              <a:t>MyDeployment.yaml, MyIngress.yaml</a:t>
            </a:r>
          </a:p>
          <a:p>
            <a:pPr lvl="1"/>
            <a:r>
              <a:rPr lang="en-DK" sz="1800" dirty="0">
                <a:latin typeface="Calibri" panose="020F0502020204030204" pitchFamily="34" charset="0"/>
                <a:cs typeface="Calibri" panose="020F0502020204030204" pitchFamily="34" charset="0"/>
              </a:rPr>
              <a:t>Multiple manifests per file possible </a:t>
            </a:r>
            <a:r>
              <a:rPr lang="en-DK" sz="1800" dirty="0">
                <a:latin typeface="Calibri" panose="020F0502020204030204" pitchFamily="34" charset="0"/>
                <a:cs typeface="Calibri" panose="020F0502020204030204" pitchFamily="34" charset="0"/>
                <a:sym typeface="Wingdings" pitchFamily="2" charset="2"/>
              </a:rPr>
              <a:t> </a:t>
            </a:r>
            <a:r>
              <a:rPr lang="en-DK" sz="1800" dirty="0">
                <a:latin typeface="Calibri" panose="020F0502020204030204" pitchFamily="34" charset="0"/>
                <a:cs typeface="Calibri" panose="020F0502020204030204" pitchFamily="34" charset="0"/>
              </a:rPr>
              <a:t>Split with a </a:t>
            </a:r>
            <a:r>
              <a:rPr lang="en-DK" sz="1800" dirty="0">
                <a:latin typeface="Consolas" panose="020B0609020204030204" pitchFamily="49" charset="0"/>
                <a:cs typeface="Consolas" panose="020B0609020204030204" pitchFamily="49" charset="0"/>
              </a:rPr>
              <a:t>---</a:t>
            </a:r>
            <a:r>
              <a:rPr lang="en-DK" sz="1800" dirty="0">
                <a:latin typeface="Calibri" panose="020F0502020204030204" pitchFamily="34" charset="0"/>
                <a:cs typeface="Calibri" panose="020F0502020204030204" pitchFamily="34" charset="0"/>
              </a:rPr>
              <a:t> line</a:t>
            </a:r>
          </a:p>
          <a:p>
            <a:endParaRPr lang="en-DK" sz="2000" dirty="0"/>
          </a:p>
          <a:p>
            <a:r>
              <a:rPr lang="en-DK" sz="2000" b="1" dirty="0"/>
              <a:t>Controller</a:t>
            </a:r>
          </a:p>
          <a:p>
            <a:pPr lvl="1"/>
            <a:r>
              <a:rPr lang="en-DK" sz="1800" dirty="0"/>
              <a:t>Code responsible for reaching desired state as defined by manifests.</a:t>
            </a:r>
          </a:p>
          <a:p>
            <a:pPr lvl="1"/>
            <a:r>
              <a:rPr lang="en-DK" sz="1800" dirty="0"/>
              <a:t>Usually responsible for 1 type of Manifest each.</a:t>
            </a:r>
          </a:p>
          <a:p>
            <a:pPr lvl="1"/>
            <a:r>
              <a:rPr lang="en-DK" sz="1800" dirty="0"/>
              <a:t>Fx. Pod Controller -&gt; Make sure Pods are running as described by Pod manifests.</a:t>
            </a:r>
          </a:p>
          <a:p>
            <a:pPr lvl="1"/>
            <a:r>
              <a:rPr lang="en-DK" sz="1800" dirty="0"/>
              <a:t>Ingress Controller -&gt; Make sure traffic reaches the desired Service as described by Ingress manifests.</a:t>
            </a:r>
          </a:p>
        </p:txBody>
      </p:sp>
    </p:spTree>
    <p:extLst>
      <p:ext uri="{BB962C8B-B14F-4D97-AF65-F5344CB8AC3E}">
        <p14:creationId xmlns:p14="http://schemas.microsoft.com/office/powerpoint/2010/main" val="3693021017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C5E22C-2172-E6BC-D183-9E6D10EE2B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K" dirty="0"/>
              <a:t>Core Kubernetes loop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9043E19F-A911-D008-F4EB-E561953638E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588" t="20367" r="1470" b="8113"/>
          <a:stretch>
            <a:fillRect/>
          </a:stretch>
        </p:blipFill>
        <p:spPr>
          <a:xfrm>
            <a:off x="457831" y="1690688"/>
            <a:ext cx="11276337" cy="41549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49503667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13FD764C-689F-13B2-84CF-4B94142F43FB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DK" dirty="0"/>
              <a:t>5.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380EFDF-E06A-FD9A-BF38-7BA00FF2592D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GB" dirty="0"/>
              <a:t>k</a:t>
            </a:r>
            <a:r>
              <a:rPr lang="en-DK" dirty="0"/>
              <a:t>ubectl &amp; k9s</a:t>
            </a:r>
          </a:p>
        </p:txBody>
      </p:sp>
    </p:spTree>
    <p:extLst>
      <p:ext uri="{BB962C8B-B14F-4D97-AF65-F5344CB8AC3E}">
        <p14:creationId xmlns:p14="http://schemas.microsoft.com/office/powerpoint/2010/main" val="3074593164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EF8103-AE53-6AC4-9A64-760FB49396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K" dirty="0"/>
              <a:t>Kubectl commands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B6BDE1B-1108-ACC8-8A12-2959F32CE8A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838132" y="1690688"/>
            <a:ext cx="11003912" cy="4442517"/>
          </a:xfrm>
        </p:spPr>
        <p:txBody>
          <a:bodyPr>
            <a:normAutofit fontScale="70000" lnSpcReduction="20000"/>
          </a:bodyPr>
          <a:lstStyle/>
          <a:p>
            <a:r>
              <a:rPr lang="en-DK" dirty="0"/>
              <a:t>Most Docker commands have an analogous kubectl command</a:t>
            </a:r>
          </a:p>
          <a:p>
            <a:pPr lvl="1"/>
            <a:r>
              <a:rPr lang="en-DK" b="1" dirty="0"/>
              <a:t>kubectl run|exec|cp|logs</a:t>
            </a:r>
            <a:r>
              <a:rPr lang="en-DK" dirty="0"/>
              <a:t> etc.</a:t>
            </a:r>
          </a:p>
          <a:p>
            <a:pPr lvl="1"/>
            <a:r>
              <a:rPr lang="en-GB" dirty="0"/>
              <a:t>TIP: source &lt;(</a:t>
            </a:r>
            <a:r>
              <a:rPr lang="en-GB" dirty="0" err="1"/>
              <a:t>kubectl</a:t>
            </a:r>
            <a:r>
              <a:rPr lang="en-GB" dirty="0"/>
              <a:t> completion bash)</a:t>
            </a:r>
            <a:br>
              <a:rPr lang="en-GB" dirty="0"/>
            </a:br>
            <a:endParaRPr lang="en-DK" dirty="0"/>
          </a:p>
          <a:p>
            <a:r>
              <a:rPr lang="en-DK" dirty="0"/>
              <a:t>Basic CRUD operations</a:t>
            </a:r>
            <a:br>
              <a:rPr lang="en-DK" dirty="0"/>
            </a:br>
            <a:br>
              <a:rPr lang="en-DK" dirty="0"/>
            </a:br>
            <a:r>
              <a:rPr lang="en-DK" sz="2300" dirty="0"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kubectl create/get/edit/delete &lt;resource-type&gt;/&lt;name&gt;</a:t>
            </a:r>
            <a:br>
              <a:rPr lang="en-DK" sz="2300" dirty="0"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</a:br>
            <a:endParaRPr lang="en-DK" dirty="0"/>
          </a:p>
          <a:p>
            <a:r>
              <a:rPr lang="en-DK" dirty="0"/>
              <a:t>What is in my Kubernetes?</a:t>
            </a:r>
            <a:br>
              <a:rPr lang="en-DK" dirty="0"/>
            </a:br>
            <a:br>
              <a:rPr lang="en-DK" dirty="0"/>
            </a:br>
            <a:r>
              <a:rPr lang="en-GB" sz="2100" dirty="0"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k</a:t>
            </a:r>
            <a:r>
              <a:rPr lang="en-DK" sz="2100" dirty="0"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ubectl get all/deployment/configmap</a:t>
            </a:r>
            <a:endParaRPr lang="en-DK" dirty="0">
              <a:highlight>
                <a:srgbClr val="D6ECCB"/>
              </a:highlight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endParaRPr lang="en-DK" dirty="0"/>
          </a:p>
          <a:p>
            <a:r>
              <a:rPr lang="en-DK" dirty="0"/>
              <a:t>Run a Pod:  (ephemeral)</a:t>
            </a:r>
            <a:br>
              <a:rPr lang="en-DK" dirty="0"/>
            </a:br>
            <a:br>
              <a:rPr lang="en-DK" dirty="0"/>
            </a:br>
            <a:r>
              <a:rPr lang="en-DK" sz="2100" dirty="0"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kubectl run test -it --image busybox</a:t>
            </a:r>
          </a:p>
          <a:p>
            <a:endParaRPr lang="en-DK" b="1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GB" dirty="0"/>
              <a:t>Create a Deployment:</a:t>
            </a:r>
            <a:br>
              <a:rPr lang="en-GB" dirty="0"/>
            </a:br>
            <a:br>
              <a:rPr lang="en-GB" dirty="0"/>
            </a:br>
            <a:r>
              <a:rPr lang="en-GB" sz="2100" dirty="0" err="1"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kubectl</a:t>
            </a:r>
            <a:r>
              <a:rPr lang="en-GB" sz="2100" dirty="0"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 create deployment test --image=nginx</a:t>
            </a:r>
            <a:r>
              <a:rPr lang="en-GB" sz="2100" dirty="0">
                <a:latin typeface="Consolas" panose="020B0609020204030204" pitchFamily="49" charset="0"/>
                <a:cs typeface="Consolas" panose="020B0609020204030204" pitchFamily="49" charset="0"/>
              </a:rPr>
              <a:t> (in your default namespace!)</a:t>
            </a:r>
          </a:p>
        </p:txBody>
      </p:sp>
    </p:spTree>
    <p:extLst>
      <p:ext uri="{BB962C8B-B14F-4D97-AF65-F5344CB8AC3E}">
        <p14:creationId xmlns:p14="http://schemas.microsoft.com/office/powerpoint/2010/main" val="747683397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3AA81F-84A4-08F2-A0C6-A2A09FE75F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DK" dirty="0"/>
              <a:t>Kubectl commands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9797AF1-2585-1F27-2998-645AD658CD49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838132" y="1690688"/>
            <a:ext cx="10515600" cy="4944288"/>
          </a:xfrm>
        </p:spPr>
        <p:txBody>
          <a:bodyPr>
            <a:normAutofit fontScale="92500" lnSpcReduction="20000"/>
          </a:bodyPr>
          <a:lstStyle/>
          <a:p>
            <a:r>
              <a:rPr lang="en-GB" dirty="0"/>
              <a:t>Get help &amp; examples for any commands: </a:t>
            </a:r>
            <a:r>
              <a:rPr lang="en-GB" sz="2100" dirty="0" err="1"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kubectl</a:t>
            </a:r>
            <a:r>
              <a:rPr lang="en-GB" sz="2100" dirty="0"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 exec –help</a:t>
            </a:r>
          </a:p>
          <a:p>
            <a:endParaRPr lang="en-GB" sz="2100" dirty="0">
              <a:highlight>
                <a:srgbClr val="D6ECCB"/>
              </a:highlight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GB" dirty="0"/>
              <a:t>Have </a:t>
            </a:r>
            <a:r>
              <a:rPr lang="en-GB" dirty="0" err="1"/>
              <a:t>kubectl</a:t>
            </a:r>
            <a:r>
              <a:rPr lang="en-GB" dirty="0"/>
              <a:t> explain any </a:t>
            </a:r>
            <a:r>
              <a:rPr lang="en-GB" dirty="0" err="1"/>
              <a:t>yaml</a:t>
            </a:r>
            <a:r>
              <a:rPr lang="en-GB" dirty="0"/>
              <a:t> property: </a:t>
            </a:r>
            <a:r>
              <a:rPr lang="en-GB" sz="2100" dirty="0" err="1"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kubectl</a:t>
            </a:r>
            <a:r>
              <a:rPr lang="en-GB" sz="2100" dirty="0"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 explain </a:t>
            </a:r>
            <a:r>
              <a:rPr lang="en-GB" sz="2100" dirty="0" err="1"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Deployment.spec</a:t>
            </a:r>
            <a:endParaRPr lang="en-GB" sz="2100" dirty="0">
              <a:highlight>
                <a:srgbClr val="D6ECCB"/>
              </a:highlight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endParaRPr lang="en-GB" dirty="0"/>
          </a:p>
          <a:p>
            <a:r>
              <a:rPr lang="en-GB" dirty="0"/>
              <a:t>Describe a resource: </a:t>
            </a:r>
            <a:r>
              <a:rPr lang="en-GB" sz="2100" dirty="0" err="1"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kubectl</a:t>
            </a:r>
            <a:r>
              <a:rPr lang="en-GB" sz="2100" dirty="0"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 describe &lt;type&gt;/&lt;name&gt;</a:t>
            </a:r>
          </a:p>
          <a:p>
            <a:pPr marL="0" indent="0">
              <a:buNone/>
            </a:pPr>
            <a:endParaRPr lang="en-GB" dirty="0"/>
          </a:p>
          <a:p>
            <a:r>
              <a:rPr lang="en-GB" dirty="0"/>
              <a:t>Get resource: </a:t>
            </a:r>
            <a:r>
              <a:rPr lang="en-GB" sz="2000" dirty="0" err="1"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kubectl</a:t>
            </a:r>
            <a:r>
              <a:rPr lang="en-GB" sz="2000" dirty="0"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 get &lt;type&gt;/&lt;name&gt; [-n &lt;namespace&gt; or -A]</a:t>
            </a:r>
          </a:p>
          <a:p>
            <a:pPr lvl="1"/>
            <a:endParaRPr lang="en-GB" sz="1600" b="1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lvl="1"/>
            <a:r>
              <a:rPr lang="en-GB" sz="1800" dirty="0">
                <a:latin typeface="Calibri" panose="020F0502020204030204" pitchFamily="34" charset="0"/>
                <a:cs typeface="Calibri" panose="020F0502020204030204" pitchFamily="34" charset="0"/>
              </a:rPr>
              <a:t>Output format: </a:t>
            </a:r>
            <a:r>
              <a:rPr lang="en-GB" sz="1800" b="1" dirty="0">
                <a:latin typeface="Consolas" panose="020B0609020204030204" pitchFamily="49" charset="0"/>
                <a:cs typeface="Consolas" panose="020B0609020204030204" pitchFamily="49" charset="0"/>
              </a:rPr>
              <a:t>–o </a:t>
            </a:r>
            <a:r>
              <a:rPr lang="en-GB" sz="1800" b="1" dirty="0" err="1">
                <a:latin typeface="Consolas" panose="020B0609020204030204" pitchFamily="49" charset="0"/>
                <a:cs typeface="Consolas" panose="020B0609020204030204" pitchFamily="49" charset="0"/>
              </a:rPr>
              <a:t>wide|json|yaml</a:t>
            </a:r>
            <a:br>
              <a:rPr lang="en-GB" sz="1600" b="1" dirty="0">
                <a:latin typeface="Consolas" panose="020B0609020204030204" pitchFamily="49" charset="0"/>
                <a:cs typeface="Consolas" panose="020B0609020204030204" pitchFamily="49" charset="0"/>
              </a:rPr>
            </a:br>
            <a:endParaRPr lang="en-GB" sz="1600" b="1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lvl="1"/>
            <a:r>
              <a:rPr lang="en-GB" dirty="0"/>
              <a:t>Some examples:</a:t>
            </a:r>
            <a:br>
              <a:rPr lang="en-GB" dirty="0"/>
            </a:br>
            <a:br>
              <a:rPr lang="en-GB" dirty="0"/>
            </a:br>
            <a:r>
              <a:rPr lang="en-GB" sz="1700" dirty="0" err="1"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kubectl</a:t>
            </a:r>
            <a:r>
              <a:rPr lang="en-GB" sz="1700" dirty="0"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 get deployment/test –o wide</a:t>
            </a:r>
            <a:br>
              <a:rPr lang="en-GB" sz="1700" dirty="0"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</a:br>
            <a:br>
              <a:rPr lang="en-GB" sz="1700" dirty="0"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GB" sz="1700" dirty="0" err="1"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kubectl</a:t>
            </a:r>
            <a:r>
              <a:rPr lang="en-GB" sz="1700" dirty="0"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 get </a:t>
            </a:r>
            <a:r>
              <a:rPr lang="en-GB" sz="1700" dirty="0" err="1"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confimap</a:t>
            </a:r>
            <a:r>
              <a:rPr lang="en-GB" sz="1700" dirty="0"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/my-</a:t>
            </a:r>
            <a:r>
              <a:rPr lang="en-GB" sz="1700" dirty="0" err="1"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configmap</a:t>
            </a:r>
            <a:r>
              <a:rPr lang="en-GB" sz="1700" dirty="0"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 –o </a:t>
            </a:r>
            <a:r>
              <a:rPr lang="en-GB" sz="1700" dirty="0" err="1"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yaml</a:t>
            </a:r>
            <a:r>
              <a:rPr lang="en-GB" sz="1700" dirty="0"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 &gt; my-</a:t>
            </a:r>
            <a:r>
              <a:rPr lang="en-GB" sz="1700" dirty="0" err="1"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config.yaml</a:t>
            </a:r>
            <a:br>
              <a:rPr lang="en-GB" sz="1700" dirty="0"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</a:br>
            <a:br>
              <a:rPr lang="en-GB" sz="1700" dirty="0"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GB" sz="1700" dirty="0" err="1"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kubectl</a:t>
            </a:r>
            <a:r>
              <a:rPr lang="en-GB" sz="1700" dirty="0"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 get pod –A</a:t>
            </a:r>
            <a:br>
              <a:rPr lang="en-GB" sz="1700" dirty="0"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</a:br>
            <a:br>
              <a:rPr lang="en-GB" sz="1700" dirty="0"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GB" sz="1700" dirty="0" err="1"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kubectl</a:t>
            </a:r>
            <a:r>
              <a:rPr lang="en-GB" sz="1700" dirty="0"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 get events</a:t>
            </a:r>
          </a:p>
          <a:p>
            <a:endParaRPr lang="en-DK" dirty="0"/>
          </a:p>
        </p:txBody>
      </p:sp>
    </p:spTree>
    <p:extLst>
      <p:ext uri="{BB962C8B-B14F-4D97-AF65-F5344CB8AC3E}">
        <p14:creationId xmlns:p14="http://schemas.microsoft.com/office/powerpoint/2010/main" val="2599484683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8BCB66-CC14-8A50-48B1-87AA15C8AB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K" dirty="0"/>
              <a:t>Kubectl commands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00230D3-F4BB-5127-632C-1575E5F2120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>
            <a:normAutofit lnSpcReduction="10000"/>
          </a:bodyPr>
          <a:lstStyle/>
          <a:p>
            <a:r>
              <a:rPr lang="en-DK" dirty="0"/>
              <a:t>Edit any resource:</a:t>
            </a:r>
            <a:br>
              <a:rPr lang="en-DK" dirty="0"/>
            </a:br>
            <a:r>
              <a:rPr lang="en-DK" sz="2000" dirty="0"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kubectl edit deployment/test</a:t>
            </a:r>
          </a:p>
          <a:p>
            <a:endParaRPr lang="en-DK" sz="2000" b="1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lvl="1"/>
            <a:r>
              <a:rPr lang="en-GB" dirty="0"/>
              <a:t>Use KUBE_EDITOR, or EDITOR to specify editor app</a:t>
            </a:r>
          </a:p>
          <a:p>
            <a:pPr lvl="1"/>
            <a:r>
              <a:rPr lang="en-GB" dirty="0"/>
              <a:t>Use </a:t>
            </a:r>
            <a:r>
              <a:rPr lang="en-GB" dirty="0">
                <a:solidFill>
                  <a:schemeClr val="tx2"/>
                </a:solidFill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-o </a:t>
            </a:r>
            <a:r>
              <a:rPr lang="en-GB" dirty="0" err="1">
                <a:solidFill>
                  <a:schemeClr val="tx2"/>
                </a:solidFill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json</a:t>
            </a:r>
            <a:r>
              <a:rPr lang="en-GB" dirty="0">
                <a:solidFill>
                  <a:schemeClr val="tx2"/>
                </a:solidFill>
              </a:rPr>
              <a:t> </a:t>
            </a:r>
            <a:r>
              <a:rPr lang="en-GB" dirty="0"/>
              <a:t>to edit in JSON instead of YAML</a:t>
            </a:r>
            <a:endParaRPr lang="en-DK" dirty="0"/>
          </a:p>
          <a:p>
            <a:endParaRPr lang="en-GB" b="1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GB" dirty="0"/>
              <a:t>Scale a deployment</a:t>
            </a:r>
            <a:br>
              <a:rPr lang="en-GB" dirty="0"/>
            </a:br>
            <a:r>
              <a:rPr lang="en-GB" sz="2000" dirty="0" err="1"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kubectl</a:t>
            </a:r>
            <a:r>
              <a:rPr lang="en-GB" sz="2000" dirty="0"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 scale --replicas=3 deployment/test</a:t>
            </a:r>
          </a:p>
          <a:p>
            <a:endParaRPr lang="en-GB" sz="2000" b="1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GB" sz="2000" b="1" dirty="0">
                <a:latin typeface="Consolas" panose="020B0609020204030204" pitchFamily="49" charset="0"/>
                <a:cs typeface="Consolas" panose="020B0609020204030204" pitchFamily="49" charset="0"/>
              </a:rPr>
              <a:t>Interact with your deployment!</a:t>
            </a:r>
            <a:br>
              <a:rPr lang="en-DK" sz="2000" b="1" dirty="0"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GB" sz="2000" dirty="0" err="1"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kubectl</a:t>
            </a:r>
            <a:r>
              <a:rPr lang="en-GB" sz="2000" dirty="0"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 port-forward deployment/test 8888:80</a:t>
            </a:r>
            <a:r>
              <a:rPr lang="en-GB" sz="2000" dirty="0">
                <a:latin typeface="Consolas" panose="020B0609020204030204" pitchFamily="49" charset="0"/>
                <a:cs typeface="Consolas" panose="020B0609020204030204" pitchFamily="49" charset="0"/>
              </a:rPr>
              <a:t> (</a:t>
            </a:r>
            <a:r>
              <a:rPr lang="en-GB" sz="2000" dirty="0" err="1">
                <a:latin typeface="Consolas" panose="020B0609020204030204" pitchFamily="49" charset="0"/>
                <a:cs typeface="Consolas" panose="020B0609020204030204" pitchFamily="49" charset="0"/>
              </a:rPr>
              <a:t>local:pod</a:t>
            </a:r>
            <a:r>
              <a:rPr lang="en-GB" sz="2000" dirty="0">
                <a:latin typeface="Consolas" panose="020B0609020204030204" pitchFamily="49" charset="0"/>
                <a:cs typeface="Consolas" panose="020B0609020204030204" pitchFamily="49" charset="0"/>
              </a:rPr>
              <a:t>)</a:t>
            </a:r>
          </a:p>
          <a:p>
            <a:endParaRPr lang="en-GB" sz="20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lvl="1"/>
            <a:r>
              <a:rPr lang="en-GB" sz="1600" dirty="0">
                <a:latin typeface="Consolas" panose="020B0609020204030204" pitchFamily="49" charset="0"/>
                <a:cs typeface="Consolas" panose="020B0609020204030204" pitchFamily="49" charset="0"/>
              </a:rPr>
              <a:t>Target can also be </a:t>
            </a:r>
            <a:r>
              <a:rPr lang="en-GB" sz="1600" b="1" dirty="0">
                <a:latin typeface="Consolas" panose="020B0609020204030204" pitchFamily="49" charset="0"/>
                <a:cs typeface="Consolas" panose="020B0609020204030204" pitchFamily="49" charset="0"/>
              </a:rPr>
              <a:t>pod/my-pod </a:t>
            </a:r>
            <a:r>
              <a:rPr lang="en-GB" sz="1600" dirty="0">
                <a:latin typeface="Consolas" panose="020B0609020204030204" pitchFamily="49" charset="0"/>
                <a:cs typeface="Consolas" panose="020B0609020204030204" pitchFamily="49" charset="0"/>
              </a:rPr>
              <a:t>or </a:t>
            </a:r>
            <a:r>
              <a:rPr lang="en-GB" sz="1600" b="1" dirty="0">
                <a:latin typeface="Consolas" panose="020B0609020204030204" pitchFamily="49" charset="0"/>
                <a:cs typeface="Consolas" panose="020B0609020204030204" pitchFamily="49" charset="0"/>
              </a:rPr>
              <a:t>service/my-service</a:t>
            </a:r>
          </a:p>
        </p:txBody>
      </p:sp>
    </p:spTree>
    <p:extLst>
      <p:ext uri="{BB962C8B-B14F-4D97-AF65-F5344CB8AC3E}">
        <p14:creationId xmlns:p14="http://schemas.microsoft.com/office/powerpoint/2010/main" val="3209095203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223C87-D614-9F3D-7143-4494852ECB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K" dirty="0"/>
              <a:t>Exec &amp; Logs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291F14A-4B6B-E144-DDCE-038128141AF6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>
            <a:normAutofit/>
          </a:bodyPr>
          <a:lstStyle/>
          <a:p>
            <a:r>
              <a:rPr lang="en-GB" dirty="0">
                <a:latin typeface="Calibri" panose="020F0502020204030204" pitchFamily="34" charset="0"/>
                <a:cs typeface="Calibri" panose="020F0502020204030204" pitchFamily="34" charset="0"/>
              </a:rPr>
              <a:t>Get logs for a pod or deployment</a:t>
            </a:r>
          </a:p>
          <a:p>
            <a:pPr lvl="1"/>
            <a:r>
              <a:rPr lang="en-GB" dirty="0">
                <a:latin typeface="Calibri" panose="020F0502020204030204" pitchFamily="34" charset="0"/>
                <a:cs typeface="Calibri" panose="020F0502020204030204" pitchFamily="34" charset="0"/>
              </a:rPr>
              <a:t>Contents of </a:t>
            </a:r>
            <a:r>
              <a:rPr lang="en-GB" dirty="0" err="1">
                <a:latin typeface="Calibri" panose="020F0502020204030204" pitchFamily="34" charset="0"/>
                <a:cs typeface="Calibri" panose="020F0502020204030204" pitchFamily="34" charset="0"/>
              </a:rPr>
              <a:t>stdout</a:t>
            </a:r>
            <a:r>
              <a:rPr lang="en-GB" dirty="0">
                <a:latin typeface="Calibri" panose="020F0502020204030204" pitchFamily="34" charset="0"/>
                <a:cs typeface="Calibri" panose="020F0502020204030204" pitchFamily="34" charset="0"/>
              </a:rPr>
              <a:t> and stderr</a:t>
            </a:r>
          </a:p>
          <a:p>
            <a:br>
              <a:rPr lang="en-GB" dirty="0">
                <a:latin typeface="Calibri" panose="020F0502020204030204" pitchFamily="34" charset="0"/>
                <a:cs typeface="Calibri" panose="020F0502020204030204" pitchFamily="34" charset="0"/>
              </a:rPr>
            </a:br>
            <a:r>
              <a:rPr lang="en-GB" sz="2000" dirty="0" err="1"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kubectl</a:t>
            </a:r>
            <a:r>
              <a:rPr lang="en-GB" sz="2000" dirty="0"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 logs &lt;pod-name&gt; [-c &lt;container-name&gt;]</a:t>
            </a:r>
          </a:p>
          <a:p>
            <a:pPr lvl="1"/>
            <a:r>
              <a:rPr lang="en-GB" sz="1600" dirty="0">
                <a:latin typeface="Consolas" panose="020B0609020204030204" pitchFamily="49" charset="0"/>
                <a:cs typeface="Consolas" panose="020B0609020204030204" pitchFamily="49" charset="0"/>
              </a:rPr>
              <a:t>Monitor: 		</a:t>
            </a:r>
            <a:r>
              <a:rPr lang="en-GB" sz="1600" dirty="0"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--follow / -f</a:t>
            </a:r>
          </a:p>
          <a:p>
            <a:pPr lvl="1"/>
            <a:r>
              <a:rPr lang="en-GB" sz="1600" dirty="0">
                <a:latin typeface="Consolas" panose="020B0609020204030204" pitchFamily="49" charset="0"/>
                <a:cs typeface="Consolas" panose="020B0609020204030204" pitchFamily="49" charset="0"/>
              </a:rPr>
              <a:t>Before crash: 	</a:t>
            </a:r>
            <a:r>
              <a:rPr lang="en-GB" sz="1600" dirty="0"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--previous / -p</a:t>
            </a:r>
            <a:br>
              <a:rPr lang="en-GB" sz="1600" dirty="0"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</a:br>
            <a:endParaRPr lang="en-GB" sz="1600" dirty="0">
              <a:highlight>
                <a:srgbClr val="D6ECCB"/>
              </a:highlight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GB" dirty="0">
                <a:latin typeface="Calibri" panose="020F0502020204030204" pitchFamily="34" charset="0"/>
                <a:cs typeface="Calibri" panose="020F0502020204030204" pitchFamily="34" charset="0"/>
              </a:rPr>
              <a:t>Execute into running container</a:t>
            </a:r>
          </a:p>
          <a:p>
            <a:pPr marL="457200" lvl="1" indent="0">
              <a:buNone/>
            </a:pPr>
            <a:r>
              <a:rPr lang="en-GB" dirty="0" err="1"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kubectl</a:t>
            </a:r>
            <a:r>
              <a:rPr lang="en-GB" dirty="0"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 exec &lt;pod-name&gt; -- date</a:t>
            </a:r>
            <a:r>
              <a:rPr lang="en-GB" dirty="0">
                <a:latin typeface="Consolas" panose="020B0609020204030204" pitchFamily="49" charset="0"/>
                <a:cs typeface="Consolas" panose="020B0609020204030204" pitchFamily="49" charset="0"/>
              </a:rPr>
              <a:t>  			(one-off </a:t>
            </a:r>
            <a:r>
              <a:rPr lang="en-GB" dirty="0" err="1">
                <a:latin typeface="Consolas" panose="020B0609020204030204" pitchFamily="49" charset="0"/>
                <a:cs typeface="Consolas" panose="020B0609020204030204" pitchFamily="49" charset="0"/>
              </a:rPr>
              <a:t>cmd</a:t>
            </a:r>
            <a:r>
              <a:rPr lang="en-GB" dirty="0">
                <a:latin typeface="Consolas" panose="020B0609020204030204" pitchFamily="49" charset="0"/>
                <a:cs typeface="Consolas" panose="020B0609020204030204" pitchFamily="49" charset="0"/>
              </a:rPr>
              <a:t>)</a:t>
            </a:r>
          </a:p>
          <a:p>
            <a:pPr marL="457200" lvl="1" indent="0">
              <a:buNone/>
            </a:pPr>
            <a:r>
              <a:rPr lang="en-GB" dirty="0" err="1"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kubectl</a:t>
            </a:r>
            <a:r>
              <a:rPr lang="en-GB" dirty="0"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 exec -it deployment/demo -- /bin/</a:t>
            </a:r>
            <a:r>
              <a:rPr lang="en-GB" dirty="0" err="1"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sh</a:t>
            </a:r>
            <a:r>
              <a:rPr lang="en-GB" dirty="0">
                <a:latin typeface="Consolas" panose="020B0609020204030204" pitchFamily="49" charset="0"/>
                <a:cs typeface="Consolas" panose="020B0609020204030204" pitchFamily="49" charset="0"/>
              </a:rPr>
              <a:t>	(interactive shell)</a:t>
            </a:r>
          </a:p>
          <a:p>
            <a:endParaRPr lang="en-DK" sz="2000" dirty="0">
              <a:highlight>
                <a:srgbClr val="D6ECCB"/>
              </a:highlight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75458181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D1A755-B8C3-03C7-840D-D48887E402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K" dirty="0"/>
              <a:t>Kubectl apply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1FF94B2-CEE5-D340-86C8-A289295A5B94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838132" y="1690688"/>
            <a:ext cx="11148220" cy="4442517"/>
          </a:xfrm>
        </p:spPr>
        <p:txBody>
          <a:bodyPr/>
          <a:lstStyle/>
          <a:p>
            <a:r>
              <a:rPr lang="en-GB" dirty="0">
                <a:latin typeface="Calibri" panose="020F0502020204030204" pitchFamily="34" charset="0"/>
                <a:cs typeface="Calibri" panose="020F0502020204030204" pitchFamily="34" charset="0"/>
              </a:rPr>
              <a:t>Create k8s resources from </a:t>
            </a:r>
            <a:r>
              <a:rPr lang="en-GB" dirty="0" err="1">
                <a:latin typeface="Calibri" panose="020F0502020204030204" pitchFamily="34" charset="0"/>
                <a:cs typeface="Calibri" panose="020F0502020204030204" pitchFamily="34" charset="0"/>
              </a:rPr>
              <a:t>yaml</a:t>
            </a:r>
            <a:r>
              <a:rPr lang="en-GB" dirty="0">
                <a:latin typeface="Calibri" panose="020F0502020204030204" pitchFamily="34" charset="0"/>
                <a:cs typeface="Calibri" panose="020F0502020204030204" pitchFamily="34" charset="0"/>
              </a:rPr>
              <a:t> files (local or remote):</a:t>
            </a:r>
            <a:br>
              <a:rPr lang="en-GB" dirty="0">
                <a:latin typeface="Calibri" panose="020F0502020204030204" pitchFamily="34" charset="0"/>
                <a:cs typeface="Calibri" panose="020F0502020204030204" pitchFamily="34" charset="0"/>
              </a:rPr>
            </a:br>
            <a:br>
              <a:rPr lang="en-GB" dirty="0">
                <a:latin typeface="Calibri" panose="020F0502020204030204" pitchFamily="34" charset="0"/>
                <a:cs typeface="Calibri" panose="020F0502020204030204" pitchFamily="34" charset="0"/>
              </a:rPr>
            </a:br>
            <a:r>
              <a:rPr lang="en-GB" sz="2000" dirty="0" err="1"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kubectl</a:t>
            </a:r>
            <a:r>
              <a:rPr lang="en-GB" sz="2000" dirty="0"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 apply -f ./my-</a:t>
            </a:r>
            <a:r>
              <a:rPr lang="en-GB" sz="2000" dirty="0" err="1"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deployment.yaml</a:t>
            </a:r>
            <a:br>
              <a:rPr lang="en-GB" dirty="0">
                <a:latin typeface="Calibri" panose="020F0502020204030204" pitchFamily="34" charset="0"/>
                <a:cs typeface="Calibri" panose="020F0502020204030204" pitchFamily="34" charset="0"/>
              </a:rPr>
            </a:br>
            <a:br>
              <a:rPr lang="en-GB" dirty="0">
                <a:latin typeface="Calibri" panose="020F0502020204030204" pitchFamily="34" charset="0"/>
                <a:cs typeface="Calibri" panose="020F0502020204030204" pitchFamily="34" charset="0"/>
              </a:rPr>
            </a:br>
            <a:r>
              <a:rPr lang="en-GB" sz="2000" dirty="0" err="1"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kubectl</a:t>
            </a:r>
            <a:r>
              <a:rPr lang="en-GB" sz="2000" dirty="0"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 apply -f </a:t>
            </a:r>
            <a:r>
              <a:rPr lang="en-GB" sz="2000" dirty="0"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  <a:hlinkClick r:id="rId3"/>
              </a:rPr>
              <a:t>https://k8s.io/examples/application/nginx-with-request.yaml</a:t>
            </a:r>
            <a:r>
              <a:rPr lang="en-GB" sz="2000" dirty="0"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512923848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E1EDF0-C92F-15FE-7E11-17F3972872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K" dirty="0"/>
              <a:t>Kubernetes Tools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47595F3-C453-94E5-A3FC-61026941C44D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DK" sz="2800" b="1" dirty="0"/>
              <a:t>Terminal CLI</a:t>
            </a:r>
          </a:p>
          <a:p>
            <a:pPr lvl="1"/>
            <a:r>
              <a:rPr lang="en-GB" sz="2400" dirty="0">
                <a:solidFill>
                  <a:srgbClr val="005DE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K</a:t>
            </a:r>
            <a:r>
              <a:rPr lang="en-DK" sz="2400" dirty="0">
                <a:solidFill>
                  <a:srgbClr val="005DE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9s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en-DK" dirty="0">
                <a:latin typeface="Consolas" panose="020B0609020204030204" pitchFamily="49" charset="0"/>
                <a:cs typeface="Consolas" panose="020B0609020204030204" pitchFamily="49" charset="0"/>
              </a:rPr>
              <a:t>brew install derailed/k9s/k9s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en-DK" b="1" dirty="0">
                <a:latin typeface="Calibri" panose="020F0502020204030204" pitchFamily="34" charset="0"/>
                <a:cs typeface="Calibri" panose="020F0502020204030204" pitchFamily="34" charset="0"/>
              </a:rPr>
              <a:t>Quick demo</a:t>
            </a:r>
          </a:p>
          <a:p>
            <a:pPr lvl="2"/>
            <a:endParaRPr lang="en-GB" sz="2200" dirty="0">
              <a:solidFill>
                <a:schemeClr val="tx1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lvl="1"/>
            <a:r>
              <a:rPr lang="en-GB" sz="2400" dirty="0" err="1">
                <a:solidFill>
                  <a:srgbClr val="005DE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kubectl</a:t>
            </a:r>
            <a:endParaRPr lang="en-GB" sz="2400" dirty="0">
              <a:solidFill>
                <a:srgbClr val="005DE0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lvl="2">
              <a:buFont typeface="Courier New" panose="02070309020205020404" pitchFamily="49" charset="0"/>
              <a:buChar char="o"/>
            </a:pPr>
            <a:r>
              <a:rPr lang="en-GB" sz="2000" dirty="0"/>
              <a:t>Has its own plugin eco-system via </a:t>
            </a:r>
            <a:r>
              <a:rPr lang="en-GB" sz="2000" dirty="0" err="1">
                <a:solidFill>
                  <a:srgbClr val="005DE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kubectl</a:t>
            </a:r>
            <a:r>
              <a:rPr lang="en-GB" sz="2000" dirty="0">
                <a:solidFill>
                  <a:srgbClr val="005DE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GB" sz="2000" dirty="0" err="1">
                <a:solidFill>
                  <a:srgbClr val="005DE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krew</a:t>
            </a:r>
            <a:endParaRPr lang="en-GB" sz="2000" dirty="0">
              <a:solidFill>
                <a:srgbClr val="005DE0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lvl="2">
              <a:buFont typeface="Courier New" panose="02070309020205020404" pitchFamily="49" charset="0"/>
              <a:buChar char="o"/>
            </a:pPr>
            <a:r>
              <a:rPr lang="en-GB" sz="2000" dirty="0"/>
              <a:t>Recommendations: </a:t>
            </a:r>
            <a:r>
              <a:rPr lang="en-GB" sz="2000" dirty="0" err="1">
                <a:latin typeface="Consolas" panose="020B0609020204030204" pitchFamily="49" charset="0"/>
                <a:cs typeface="Consolas" panose="020B0609020204030204" pitchFamily="49" charset="0"/>
              </a:rPr>
              <a:t>ctx</a:t>
            </a:r>
            <a:r>
              <a:rPr lang="en-GB" sz="2000" dirty="0">
                <a:latin typeface="Consolas" panose="020B0609020204030204" pitchFamily="49" charset="0"/>
                <a:cs typeface="Consolas" panose="020B0609020204030204" pitchFamily="49" charset="0"/>
              </a:rPr>
              <a:t>, ns, neat, radar, resource-capacity</a:t>
            </a:r>
            <a:br>
              <a:rPr lang="en-DK" sz="2000" dirty="0"/>
            </a:br>
            <a:endParaRPr lang="en-DK" sz="2000" dirty="0"/>
          </a:p>
          <a:p>
            <a:r>
              <a:rPr lang="en-DK" sz="2800" b="1" dirty="0"/>
              <a:t>GUI</a:t>
            </a:r>
          </a:p>
          <a:p>
            <a:pPr lvl="1"/>
            <a:r>
              <a:rPr lang="en-DK" sz="2400" dirty="0"/>
              <a:t>Rancher (Web UI + RBAC)</a:t>
            </a:r>
          </a:p>
          <a:p>
            <a:pPr lvl="1"/>
            <a:r>
              <a:rPr lang="en-DK" sz="2400" dirty="0"/>
              <a:t>Headlamp (Desktop)</a:t>
            </a:r>
          </a:p>
          <a:p>
            <a:pPr lvl="1"/>
            <a:r>
              <a:rPr lang="en-DK" sz="2400" dirty="0"/>
              <a:t>Kubernetes Dashboard (Web UI)</a:t>
            </a:r>
          </a:p>
        </p:txBody>
      </p:sp>
    </p:spTree>
    <p:extLst>
      <p:ext uri="{BB962C8B-B14F-4D97-AF65-F5344CB8AC3E}">
        <p14:creationId xmlns:p14="http://schemas.microsoft.com/office/powerpoint/2010/main" val="1738991036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500CEB-FE32-80E7-B049-F85CE3CA9C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99DAA7F4-D874-A629-F9E3-8F3612AA598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DK" dirty="0"/>
              <a:t>6.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D837067-253D-0A2E-C9D8-05C4EB208FFE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587750" y="2703049"/>
            <a:ext cx="6407702" cy="2884543"/>
          </a:xfrm>
        </p:spPr>
        <p:txBody>
          <a:bodyPr/>
          <a:lstStyle/>
          <a:p>
            <a:r>
              <a:rPr lang="da-DK" b="1" dirty="0"/>
              <a:t>Demo</a:t>
            </a:r>
            <a:br>
              <a:rPr lang="da-DK" dirty="0"/>
            </a:br>
            <a:r>
              <a:rPr lang="da-DK" dirty="0" err="1"/>
              <a:t>Kubernetes</a:t>
            </a:r>
            <a:r>
              <a:rPr lang="da-DK" dirty="0"/>
              <a:t> + Rancher UI</a:t>
            </a:r>
            <a:endParaRPr lang="en-DK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4F028E6-99B7-EF50-8106-55C8CA875AC8}"/>
              </a:ext>
            </a:extLst>
          </p:cNvPr>
          <p:cNvSpPr txBox="1"/>
          <p:nvPr/>
        </p:nvSpPr>
        <p:spPr>
          <a:xfrm>
            <a:off x="3653087" y="4866317"/>
            <a:ext cx="4610100" cy="783193"/>
          </a:xfrm>
          <a:prstGeom prst="roundRect">
            <a:avLst/>
          </a:prstGeom>
          <a:ln/>
        </p:spPr>
        <p:style>
          <a:lnRef idx="0">
            <a:schemeClr val="accent5"/>
          </a:lnRef>
          <a:fillRef idx="3">
            <a:schemeClr val="accent5"/>
          </a:fillRef>
          <a:effectRef idx="3">
            <a:schemeClr val="accent5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GB" sz="2000" dirty="0"/>
              <a:t>If you installed Rancher Desktop,</a:t>
            </a:r>
            <a:br>
              <a:rPr lang="en-GB" sz="2000" dirty="0"/>
            </a:br>
            <a:r>
              <a:rPr lang="en-GB" sz="2000" b="1" dirty="0"/>
              <a:t>you already have Rancher UI installed!</a:t>
            </a:r>
          </a:p>
        </p:txBody>
      </p:sp>
    </p:spTree>
    <p:extLst>
      <p:ext uri="{BB962C8B-B14F-4D97-AF65-F5344CB8AC3E}">
        <p14:creationId xmlns:p14="http://schemas.microsoft.com/office/powerpoint/2010/main" val="31906025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ADEF64-FCBF-84D6-F1DC-4D117EE697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7FBBC1F4-C00F-25FB-99CD-FEFDFCF91780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DK" dirty="0"/>
              <a:t>7.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3FEBD23-F1AA-6860-8A3D-4D0EE5EB24BB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587750" y="2703049"/>
            <a:ext cx="6407702" cy="2884543"/>
          </a:xfrm>
        </p:spPr>
        <p:txBody>
          <a:bodyPr/>
          <a:lstStyle/>
          <a:p>
            <a:r>
              <a:rPr lang="da-DK" dirty="0"/>
              <a:t>Environment &amp;</a:t>
            </a:r>
          </a:p>
          <a:p>
            <a:r>
              <a:rPr lang="da-DK" dirty="0"/>
              <a:t>Volume </a:t>
            </a:r>
            <a:r>
              <a:rPr lang="da-DK" dirty="0" err="1"/>
              <a:t>mounts</a:t>
            </a:r>
            <a:endParaRPr lang="en-DK" dirty="0"/>
          </a:p>
        </p:txBody>
      </p:sp>
    </p:spTree>
    <p:extLst>
      <p:ext uri="{BB962C8B-B14F-4D97-AF65-F5344CB8AC3E}">
        <p14:creationId xmlns:p14="http://schemas.microsoft.com/office/powerpoint/2010/main" val="2410987671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3C6F5A-8AE8-2619-7AA9-7081AC5B94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K" dirty="0"/>
              <a:t>Containerisation – The 12 factor app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477C848-4B82-FC8A-1BD5-AA2258105649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838132" y="1690688"/>
            <a:ext cx="10515600" cy="5025072"/>
          </a:xfrm>
        </p:spPr>
        <p:txBody>
          <a:bodyPr>
            <a:normAutofit fontScale="92500" lnSpcReduction="20000"/>
          </a:bodyPr>
          <a:lstStyle/>
          <a:p>
            <a:r>
              <a:rPr lang="en-GB" dirty="0"/>
              <a:t>Guidelines for </a:t>
            </a:r>
            <a:r>
              <a:rPr lang="en-GB" dirty="0" err="1"/>
              <a:t>hvordan</a:t>
            </a:r>
            <a:r>
              <a:rPr lang="en-GB" dirty="0"/>
              <a:t> </a:t>
            </a:r>
            <a:r>
              <a:rPr lang="en-GB" dirty="0" err="1"/>
              <a:t>en</a:t>
            </a:r>
            <a:r>
              <a:rPr lang="en-GB" dirty="0"/>
              <a:t> </a:t>
            </a:r>
            <a:r>
              <a:rPr lang="en-GB" dirty="0" err="1"/>
              <a:t>applikation</a:t>
            </a:r>
            <a:r>
              <a:rPr lang="en-GB" dirty="0"/>
              <a:t> </a:t>
            </a:r>
            <a:r>
              <a:rPr lang="en-GB" dirty="0" err="1"/>
              <a:t>bør</a:t>
            </a:r>
            <a:r>
              <a:rPr lang="en-GB" dirty="0"/>
              <a:t> </a:t>
            </a:r>
            <a:r>
              <a:rPr lang="en-GB" dirty="0" err="1"/>
              <a:t>tilpasse</a:t>
            </a:r>
            <a:r>
              <a:rPr lang="en-GB" dirty="0"/>
              <a:t> sig </a:t>
            </a:r>
            <a:r>
              <a:rPr lang="en-GB" dirty="0" err="1"/>
              <a:t>til</a:t>
            </a:r>
            <a:r>
              <a:rPr lang="en-GB" dirty="0"/>
              <a:t> </a:t>
            </a:r>
            <a:r>
              <a:rPr lang="en-GB" dirty="0" err="1"/>
              <a:t>en</a:t>
            </a:r>
            <a:r>
              <a:rPr lang="en-GB" dirty="0"/>
              <a:t> containerised </a:t>
            </a:r>
            <a:r>
              <a:rPr lang="en-GB" dirty="0" err="1"/>
              <a:t>verden</a:t>
            </a:r>
            <a:r>
              <a:rPr lang="en-GB" dirty="0"/>
              <a:t>.</a:t>
            </a:r>
          </a:p>
          <a:p>
            <a:pPr lvl="1"/>
            <a:r>
              <a:rPr lang="en-GB" dirty="0"/>
              <a:t>Aka. ”Cloud-native apps”</a:t>
            </a:r>
          </a:p>
          <a:p>
            <a:pPr lvl="1"/>
            <a:r>
              <a:rPr lang="en-GB" dirty="0"/>
              <a:t>Goal: Be portable and scalable!</a:t>
            </a:r>
            <a:br>
              <a:rPr lang="en-GB" dirty="0"/>
            </a:br>
            <a:endParaRPr lang="en-GB" dirty="0"/>
          </a:p>
          <a:p>
            <a:r>
              <a:rPr lang="en-GB" dirty="0" err="1"/>
              <a:t>Principper</a:t>
            </a:r>
            <a:r>
              <a:rPr lang="en-GB" dirty="0"/>
              <a:t> </a:t>
            </a:r>
            <a:r>
              <a:rPr lang="en-GB" dirty="0" err="1"/>
              <a:t>applikationer</a:t>
            </a:r>
            <a:r>
              <a:rPr lang="en-GB" dirty="0"/>
              <a:t> </a:t>
            </a:r>
            <a:r>
              <a:rPr lang="en-GB" dirty="0" err="1"/>
              <a:t>bør</a:t>
            </a:r>
            <a:r>
              <a:rPr lang="en-GB" dirty="0"/>
              <a:t> </a:t>
            </a:r>
            <a:r>
              <a:rPr lang="en-GB" dirty="0" err="1"/>
              <a:t>følge</a:t>
            </a:r>
            <a:r>
              <a:rPr lang="en-GB" dirty="0"/>
              <a:t>:</a:t>
            </a:r>
          </a:p>
          <a:p>
            <a:pPr lvl="1"/>
            <a:r>
              <a:rPr lang="en-GB" b="1" dirty="0"/>
              <a:t>Baked-in dependencies</a:t>
            </a:r>
          </a:p>
          <a:p>
            <a:pPr lvl="2"/>
            <a:r>
              <a:rPr lang="en-GB" dirty="0"/>
              <a:t>Explicitly declared and baked into image.</a:t>
            </a:r>
          </a:p>
          <a:p>
            <a:pPr lvl="1"/>
            <a:r>
              <a:rPr lang="en-GB" b="1" dirty="0"/>
              <a:t>Disposable</a:t>
            </a:r>
          </a:p>
          <a:p>
            <a:pPr lvl="2"/>
            <a:r>
              <a:rPr lang="en-GB" dirty="0"/>
              <a:t>Stateless processes</a:t>
            </a:r>
          </a:p>
          <a:p>
            <a:pPr lvl="2"/>
            <a:r>
              <a:rPr lang="en-GB" dirty="0"/>
              <a:t>Fast startup, graceful shutdown</a:t>
            </a:r>
          </a:p>
          <a:p>
            <a:pPr lvl="1"/>
            <a:r>
              <a:rPr lang="en-GB" b="1" dirty="0"/>
              <a:t>Configurable</a:t>
            </a:r>
          </a:p>
          <a:p>
            <a:pPr lvl="2"/>
            <a:r>
              <a:rPr lang="en-GB" dirty="0"/>
              <a:t>Config via ENV variables, with sane defaults.</a:t>
            </a:r>
          </a:p>
          <a:p>
            <a:pPr lvl="2"/>
            <a:r>
              <a:rPr lang="en-GB" dirty="0"/>
              <a:t>Able to change “backing services”.</a:t>
            </a:r>
          </a:p>
          <a:p>
            <a:pPr lvl="1"/>
            <a:r>
              <a:rPr lang="en-GB" b="1" dirty="0"/>
              <a:t>Standardised Logging</a:t>
            </a:r>
          </a:p>
          <a:p>
            <a:pPr lvl="2"/>
            <a:r>
              <a:rPr lang="en-GB" dirty="0"/>
              <a:t>Write to </a:t>
            </a:r>
            <a:r>
              <a:rPr lang="en-GB" dirty="0" err="1">
                <a:latin typeface="Consolas" panose="020B0609020204030204" pitchFamily="49" charset="0"/>
                <a:cs typeface="Consolas" panose="020B0609020204030204" pitchFamily="49" charset="0"/>
              </a:rPr>
              <a:t>stdout</a:t>
            </a:r>
            <a:r>
              <a:rPr lang="en-GB" dirty="0">
                <a:latin typeface="Consolas" panose="020B0609020204030204" pitchFamily="49" charset="0"/>
                <a:cs typeface="Consolas" panose="020B0609020204030204" pitchFamily="49" charset="0"/>
              </a:rPr>
              <a:t>/stderr</a:t>
            </a:r>
            <a:r>
              <a:rPr lang="en-GB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GB" dirty="0"/>
              <a:t>→ container platform aggregates</a:t>
            </a:r>
          </a:p>
          <a:p>
            <a:pPr lvl="2"/>
            <a:r>
              <a:rPr lang="en-GB" dirty="0"/>
              <a:t>Configurable levels</a:t>
            </a:r>
          </a:p>
          <a:p>
            <a:pPr lvl="1"/>
            <a:r>
              <a:rPr lang="en-GB" b="1" dirty="0"/>
              <a:t>Concurrently scalable</a:t>
            </a:r>
          </a:p>
          <a:p>
            <a:pPr lvl="2"/>
            <a:r>
              <a:rPr lang="en-GB" dirty="0"/>
              <a:t>Multiple instances must co-exist.</a:t>
            </a:r>
          </a:p>
          <a:p>
            <a:pPr lvl="1"/>
            <a:r>
              <a:rPr lang="en-GB" dirty="0"/>
              <a:t>etc…</a:t>
            </a:r>
            <a:endParaRPr lang="en-DK" dirty="0"/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E72FD1E3-C3B5-54AD-2E39-81BB675EB7A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324151" y="2844684"/>
            <a:ext cx="2233867" cy="2233867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C7017560-84A0-7F54-33B3-BC0EB4FD831E}"/>
              </a:ext>
            </a:extLst>
          </p:cNvPr>
          <p:cNvSpPr txBox="1"/>
          <p:nvPr/>
        </p:nvSpPr>
        <p:spPr>
          <a:xfrm>
            <a:off x="9324151" y="5167312"/>
            <a:ext cx="271272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Required reading:</a:t>
            </a:r>
            <a:br>
              <a:rPr lang="en-GB" dirty="0"/>
            </a:br>
            <a:r>
              <a:rPr lang="en-GB" dirty="0">
                <a:hlinkClick r:id="rId3"/>
              </a:rPr>
              <a:t>https://12factor.net/</a:t>
            </a:r>
            <a:r>
              <a:rPr lang="en-GB" dirty="0"/>
              <a:t> or </a:t>
            </a:r>
            <a:r>
              <a:rPr lang="en-GB" dirty="0">
                <a:hlinkClick r:id="rId4"/>
              </a:rPr>
              <a:t>https://w.wiki/MHUu</a:t>
            </a:r>
            <a:r>
              <a:rPr lang="en-GB" dirty="0"/>
              <a:t> </a:t>
            </a:r>
            <a:endParaRPr lang="en-DK" dirty="0"/>
          </a:p>
          <a:p>
            <a:endParaRPr lang="en-DK" dirty="0"/>
          </a:p>
        </p:txBody>
      </p:sp>
    </p:spTree>
    <p:extLst>
      <p:ext uri="{BB962C8B-B14F-4D97-AF65-F5344CB8AC3E}">
        <p14:creationId xmlns:p14="http://schemas.microsoft.com/office/powerpoint/2010/main" val="9884479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3CAC72-620D-FDB6-2392-C421CF47B0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K" dirty="0"/>
              <a:t>Volume Mounts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D6B1A88-DBE1-2F9E-6DD2-89FAAE5C524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838132" y="1510393"/>
            <a:ext cx="10515600" cy="4622811"/>
          </a:xfrm>
        </p:spPr>
        <p:txBody>
          <a:bodyPr>
            <a:normAutofit fontScale="92500" lnSpcReduction="10000"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000" dirty="0"/>
              <a:t>Volume mount = directory or file injected into a container at runtime.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000" dirty="0"/>
              <a:t>Data that comes from outside the container, to</a:t>
            </a:r>
            <a:r>
              <a:rPr lang="en-GB" sz="2000" dirty="0">
                <a:sym typeface="Wingdings" pitchFamily="2" charset="2"/>
              </a:rPr>
              <a:t> </a:t>
            </a:r>
            <a:r>
              <a:rPr lang="en-GB" sz="2000" dirty="0"/>
              <a:t>share or externalize data.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000" dirty="0"/>
              <a:t>E.g. configuration files, credentials, shared files between containers in a Pod,</a:t>
            </a:r>
            <a:br>
              <a:rPr lang="en-GB" sz="2000" dirty="0"/>
            </a:br>
            <a:r>
              <a:rPr lang="en-GB" sz="2000" dirty="0"/>
              <a:t>or </a:t>
            </a:r>
            <a:r>
              <a:rPr lang="en-GB" sz="2000" b="1" dirty="0"/>
              <a:t>data that must survive container restarts (persistence)</a:t>
            </a:r>
            <a:r>
              <a:rPr lang="en-GB" sz="2000" dirty="0"/>
              <a:t>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000" dirty="0"/>
              <a:t>Can be: </a:t>
            </a:r>
            <a:r>
              <a:rPr lang="en-GB" sz="2000" dirty="0" err="1"/>
              <a:t>ConfigMap</a:t>
            </a:r>
            <a:r>
              <a:rPr lang="en-GB" sz="2000" dirty="0"/>
              <a:t>, Secret, PVC, </a:t>
            </a:r>
            <a:r>
              <a:rPr lang="en-GB" sz="2000" dirty="0" err="1"/>
              <a:t>emptyDir</a:t>
            </a:r>
            <a:endParaRPr lang="en-GB" sz="2000" dirty="0"/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GB" sz="2000" dirty="0"/>
          </a:p>
          <a:p>
            <a:endParaRPr lang="en-DK" sz="20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DK" sz="2000" dirty="0"/>
              <a:t>ConfigMaps</a:t>
            </a:r>
            <a:br>
              <a:rPr lang="en-DK" sz="2000" dirty="0"/>
            </a:br>
            <a:br>
              <a:rPr lang="en-DK" sz="2000" dirty="0"/>
            </a:br>
            <a:br>
              <a:rPr lang="en-DK" sz="2000" dirty="0"/>
            </a:br>
            <a:br>
              <a:rPr lang="en-DK" sz="2000" dirty="0"/>
            </a:br>
            <a:br>
              <a:rPr lang="en-DK" sz="2000" dirty="0"/>
            </a:br>
            <a:endParaRPr lang="en-DK" sz="20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DK" sz="2000" dirty="0"/>
              <a:t>Secrets</a:t>
            </a:r>
            <a:br>
              <a:rPr lang="en-DK" sz="2000" dirty="0"/>
            </a:br>
            <a:r>
              <a:rPr lang="en-DK" sz="1400" dirty="0"/>
              <a:t>(base64, </a:t>
            </a:r>
            <a:r>
              <a:rPr lang="en-DK" sz="1400" b="1" dirty="0"/>
              <a:t>not secured!</a:t>
            </a:r>
            <a:r>
              <a:rPr lang="en-DK" sz="1400" dirty="0"/>
              <a:t>)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DK" sz="2000" dirty="0"/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DK" sz="2000" dirty="0"/>
          </a:p>
          <a:p>
            <a:endParaRPr lang="en-DK" sz="20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4D41BA6-7D07-4110-9197-D8DBE8CFE3C5}"/>
              </a:ext>
            </a:extLst>
          </p:cNvPr>
          <p:cNvSpPr txBox="1"/>
          <p:nvPr/>
        </p:nvSpPr>
        <p:spPr>
          <a:xfrm>
            <a:off x="3220923" y="3343715"/>
            <a:ext cx="2842419" cy="1600438"/>
          </a:xfrm>
          <a:prstGeom prst="rect">
            <a:avLst/>
          </a:prstGeom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GB" sz="1400" dirty="0" err="1">
                <a:latin typeface="Consolas" panose="020B0609020204030204" pitchFamily="49" charset="0"/>
                <a:cs typeface="Consolas" panose="020B0609020204030204" pitchFamily="49" charset="0"/>
              </a:rPr>
              <a:t>apiVersion</a:t>
            </a:r>
            <a:r>
              <a:rPr lang="en-GB" sz="1400" dirty="0">
                <a:latin typeface="Consolas" panose="020B0609020204030204" pitchFamily="49" charset="0"/>
                <a:cs typeface="Consolas" panose="020B0609020204030204" pitchFamily="49" charset="0"/>
              </a:rPr>
              <a:t>: v1</a:t>
            </a:r>
          </a:p>
          <a:p>
            <a:r>
              <a:rPr lang="en-GB" sz="1400" dirty="0">
                <a:latin typeface="Consolas" panose="020B0609020204030204" pitchFamily="49" charset="0"/>
                <a:cs typeface="Consolas" panose="020B0609020204030204" pitchFamily="49" charset="0"/>
              </a:rPr>
              <a:t>kind: </a:t>
            </a:r>
            <a:r>
              <a:rPr lang="en-GB" sz="1400" dirty="0" err="1">
                <a:latin typeface="Consolas" panose="020B0609020204030204" pitchFamily="49" charset="0"/>
                <a:cs typeface="Consolas" panose="020B0609020204030204" pitchFamily="49" charset="0"/>
              </a:rPr>
              <a:t>ConfigMap</a:t>
            </a:r>
            <a:endParaRPr lang="en-GB" sz="14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GB" sz="1400" dirty="0">
                <a:latin typeface="Consolas" panose="020B0609020204030204" pitchFamily="49" charset="0"/>
                <a:cs typeface="Consolas" panose="020B0609020204030204" pitchFamily="49" charset="0"/>
              </a:rPr>
              <a:t>metadata:</a:t>
            </a:r>
          </a:p>
          <a:p>
            <a:r>
              <a:rPr lang="en-GB" sz="1400" dirty="0">
                <a:latin typeface="Consolas" panose="020B0609020204030204" pitchFamily="49" charset="0"/>
                <a:cs typeface="Consolas" panose="020B0609020204030204" pitchFamily="49" charset="0"/>
              </a:rPr>
              <a:t>  name: my-</a:t>
            </a:r>
            <a:r>
              <a:rPr lang="en-GB" sz="1400" dirty="0" err="1">
                <a:latin typeface="Consolas" panose="020B0609020204030204" pitchFamily="49" charset="0"/>
                <a:cs typeface="Consolas" panose="020B0609020204030204" pitchFamily="49" charset="0"/>
              </a:rPr>
              <a:t>configmap</a:t>
            </a:r>
            <a:endParaRPr lang="en-GB" sz="14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GB" sz="1400" dirty="0">
                <a:latin typeface="Consolas" panose="020B0609020204030204" pitchFamily="49" charset="0"/>
                <a:cs typeface="Consolas" panose="020B0609020204030204" pitchFamily="49" charset="0"/>
              </a:rPr>
              <a:t>data:</a:t>
            </a:r>
          </a:p>
          <a:p>
            <a:r>
              <a:rPr lang="en-GB" sz="1400" dirty="0">
                <a:latin typeface="Consolas" panose="020B0609020204030204" pitchFamily="49" charset="0"/>
                <a:cs typeface="Consolas" panose="020B0609020204030204" pitchFamily="49" charset="0"/>
              </a:rPr>
              <a:t>  key1: value1</a:t>
            </a:r>
          </a:p>
          <a:p>
            <a:r>
              <a:rPr lang="en-GB" sz="1400" dirty="0">
                <a:latin typeface="Consolas" panose="020B0609020204030204" pitchFamily="49" charset="0"/>
                <a:cs typeface="Consolas" panose="020B0609020204030204" pitchFamily="49" charset="0"/>
              </a:rPr>
              <a:t>  key2: value2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73EC74C-BEFE-89B9-DB20-A78BD316E0ED}"/>
              </a:ext>
            </a:extLst>
          </p:cNvPr>
          <p:cNvSpPr txBox="1"/>
          <p:nvPr/>
        </p:nvSpPr>
        <p:spPr>
          <a:xfrm>
            <a:off x="6510528" y="3384332"/>
            <a:ext cx="5406291" cy="3323987"/>
          </a:xfrm>
          <a:prstGeom prst="rect">
            <a:avLst/>
          </a:prstGeom>
          <a:ln/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GB" sz="1400" dirty="0">
                <a:solidFill>
                  <a:schemeClr val="bg2">
                    <a:lumMod val="1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spec:</a:t>
            </a:r>
          </a:p>
          <a:p>
            <a:r>
              <a:rPr lang="en-GB" sz="1400" dirty="0">
                <a:solidFill>
                  <a:schemeClr val="bg2">
                    <a:lumMod val="1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...</a:t>
            </a:r>
          </a:p>
          <a:p>
            <a:r>
              <a:rPr lang="en-GB" sz="1400" dirty="0">
                <a:solidFill>
                  <a:schemeClr val="bg2">
                    <a:lumMod val="1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containers:</a:t>
            </a:r>
          </a:p>
          <a:p>
            <a:r>
              <a:rPr lang="en-GB" sz="1400" dirty="0">
                <a:solidFill>
                  <a:schemeClr val="bg2">
                    <a:lumMod val="1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my-app:</a:t>
            </a:r>
            <a:br>
              <a:rPr lang="en-GB" sz="1400" dirty="0">
                <a:solidFill>
                  <a:schemeClr val="bg2">
                    <a:lumMod val="1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GB" sz="1400" dirty="0">
                <a:solidFill>
                  <a:schemeClr val="bg2">
                    <a:lumMod val="1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</a:t>
            </a:r>
            <a:r>
              <a:rPr lang="en-GB" sz="1400" dirty="0" err="1">
                <a:solidFill>
                  <a:schemeClr val="bg2">
                    <a:lumMod val="1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volumeMounts</a:t>
            </a:r>
            <a:r>
              <a:rPr lang="en-GB" sz="1400" dirty="0">
                <a:solidFill>
                  <a:schemeClr val="bg2">
                    <a:lumMod val="1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:</a:t>
            </a:r>
          </a:p>
          <a:p>
            <a:r>
              <a:rPr lang="en-GB" sz="1400" dirty="0">
                <a:solidFill>
                  <a:schemeClr val="bg2">
                    <a:lumMod val="1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  - </a:t>
            </a:r>
            <a:r>
              <a:rPr lang="en-GB" sz="1400" dirty="0" err="1">
                <a:solidFill>
                  <a:schemeClr val="bg2">
                    <a:lumMod val="1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mountPath</a:t>
            </a:r>
            <a:r>
              <a:rPr lang="en-GB" sz="1400" dirty="0">
                <a:solidFill>
                  <a:schemeClr val="bg2">
                    <a:lumMod val="1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: /etc/nginx/</a:t>
            </a:r>
            <a:r>
              <a:rPr lang="en-GB" sz="1400" dirty="0" err="1">
                <a:solidFill>
                  <a:schemeClr val="bg2">
                    <a:lumMod val="1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conf.d</a:t>
            </a:r>
            <a:r>
              <a:rPr lang="en-GB" sz="1400" dirty="0">
                <a:solidFill>
                  <a:schemeClr val="bg2">
                    <a:lumMod val="1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/</a:t>
            </a:r>
            <a:r>
              <a:rPr lang="en-GB" sz="1400" dirty="0" err="1">
                <a:solidFill>
                  <a:schemeClr val="bg2">
                    <a:lumMod val="1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default.conf</a:t>
            </a:r>
            <a:endParaRPr lang="en-GB" sz="1400" dirty="0">
              <a:solidFill>
                <a:schemeClr val="bg2">
                  <a:lumMod val="10000"/>
                </a:schemeClr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GB" sz="1400" dirty="0">
                <a:solidFill>
                  <a:schemeClr val="bg2">
                    <a:lumMod val="1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    name: nginx-config</a:t>
            </a:r>
          </a:p>
          <a:p>
            <a:r>
              <a:rPr lang="en-GB" sz="1400" dirty="0">
                <a:solidFill>
                  <a:schemeClr val="bg2">
                    <a:lumMod val="1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    </a:t>
            </a:r>
            <a:r>
              <a:rPr lang="en-GB" sz="1400" dirty="0" err="1">
                <a:solidFill>
                  <a:schemeClr val="bg2">
                    <a:lumMod val="1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readOnly</a:t>
            </a:r>
            <a:r>
              <a:rPr lang="en-GB" sz="1400" dirty="0">
                <a:solidFill>
                  <a:schemeClr val="bg2">
                    <a:lumMod val="1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: true</a:t>
            </a:r>
          </a:p>
          <a:p>
            <a:r>
              <a:rPr lang="en-GB" sz="1400" dirty="0">
                <a:solidFill>
                  <a:schemeClr val="bg2">
                    <a:lumMod val="1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    </a:t>
            </a:r>
            <a:r>
              <a:rPr lang="en-GB" sz="1400" dirty="0" err="1">
                <a:solidFill>
                  <a:schemeClr val="bg2">
                    <a:lumMod val="1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subPath</a:t>
            </a:r>
            <a:r>
              <a:rPr lang="en-GB" sz="1400" dirty="0">
                <a:solidFill>
                  <a:schemeClr val="bg2">
                    <a:lumMod val="1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: </a:t>
            </a:r>
            <a:r>
              <a:rPr lang="en-GB" sz="1400" dirty="0" err="1">
                <a:solidFill>
                  <a:schemeClr val="bg2">
                    <a:lumMod val="1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default.conf</a:t>
            </a:r>
            <a:endParaRPr lang="en-GB" sz="14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GB" sz="1400" dirty="0">
                <a:latin typeface="Consolas" panose="020B0609020204030204" pitchFamily="49" charset="0"/>
                <a:cs typeface="Consolas" panose="020B0609020204030204" pitchFamily="49" charset="0"/>
              </a:rPr>
              <a:t>volumes:</a:t>
            </a:r>
          </a:p>
          <a:p>
            <a:r>
              <a:rPr lang="en-GB" sz="1400" dirty="0">
                <a:latin typeface="Consolas" panose="020B0609020204030204" pitchFamily="49" charset="0"/>
                <a:cs typeface="Consolas" panose="020B0609020204030204" pitchFamily="49" charset="0"/>
              </a:rPr>
              <a:t>  - name: nginx-config </a:t>
            </a:r>
          </a:p>
          <a:p>
            <a:r>
              <a:rPr lang="en-GB" sz="1400" dirty="0"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-GB" sz="1400" dirty="0" err="1">
                <a:latin typeface="Consolas" panose="020B0609020204030204" pitchFamily="49" charset="0"/>
                <a:cs typeface="Consolas" panose="020B0609020204030204" pitchFamily="49" charset="0"/>
              </a:rPr>
              <a:t>configMap</a:t>
            </a:r>
            <a:r>
              <a:rPr lang="en-GB" sz="1400" dirty="0">
                <a:latin typeface="Consolas" panose="020B0609020204030204" pitchFamily="49" charset="0"/>
                <a:cs typeface="Consolas" panose="020B0609020204030204" pitchFamily="49" charset="0"/>
              </a:rPr>
              <a:t>:</a:t>
            </a:r>
          </a:p>
          <a:p>
            <a:r>
              <a:rPr lang="en-GB" sz="1400" dirty="0">
                <a:latin typeface="Consolas" panose="020B0609020204030204" pitchFamily="49" charset="0"/>
                <a:cs typeface="Consolas" panose="020B0609020204030204" pitchFamily="49" charset="0"/>
              </a:rPr>
              <a:t>      name: my-nginx-</a:t>
            </a:r>
            <a:r>
              <a:rPr lang="en-GB" sz="1400" dirty="0" err="1">
                <a:latin typeface="Consolas" panose="020B0609020204030204" pitchFamily="49" charset="0"/>
                <a:cs typeface="Consolas" panose="020B0609020204030204" pitchFamily="49" charset="0"/>
              </a:rPr>
              <a:t>configmap</a:t>
            </a:r>
            <a:endParaRPr lang="en-GB" sz="14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GB" sz="1400" dirty="0">
                <a:latin typeface="Consolas" panose="020B0609020204030204" pitchFamily="49" charset="0"/>
                <a:cs typeface="Consolas" panose="020B0609020204030204" pitchFamily="49" charset="0"/>
              </a:rPr>
              <a:t>      </a:t>
            </a:r>
            <a:r>
              <a:rPr lang="en-GB" sz="1400" dirty="0" err="1">
                <a:latin typeface="Consolas" panose="020B0609020204030204" pitchFamily="49" charset="0"/>
                <a:cs typeface="Consolas" panose="020B0609020204030204" pitchFamily="49" charset="0"/>
              </a:rPr>
              <a:t>defaultMode</a:t>
            </a:r>
            <a:r>
              <a:rPr lang="en-GB" sz="1400" dirty="0">
                <a:latin typeface="Consolas" panose="020B0609020204030204" pitchFamily="49" charset="0"/>
                <a:cs typeface="Consolas" panose="020B0609020204030204" pitchFamily="49" charset="0"/>
              </a:rPr>
              <a:t>: 420</a:t>
            </a:r>
          </a:p>
          <a:p>
            <a:r>
              <a:rPr lang="en-GB" sz="1400" dirty="0">
                <a:latin typeface="Consolas" panose="020B0609020204030204" pitchFamily="49" charset="0"/>
                <a:cs typeface="Consolas" panose="020B0609020204030204" pitchFamily="49" charset="0"/>
              </a:rPr>
              <a:t>      optional: false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24A96DF-205A-5317-26DA-2013ADDA2211}"/>
              </a:ext>
            </a:extLst>
          </p:cNvPr>
          <p:cNvSpPr txBox="1"/>
          <p:nvPr/>
        </p:nvSpPr>
        <p:spPr>
          <a:xfrm>
            <a:off x="3220924" y="5107880"/>
            <a:ext cx="2842419" cy="1384995"/>
          </a:xfrm>
          <a:prstGeom prst="rect">
            <a:avLst/>
          </a:prstGeom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GB" sz="1400" dirty="0" err="1">
                <a:latin typeface="Consolas" panose="020B0609020204030204" pitchFamily="49" charset="0"/>
                <a:cs typeface="Consolas" panose="020B0609020204030204" pitchFamily="49" charset="0"/>
              </a:rPr>
              <a:t>apiVersion</a:t>
            </a:r>
            <a:r>
              <a:rPr lang="en-GB" sz="1400" dirty="0">
                <a:latin typeface="Consolas" panose="020B0609020204030204" pitchFamily="49" charset="0"/>
                <a:cs typeface="Consolas" panose="020B0609020204030204" pitchFamily="49" charset="0"/>
              </a:rPr>
              <a:t>: v1</a:t>
            </a:r>
          </a:p>
          <a:p>
            <a:r>
              <a:rPr lang="en-GB" sz="1400" dirty="0">
                <a:latin typeface="Consolas" panose="020B0609020204030204" pitchFamily="49" charset="0"/>
                <a:cs typeface="Consolas" panose="020B0609020204030204" pitchFamily="49" charset="0"/>
              </a:rPr>
              <a:t>kind: Secret</a:t>
            </a:r>
          </a:p>
          <a:p>
            <a:r>
              <a:rPr lang="en-GB" sz="1400" dirty="0">
                <a:latin typeface="Consolas" panose="020B0609020204030204" pitchFamily="49" charset="0"/>
                <a:cs typeface="Consolas" panose="020B0609020204030204" pitchFamily="49" charset="0"/>
              </a:rPr>
              <a:t>metadata:</a:t>
            </a:r>
          </a:p>
          <a:p>
            <a:r>
              <a:rPr lang="en-GB" sz="1400" dirty="0">
                <a:latin typeface="Consolas" panose="020B0609020204030204" pitchFamily="49" charset="0"/>
                <a:cs typeface="Consolas" panose="020B0609020204030204" pitchFamily="49" charset="0"/>
              </a:rPr>
              <a:t>  name: secret</a:t>
            </a:r>
          </a:p>
          <a:p>
            <a:r>
              <a:rPr lang="en-GB" sz="1400" dirty="0">
                <a:latin typeface="Consolas" panose="020B0609020204030204" pitchFamily="49" charset="0"/>
                <a:cs typeface="Consolas" panose="020B0609020204030204" pitchFamily="49" charset="0"/>
              </a:rPr>
              <a:t>data:</a:t>
            </a:r>
          </a:p>
          <a:p>
            <a:r>
              <a:rPr lang="en-GB" sz="1400" dirty="0">
                <a:latin typeface="Consolas" panose="020B0609020204030204" pitchFamily="49" charset="0"/>
                <a:cs typeface="Consolas" panose="020B0609020204030204" pitchFamily="49" charset="0"/>
              </a:rPr>
              <a:t>  key1: c2hoLWl0cy1hLX==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FE62844-205F-7E00-F8C1-114B5A6D0C96}"/>
              </a:ext>
            </a:extLst>
          </p:cNvPr>
          <p:cNvSpPr txBox="1"/>
          <p:nvPr/>
        </p:nvSpPr>
        <p:spPr>
          <a:xfrm>
            <a:off x="6510460" y="3029952"/>
            <a:ext cx="234093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DK" dirty="0"/>
              <a:t>Use in Deployment:</a:t>
            </a:r>
          </a:p>
        </p:txBody>
      </p:sp>
    </p:spTree>
    <p:extLst>
      <p:ext uri="{BB962C8B-B14F-4D97-AF65-F5344CB8AC3E}">
        <p14:creationId xmlns:p14="http://schemas.microsoft.com/office/powerpoint/2010/main" val="211868018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BF453D-AFC2-8BB5-A1DA-0CD6613BB7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K" dirty="0"/>
              <a:t>Volume Mount –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7992317-52F5-3957-AFA0-2BD76D1B67C7}"/>
              </a:ext>
            </a:extLst>
          </p:cNvPr>
          <p:cNvSpPr txBox="1"/>
          <p:nvPr/>
        </p:nvSpPr>
        <p:spPr>
          <a:xfrm>
            <a:off x="6096000" y="1903874"/>
            <a:ext cx="5414782" cy="3539430"/>
          </a:xfrm>
          <a:prstGeom prst="rect">
            <a:avLst/>
          </a:prstGeom>
          <a:ln/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GB" sz="1400" dirty="0">
                <a:solidFill>
                  <a:schemeClr val="bg2">
                    <a:lumMod val="1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spec:</a:t>
            </a:r>
          </a:p>
          <a:p>
            <a:r>
              <a:rPr lang="en-GB" sz="1400" dirty="0">
                <a:solidFill>
                  <a:schemeClr val="bg2">
                    <a:lumMod val="1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...</a:t>
            </a:r>
          </a:p>
          <a:p>
            <a:r>
              <a:rPr lang="en-GB" sz="1400" dirty="0">
                <a:solidFill>
                  <a:schemeClr val="bg2">
                    <a:lumMod val="1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containers:</a:t>
            </a:r>
          </a:p>
          <a:p>
            <a:r>
              <a:rPr lang="en-GB" sz="1400" dirty="0">
                <a:solidFill>
                  <a:schemeClr val="bg2">
                    <a:lumMod val="1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my-app:</a:t>
            </a:r>
            <a:br>
              <a:rPr lang="en-GB" sz="1400" dirty="0">
                <a:solidFill>
                  <a:schemeClr val="bg2">
                    <a:lumMod val="1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GB" sz="1400" dirty="0">
                <a:solidFill>
                  <a:schemeClr val="bg2">
                    <a:lumMod val="1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</a:t>
            </a:r>
            <a:r>
              <a:rPr lang="en-GB" sz="1400" dirty="0" err="1">
                <a:solidFill>
                  <a:schemeClr val="bg2">
                    <a:lumMod val="1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volumeMounts</a:t>
            </a:r>
            <a:r>
              <a:rPr lang="en-GB" sz="1400" dirty="0">
                <a:solidFill>
                  <a:schemeClr val="bg2">
                    <a:lumMod val="1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:</a:t>
            </a:r>
          </a:p>
          <a:p>
            <a:r>
              <a:rPr lang="en-GB" sz="1400" dirty="0">
                <a:solidFill>
                  <a:schemeClr val="bg2">
                    <a:lumMod val="1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  - name: </a:t>
            </a:r>
            <a:r>
              <a:rPr lang="en-GB" sz="1400" dirty="0">
                <a:solidFill>
                  <a:srgbClr val="0070C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nginx-config </a:t>
            </a:r>
          </a:p>
          <a:p>
            <a:r>
              <a:rPr lang="en-GB" sz="1400" dirty="0">
                <a:solidFill>
                  <a:srgbClr val="0070C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    </a:t>
            </a:r>
            <a:r>
              <a:rPr lang="en-GB" sz="1400" dirty="0" err="1">
                <a:solidFill>
                  <a:schemeClr val="bg2">
                    <a:lumMod val="1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mountPath</a:t>
            </a:r>
            <a:r>
              <a:rPr lang="en-GB" sz="1400" dirty="0">
                <a:solidFill>
                  <a:schemeClr val="bg2">
                    <a:lumMod val="1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: /etc/nginx/</a:t>
            </a:r>
            <a:r>
              <a:rPr lang="en-GB" sz="1400" dirty="0" err="1">
                <a:solidFill>
                  <a:schemeClr val="bg2">
                    <a:lumMod val="1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conf.d</a:t>
            </a:r>
            <a:r>
              <a:rPr lang="en-GB" sz="1400" dirty="0">
                <a:solidFill>
                  <a:schemeClr val="bg2">
                    <a:lumMod val="1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/</a:t>
            </a:r>
            <a:r>
              <a:rPr lang="en-GB" sz="1400" dirty="0" err="1">
                <a:solidFill>
                  <a:schemeClr val="bg2">
                    <a:lumMod val="1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default.conf</a:t>
            </a:r>
            <a:endParaRPr lang="en-GB" sz="1400" dirty="0">
              <a:solidFill>
                <a:schemeClr val="bg2">
                  <a:lumMod val="10000"/>
                </a:schemeClr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GB" sz="1400" dirty="0">
                <a:solidFill>
                  <a:schemeClr val="bg2">
                    <a:lumMod val="1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    </a:t>
            </a:r>
            <a:r>
              <a:rPr lang="en-GB" sz="1400" dirty="0" err="1">
                <a:solidFill>
                  <a:schemeClr val="bg2">
                    <a:lumMod val="1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readOnly</a:t>
            </a:r>
            <a:r>
              <a:rPr lang="en-GB" sz="1400" dirty="0">
                <a:solidFill>
                  <a:schemeClr val="bg2">
                    <a:lumMod val="1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: true</a:t>
            </a:r>
          </a:p>
          <a:p>
            <a:r>
              <a:rPr lang="en-GB" sz="1400" dirty="0">
                <a:solidFill>
                  <a:schemeClr val="bg2">
                    <a:lumMod val="1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    </a:t>
            </a:r>
            <a:r>
              <a:rPr lang="en-GB" sz="1400" dirty="0" err="1">
                <a:solidFill>
                  <a:schemeClr val="bg2">
                    <a:lumMod val="1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subPath</a:t>
            </a:r>
            <a:r>
              <a:rPr lang="en-GB" sz="1400" dirty="0">
                <a:solidFill>
                  <a:schemeClr val="bg2">
                    <a:lumMod val="1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: </a:t>
            </a:r>
            <a:r>
              <a:rPr lang="en-GB" sz="1400" b="1" dirty="0" err="1">
                <a:solidFill>
                  <a:srgbClr val="C54D02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default.conf</a:t>
            </a:r>
            <a:endParaRPr lang="en-GB" sz="1400" b="1" dirty="0">
              <a:solidFill>
                <a:srgbClr val="C54D02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GB" sz="1400" dirty="0">
                <a:latin typeface="Consolas" panose="020B0609020204030204" pitchFamily="49" charset="0"/>
                <a:cs typeface="Consolas" panose="020B0609020204030204" pitchFamily="49" charset="0"/>
              </a:rPr>
              <a:t>volumes:</a:t>
            </a:r>
          </a:p>
          <a:p>
            <a:r>
              <a:rPr lang="en-GB" sz="1400" dirty="0">
                <a:latin typeface="Consolas" panose="020B0609020204030204" pitchFamily="49" charset="0"/>
                <a:cs typeface="Consolas" panose="020B0609020204030204" pitchFamily="49" charset="0"/>
              </a:rPr>
              <a:t>  - name: </a:t>
            </a:r>
            <a:r>
              <a:rPr lang="en-GB" sz="1400" dirty="0">
                <a:solidFill>
                  <a:srgbClr val="0070C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nginx-config</a:t>
            </a:r>
          </a:p>
          <a:p>
            <a:r>
              <a:rPr lang="en-GB" sz="1400" dirty="0"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-GB" sz="1400" dirty="0" err="1">
                <a:latin typeface="Consolas" panose="020B0609020204030204" pitchFamily="49" charset="0"/>
                <a:cs typeface="Consolas" panose="020B0609020204030204" pitchFamily="49" charset="0"/>
              </a:rPr>
              <a:t>configMap</a:t>
            </a:r>
            <a:r>
              <a:rPr lang="en-GB" sz="1400" dirty="0">
                <a:latin typeface="Consolas" panose="020B0609020204030204" pitchFamily="49" charset="0"/>
                <a:cs typeface="Consolas" panose="020B0609020204030204" pitchFamily="49" charset="0"/>
              </a:rPr>
              <a:t>:</a:t>
            </a:r>
          </a:p>
          <a:p>
            <a:r>
              <a:rPr lang="en-GB" sz="1400" dirty="0">
                <a:latin typeface="Consolas" panose="020B0609020204030204" pitchFamily="49" charset="0"/>
                <a:cs typeface="Consolas" panose="020B0609020204030204" pitchFamily="49" charset="0"/>
              </a:rPr>
              <a:t>      name: </a:t>
            </a:r>
            <a:r>
              <a:rPr lang="en-GB" sz="1400" b="1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my-nginx-</a:t>
            </a:r>
            <a:r>
              <a:rPr lang="en-GB" sz="1400" b="1" dirty="0" err="1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configmap</a:t>
            </a:r>
            <a:endParaRPr lang="en-GB" sz="1400" b="1" dirty="0">
              <a:solidFill>
                <a:schemeClr val="tx1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GB" sz="1400" dirty="0">
                <a:latin typeface="Consolas" panose="020B0609020204030204" pitchFamily="49" charset="0"/>
                <a:cs typeface="Consolas" panose="020B0609020204030204" pitchFamily="49" charset="0"/>
              </a:rPr>
              <a:t>      </a:t>
            </a:r>
            <a:r>
              <a:rPr lang="en-GB" sz="1400" dirty="0" err="1">
                <a:latin typeface="Consolas" panose="020B0609020204030204" pitchFamily="49" charset="0"/>
                <a:cs typeface="Consolas" panose="020B0609020204030204" pitchFamily="49" charset="0"/>
              </a:rPr>
              <a:t>defaultMode</a:t>
            </a:r>
            <a:r>
              <a:rPr lang="en-GB" sz="1400" dirty="0">
                <a:latin typeface="Consolas" panose="020B0609020204030204" pitchFamily="49" charset="0"/>
                <a:cs typeface="Consolas" panose="020B0609020204030204" pitchFamily="49" charset="0"/>
              </a:rPr>
              <a:t>: 420</a:t>
            </a:r>
          </a:p>
          <a:p>
            <a:r>
              <a:rPr lang="en-GB" sz="1400" dirty="0">
                <a:latin typeface="Consolas" panose="020B0609020204030204" pitchFamily="49" charset="0"/>
                <a:cs typeface="Consolas" panose="020B0609020204030204" pitchFamily="49" charset="0"/>
              </a:rPr>
              <a:t>      optional: false</a:t>
            </a:r>
          </a:p>
          <a:p>
            <a:endParaRPr lang="en-GB" sz="1400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3F379FD-0DD7-DA81-C060-B48B2F6C4890}"/>
              </a:ext>
            </a:extLst>
          </p:cNvPr>
          <p:cNvSpPr txBox="1"/>
          <p:nvPr/>
        </p:nvSpPr>
        <p:spPr>
          <a:xfrm>
            <a:off x="6096000" y="1506022"/>
            <a:ext cx="299107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DK" dirty="0"/>
              <a:t>Use in Deployment: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3A1F60B-72DA-4557-9E1D-583572BB6D9B}"/>
              </a:ext>
            </a:extLst>
          </p:cNvPr>
          <p:cNvSpPr txBox="1"/>
          <p:nvPr/>
        </p:nvSpPr>
        <p:spPr>
          <a:xfrm>
            <a:off x="919753" y="1903874"/>
            <a:ext cx="4795248" cy="3539430"/>
          </a:xfrm>
          <a:prstGeom prst="rect">
            <a:avLst/>
          </a:prstGeom>
          <a:ln>
            <a:solidFill>
              <a:srgbClr val="C54D02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GB" sz="1400" dirty="0" err="1">
                <a:latin typeface="Consolas" panose="020B0609020204030204" pitchFamily="49" charset="0"/>
                <a:cs typeface="Consolas" panose="020B0609020204030204" pitchFamily="49" charset="0"/>
              </a:rPr>
              <a:t>apiVersion</a:t>
            </a:r>
            <a:r>
              <a:rPr lang="en-GB" sz="1400" dirty="0">
                <a:latin typeface="Consolas" panose="020B0609020204030204" pitchFamily="49" charset="0"/>
                <a:cs typeface="Consolas" panose="020B0609020204030204" pitchFamily="49" charset="0"/>
              </a:rPr>
              <a:t>: v1</a:t>
            </a:r>
          </a:p>
          <a:p>
            <a:r>
              <a:rPr lang="en-GB" sz="1400" dirty="0">
                <a:latin typeface="Consolas" panose="020B0609020204030204" pitchFamily="49" charset="0"/>
                <a:cs typeface="Consolas" panose="020B0609020204030204" pitchFamily="49" charset="0"/>
              </a:rPr>
              <a:t>kind: </a:t>
            </a:r>
            <a:r>
              <a:rPr lang="en-GB" sz="1400" dirty="0" err="1">
                <a:latin typeface="Consolas" panose="020B0609020204030204" pitchFamily="49" charset="0"/>
                <a:cs typeface="Consolas" panose="020B0609020204030204" pitchFamily="49" charset="0"/>
              </a:rPr>
              <a:t>ConfigMap</a:t>
            </a:r>
            <a:endParaRPr lang="en-GB" sz="14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GB" sz="1400" dirty="0">
                <a:latin typeface="Consolas" panose="020B0609020204030204" pitchFamily="49" charset="0"/>
                <a:cs typeface="Consolas" panose="020B0609020204030204" pitchFamily="49" charset="0"/>
              </a:rPr>
              <a:t>metadata:</a:t>
            </a:r>
          </a:p>
          <a:p>
            <a:r>
              <a:rPr lang="en-GB" sz="1400" dirty="0">
                <a:latin typeface="Consolas" panose="020B0609020204030204" pitchFamily="49" charset="0"/>
                <a:cs typeface="Consolas" panose="020B0609020204030204" pitchFamily="49" charset="0"/>
              </a:rPr>
              <a:t>  name: </a:t>
            </a:r>
            <a:r>
              <a:rPr lang="en-GB" sz="1400" b="1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my-nginx-</a:t>
            </a:r>
            <a:r>
              <a:rPr lang="en-GB" sz="1400" b="1" dirty="0" err="1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configmap</a:t>
            </a:r>
            <a:endParaRPr lang="en-GB" sz="1400" b="1" dirty="0">
              <a:solidFill>
                <a:schemeClr val="tx1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GB" sz="1400" dirty="0">
                <a:latin typeface="Consolas" panose="020B0609020204030204" pitchFamily="49" charset="0"/>
                <a:cs typeface="Consolas" panose="020B0609020204030204" pitchFamily="49" charset="0"/>
              </a:rPr>
              <a:t>data:</a:t>
            </a:r>
          </a:p>
          <a:p>
            <a:r>
              <a:rPr lang="en-GB" sz="1400" dirty="0"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GB" sz="1400" b="1" dirty="0" err="1">
                <a:solidFill>
                  <a:srgbClr val="C54D02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default.conf</a:t>
            </a:r>
            <a:r>
              <a:rPr lang="en-GB" sz="1400" dirty="0">
                <a:latin typeface="Consolas" panose="020B0609020204030204" pitchFamily="49" charset="0"/>
                <a:cs typeface="Consolas" panose="020B0609020204030204" pitchFamily="49" charset="0"/>
              </a:rPr>
              <a:t>: |-</a:t>
            </a:r>
          </a:p>
          <a:p>
            <a:r>
              <a:rPr lang="en-GB" sz="1400" dirty="0">
                <a:latin typeface="Consolas" panose="020B0609020204030204" pitchFamily="49" charset="0"/>
                <a:cs typeface="Consolas" panose="020B0609020204030204" pitchFamily="49" charset="0"/>
              </a:rPr>
              <a:t>    server {</a:t>
            </a:r>
          </a:p>
          <a:p>
            <a:r>
              <a:rPr lang="en-GB" sz="1400" dirty="0">
                <a:latin typeface="Consolas" panose="020B0609020204030204" pitchFamily="49" charset="0"/>
                <a:cs typeface="Consolas" panose="020B0609020204030204" pitchFamily="49" charset="0"/>
              </a:rPr>
              <a:t>      listen 80;</a:t>
            </a:r>
          </a:p>
          <a:p>
            <a:r>
              <a:rPr lang="en-GB" sz="1400" dirty="0">
                <a:latin typeface="Consolas" panose="020B0609020204030204" pitchFamily="49" charset="0"/>
                <a:cs typeface="Consolas" panose="020B0609020204030204" pitchFamily="49" charset="0"/>
              </a:rPr>
              <a:t>      </a:t>
            </a:r>
            <a:r>
              <a:rPr lang="en-GB" sz="1400" dirty="0" err="1">
                <a:latin typeface="Consolas" panose="020B0609020204030204" pitchFamily="49" charset="0"/>
                <a:cs typeface="Consolas" panose="020B0609020204030204" pitchFamily="49" charset="0"/>
              </a:rPr>
              <a:t>server_name</a:t>
            </a:r>
            <a:r>
              <a:rPr lang="en-GB" sz="1400" dirty="0">
                <a:latin typeface="Consolas" panose="020B0609020204030204" pitchFamily="49" charset="0"/>
                <a:cs typeface="Consolas" panose="020B0609020204030204" pitchFamily="49" charset="0"/>
              </a:rPr>
              <a:t> _;</a:t>
            </a:r>
          </a:p>
          <a:p>
            <a:r>
              <a:rPr lang="en-GB" sz="1400" dirty="0">
                <a:latin typeface="Consolas" panose="020B0609020204030204" pitchFamily="49" charset="0"/>
                <a:cs typeface="Consolas" panose="020B0609020204030204" pitchFamily="49" charset="0"/>
              </a:rPr>
              <a:t>      </a:t>
            </a:r>
            <a:r>
              <a:rPr lang="en-GB" sz="1400" dirty="0" err="1">
                <a:latin typeface="Consolas" panose="020B0609020204030204" pitchFamily="49" charset="0"/>
                <a:cs typeface="Consolas" panose="020B0609020204030204" pitchFamily="49" charset="0"/>
              </a:rPr>
              <a:t>error_page</a:t>
            </a:r>
            <a:r>
              <a:rPr lang="en-GB" sz="1400" dirty="0">
                <a:latin typeface="Consolas" panose="020B0609020204030204" pitchFamily="49" charset="0"/>
                <a:cs typeface="Consolas" panose="020B0609020204030204" pitchFamily="49" charset="0"/>
              </a:rPr>
              <a:t> 404 @sorry;</a:t>
            </a:r>
            <a:br>
              <a:rPr lang="en-GB" sz="1400" dirty="0">
                <a:latin typeface="Consolas" panose="020B0609020204030204" pitchFamily="49" charset="0"/>
                <a:cs typeface="Consolas" panose="020B0609020204030204" pitchFamily="49" charset="0"/>
              </a:rPr>
            </a:br>
            <a:endParaRPr lang="en-GB" sz="14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GB" sz="1400" dirty="0">
                <a:latin typeface="Consolas" panose="020B0609020204030204" pitchFamily="49" charset="0"/>
                <a:cs typeface="Consolas" panose="020B0609020204030204" pitchFamily="49" charset="0"/>
              </a:rPr>
              <a:t>      location @sorry {</a:t>
            </a:r>
          </a:p>
          <a:p>
            <a:r>
              <a:rPr lang="en-GB" sz="1400" dirty="0">
                <a:latin typeface="Consolas" panose="020B0609020204030204" pitchFamily="49" charset="0"/>
                <a:cs typeface="Consolas" panose="020B0609020204030204" pitchFamily="49" charset="0"/>
              </a:rPr>
              <a:t>        return 404 ”Dead-end\n";</a:t>
            </a:r>
          </a:p>
          <a:p>
            <a:r>
              <a:rPr lang="en-GB" sz="1400" dirty="0">
                <a:latin typeface="Consolas" panose="020B0609020204030204" pitchFamily="49" charset="0"/>
                <a:cs typeface="Consolas" panose="020B0609020204030204" pitchFamily="49" charset="0"/>
              </a:rPr>
              <a:t>      }</a:t>
            </a:r>
          </a:p>
          <a:p>
            <a:r>
              <a:rPr lang="en-GB" sz="1400" dirty="0">
                <a:latin typeface="Consolas" panose="020B0609020204030204" pitchFamily="49" charset="0"/>
                <a:cs typeface="Consolas" panose="020B0609020204030204" pitchFamily="49" charset="0"/>
              </a:rPr>
              <a:t>    }</a:t>
            </a:r>
          </a:p>
          <a:p>
            <a:endParaRPr lang="en-GB" sz="1400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78C4D67-80D8-48F9-7AF2-F6955CA1AFFF}"/>
              </a:ext>
            </a:extLst>
          </p:cNvPr>
          <p:cNvSpPr txBox="1"/>
          <p:nvPr/>
        </p:nvSpPr>
        <p:spPr>
          <a:xfrm>
            <a:off x="838200" y="1534542"/>
            <a:ext cx="131729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DK" dirty="0"/>
              <a:t>ConfigMap:</a:t>
            </a:r>
          </a:p>
        </p:txBody>
      </p:sp>
    </p:spTree>
    <p:extLst>
      <p:ext uri="{BB962C8B-B14F-4D97-AF65-F5344CB8AC3E}">
        <p14:creationId xmlns:p14="http://schemas.microsoft.com/office/powerpoint/2010/main" val="2961276510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04BD0D-628A-54FA-CCF9-A016CC877E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K" dirty="0"/>
              <a:t>Environment variables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78792C0-299F-1F5C-50FC-8B2CEA1C84C1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>
            <a:normAutofit/>
          </a:bodyPr>
          <a:lstStyle/>
          <a:p>
            <a:r>
              <a:rPr lang="en-DK" sz="2000" dirty="0"/>
              <a:t>Standard way to configure a cloud-ready app.</a:t>
            </a:r>
          </a:p>
          <a:p>
            <a:endParaRPr lang="en-DK" sz="2000" dirty="0"/>
          </a:p>
          <a:p>
            <a:r>
              <a:rPr lang="en-DK" sz="2000" dirty="0"/>
              <a:t>Many options: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DK" sz="2000" dirty="0"/>
              <a:t>Define key/value directly on the Deployment.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DK" sz="2000" dirty="0"/>
              <a:t>Import from volume</a:t>
            </a:r>
          </a:p>
          <a:p>
            <a:pPr marL="1028700" lvl="1" indent="-342900">
              <a:buFont typeface="Courier New" panose="02070309020205020404" pitchFamily="49" charset="0"/>
              <a:buChar char="o"/>
            </a:pPr>
            <a:r>
              <a:rPr lang="en-DK" sz="2000" dirty="0"/>
              <a:t>From ConfigMap</a:t>
            </a:r>
          </a:p>
          <a:p>
            <a:pPr marL="1028700" lvl="1" indent="-342900">
              <a:buFont typeface="Courier New" panose="02070309020205020404" pitchFamily="49" charset="0"/>
              <a:buChar char="o"/>
            </a:pPr>
            <a:r>
              <a:rPr lang="en-DK" sz="2000" dirty="0"/>
              <a:t>From Secret</a:t>
            </a:r>
          </a:p>
          <a:p>
            <a:pPr lvl="1" indent="0">
              <a:buNone/>
            </a:pPr>
            <a:endParaRPr lang="en-DK" sz="2000" dirty="0"/>
          </a:p>
          <a:p>
            <a:r>
              <a:rPr lang="en-DK" sz="2000" b="1" dirty="0"/>
              <a:t>Exercises:</a:t>
            </a:r>
          </a:p>
          <a:p>
            <a:r>
              <a:rPr lang="en-DK" sz="2000" dirty="0"/>
              <a:t>Follow instructions in </a:t>
            </a:r>
            <a:r>
              <a:rPr lang="en-DK" sz="2000" b="1" dirty="0"/>
              <a:t>2-config-and-env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C8FD67E-9116-337E-4439-D1B2B9A0425A}"/>
              </a:ext>
            </a:extLst>
          </p:cNvPr>
          <p:cNvSpPr txBox="1"/>
          <p:nvPr/>
        </p:nvSpPr>
        <p:spPr>
          <a:xfrm>
            <a:off x="6187440" y="1516557"/>
            <a:ext cx="5414782" cy="4616648"/>
          </a:xfrm>
          <a:prstGeom prst="rect">
            <a:avLst/>
          </a:prstGeom>
          <a:ln/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GB" sz="1400" dirty="0">
                <a:solidFill>
                  <a:schemeClr val="bg2">
                    <a:lumMod val="1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spec:</a:t>
            </a:r>
          </a:p>
          <a:p>
            <a:r>
              <a:rPr lang="en-GB" sz="1400" dirty="0">
                <a:solidFill>
                  <a:schemeClr val="bg2">
                    <a:lumMod val="1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...</a:t>
            </a:r>
          </a:p>
          <a:p>
            <a:r>
              <a:rPr lang="en-GB" sz="1400" dirty="0">
                <a:solidFill>
                  <a:schemeClr val="bg2">
                    <a:lumMod val="1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containers:</a:t>
            </a:r>
          </a:p>
          <a:p>
            <a:r>
              <a:rPr lang="en-GB" sz="1400" dirty="0">
                <a:solidFill>
                  <a:schemeClr val="bg2">
                    <a:lumMod val="1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my-app:</a:t>
            </a:r>
            <a:br>
              <a:rPr lang="en-GB" sz="1400" dirty="0">
                <a:solidFill>
                  <a:schemeClr val="bg2">
                    <a:lumMod val="1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</a:br>
            <a:endParaRPr lang="en-GB" sz="1400" dirty="0">
              <a:solidFill>
                <a:schemeClr val="bg2">
                  <a:lumMod val="10000"/>
                </a:schemeClr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GB" sz="1400" b="1" dirty="0">
                <a:solidFill>
                  <a:schemeClr val="bg2">
                    <a:lumMod val="1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# Manual</a:t>
            </a:r>
          </a:p>
          <a:p>
            <a:br>
              <a:rPr lang="en-GB" sz="1400" dirty="0">
                <a:solidFill>
                  <a:schemeClr val="bg2">
                    <a:lumMod val="1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GB" sz="1400" dirty="0">
                <a:solidFill>
                  <a:schemeClr val="bg2">
                    <a:lumMod val="1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env:</a:t>
            </a:r>
          </a:p>
          <a:p>
            <a:r>
              <a:rPr lang="en-GB" sz="1400" dirty="0">
                <a:solidFill>
                  <a:schemeClr val="bg2">
                    <a:lumMod val="1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- name: </a:t>
            </a:r>
            <a:r>
              <a:rPr lang="en-GB" sz="1400" dirty="0">
                <a:solidFill>
                  <a:srgbClr val="C54D02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NAME</a:t>
            </a:r>
          </a:p>
          <a:p>
            <a:r>
              <a:rPr lang="en-GB" sz="1400" dirty="0">
                <a:solidFill>
                  <a:schemeClr val="bg2">
                    <a:lumMod val="1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  value: </a:t>
            </a:r>
            <a:r>
              <a:rPr lang="en-GB" sz="1400" dirty="0">
                <a:solidFill>
                  <a:srgbClr val="005DE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"Workshop”</a:t>
            </a:r>
          </a:p>
          <a:p>
            <a:r>
              <a:rPr lang="en-GB" sz="1400" dirty="0">
                <a:solidFill>
                  <a:schemeClr val="bg2">
                    <a:lumMod val="1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- name: </a:t>
            </a:r>
            <a:r>
              <a:rPr lang="en-GB" sz="1400" dirty="0">
                <a:solidFill>
                  <a:srgbClr val="C54D02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DB_HOSTNAME</a:t>
            </a:r>
          </a:p>
          <a:p>
            <a:r>
              <a:rPr lang="en-GB" sz="1400" dirty="0">
                <a:solidFill>
                  <a:schemeClr val="bg2">
                    <a:lumMod val="1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  value: </a:t>
            </a:r>
            <a:r>
              <a:rPr lang="en-GB" sz="1400" dirty="0">
                <a:solidFill>
                  <a:srgbClr val="005DE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</a:t>
            </a:r>
            <a:r>
              <a:rPr lang="en-GB" sz="1400" dirty="0" err="1">
                <a:solidFill>
                  <a:srgbClr val="005DE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postgres-devel.kb.dk</a:t>
            </a:r>
            <a:r>
              <a:rPr lang="en-GB" sz="1400" dirty="0">
                <a:solidFill>
                  <a:srgbClr val="005DE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”</a:t>
            </a:r>
            <a:br>
              <a:rPr lang="en-GB" sz="1400" dirty="0">
                <a:solidFill>
                  <a:srgbClr val="005DE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</a:br>
            <a:endParaRPr lang="en-GB" sz="1400" dirty="0">
              <a:solidFill>
                <a:srgbClr val="005DE0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GB" sz="1400" b="1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# From </a:t>
            </a:r>
            <a:r>
              <a:rPr lang="en-GB" sz="1400" b="1" dirty="0" err="1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ConfigMap</a:t>
            </a:r>
            <a:r>
              <a:rPr lang="en-GB" sz="1400" b="1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or Secrets</a:t>
            </a:r>
          </a:p>
          <a:p>
            <a:endParaRPr lang="en-GB" sz="1400" b="1" dirty="0">
              <a:solidFill>
                <a:schemeClr val="tx1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GB" sz="14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</a:t>
            </a:r>
            <a:r>
              <a:rPr lang="en-GB" sz="1400" dirty="0" err="1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envFrom</a:t>
            </a:r>
            <a:r>
              <a:rPr lang="en-GB" sz="14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:</a:t>
            </a:r>
          </a:p>
          <a:p>
            <a:r>
              <a:rPr lang="en-GB" sz="14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- </a:t>
            </a:r>
            <a:r>
              <a:rPr lang="en-GB" sz="1400" dirty="0" err="1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configMapRef</a:t>
            </a:r>
            <a:r>
              <a:rPr lang="en-GB" sz="14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:</a:t>
            </a:r>
          </a:p>
          <a:p>
            <a:r>
              <a:rPr lang="en-GB" sz="14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    name: </a:t>
            </a:r>
            <a:r>
              <a:rPr lang="en-GB" sz="1400" dirty="0">
                <a:solidFill>
                  <a:srgbClr val="C54D02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my-app-env-</a:t>
            </a:r>
            <a:r>
              <a:rPr lang="en-GB" sz="1400" dirty="0" err="1">
                <a:solidFill>
                  <a:srgbClr val="C54D02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configmap</a:t>
            </a:r>
            <a:endParaRPr lang="en-GB" sz="1400" dirty="0">
              <a:solidFill>
                <a:srgbClr val="C54D02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GB" sz="14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- </a:t>
            </a:r>
            <a:r>
              <a:rPr lang="en-GB" sz="1400" dirty="0" err="1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secretRef</a:t>
            </a:r>
            <a:r>
              <a:rPr lang="en-GB" sz="14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:</a:t>
            </a:r>
          </a:p>
          <a:p>
            <a:r>
              <a:rPr lang="en-GB" sz="14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    name: </a:t>
            </a:r>
            <a:r>
              <a:rPr lang="en-GB" sz="1400" dirty="0">
                <a:solidFill>
                  <a:srgbClr val="C54D02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my-app-env-secrets</a:t>
            </a:r>
          </a:p>
          <a:p>
            <a:r>
              <a:rPr lang="en-GB" sz="14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    key: </a:t>
            </a:r>
            <a:r>
              <a:rPr lang="en-GB" sz="1400" dirty="0">
                <a:solidFill>
                  <a:srgbClr val="C54D02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DB_PASSWORD</a:t>
            </a:r>
          </a:p>
        </p:txBody>
      </p:sp>
    </p:spTree>
    <p:extLst>
      <p:ext uri="{BB962C8B-B14F-4D97-AF65-F5344CB8AC3E}">
        <p14:creationId xmlns:p14="http://schemas.microsoft.com/office/powerpoint/2010/main" val="1257190463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1B6EF8-E01F-8274-8796-6AB8A7B4D2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dsholder til tekst 1">
            <a:extLst>
              <a:ext uri="{FF2B5EF4-FFF2-40B4-BE49-F238E27FC236}">
                <a16:creationId xmlns:a16="http://schemas.microsoft.com/office/drawing/2014/main" id="{90727C89-C450-2D47-2B8E-BCF3ECBEEA4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da-DK" dirty="0"/>
              <a:t>7.</a:t>
            </a:r>
          </a:p>
        </p:txBody>
      </p:sp>
      <p:sp>
        <p:nvSpPr>
          <p:cNvPr id="3" name="Pladsholder til tekst 2">
            <a:extLst>
              <a:ext uri="{FF2B5EF4-FFF2-40B4-BE49-F238E27FC236}">
                <a16:creationId xmlns:a16="http://schemas.microsoft.com/office/drawing/2014/main" id="{9DBF7BFE-4372-6038-BB70-6A63D559343F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587749" y="2703049"/>
            <a:ext cx="6159755" cy="2884543"/>
          </a:xfrm>
        </p:spPr>
        <p:txBody>
          <a:bodyPr>
            <a:normAutofit/>
          </a:bodyPr>
          <a:lstStyle/>
          <a:p>
            <a:r>
              <a:rPr lang="da-DK" b="1" dirty="0" err="1"/>
              <a:t>Exercises</a:t>
            </a:r>
            <a:r>
              <a:rPr lang="da-DK" b="1" dirty="0"/>
              <a:t> for</a:t>
            </a:r>
            <a:br>
              <a:rPr lang="da-DK" dirty="0"/>
            </a:br>
            <a:r>
              <a:rPr lang="da-DK" dirty="0" err="1"/>
              <a:t>Config</a:t>
            </a:r>
            <a:r>
              <a:rPr lang="da-DK" dirty="0"/>
              <a:t> &amp; Environment</a:t>
            </a:r>
          </a:p>
          <a:p>
            <a:endParaRPr lang="da-DK" sz="2400" dirty="0"/>
          </a:p>
          <a:p>
            <a:r>
              <a:rPr lang="en-DK" sz="2400" dirty="0"/>
              <a:t>Følg instrukser i </a:t>
            </a:r>
            <a:r>
              <a:rPr lang="en-DK" sz="2400" b="1" dirty="0"/>
              <a:t>2-config-and-env</a:t>
            </a:r>
            <a:endParaRPr lang="da-DK" sz="2400" b="1" dirty="0"/>
          </a:p>
        </p:txBody>
      </p:sp>
    </p:spTree>
    <p:extLst>
      <p:ext uri="{BB962C8B-B14F-4D97-AF65-F5344CB8AC3E}">
        <p14:creationId xmlns:p14="http://schemas.microsoft.com/office/powerpoint/2010/main" val="4083353346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8C975C-19E4-989C-13D3-1B638FA020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K" dirty="0"/>
              <a:t>Volume Mounts - Persistence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A2668B6-060D-CE1D-FFA3-F9AD4AA5E0B5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>
            <a:normAutofit fontScale="77500" lnSpcReduction="20000"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DK" dirty="0"/>
              <a:t>Storage Class</a:t>
            </a:r>
          </a:p>
          <a:p>
            <a:pPr marL="1028700" lvl="1" indent="-342900"/>
            <a:r>
              <a:rPr lang="en-DK" dirty="0"/>
              <a:t>Type of storage</a:t>
            </a:r>
          </a:p>
          <a:p>
            <a:pPr marL="1028700" lvl="1" indent="-342900"/>
            <a:r>
              <a:rPr lang="en-DK" dirty="0"/>
              <a:t>E.g. Local-path, NFS, SMB, Longhorn, S3.</a:t>
            </a:r>
          </a:p>
          <a:p>
            <a:pPr marL="1028700" lvl="1" indent="-342900"/>
            <a:r>
              <a:rPr lang="en-DK" dirty="0"/>
              <a:t>A storage controller handles PVC -&gt; PV binding. </a:t>
            </a:r>
            <a:br>
              <a:rPr lang="en-DK" dirty="0"/>
            </a:br>
            <a:endParaRPr lang="en-DK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DK" dirty="0"/>
              <a:t>Persistent Volume Claim</a:t>
            </a:r>
          </a:p>
          <a:p>
            <a:pPr marL="1028700" lvl="1" indent="-342900"/>
            <a:r>
              <a:rPr lang="en-DK" dirty="0"/>
              <a:t>A request for storage of a specified class, size and access-mode.</a:t>
            </a:r>
          </a:p>
          <a:p>
            <a:pPr marL="1028700" lvl="1" indent="-342900"/>
            <a:r>
              <a:rPr lang="en-DK" i="1" dirty="0"/>
              <a:t>storageClass</a:t>
            </a:r>
            <a:r>
              <a:rPr lang="en-DK" dirty="0"/>
              <a:t> = Which type of storage do you need.</a:t>
            </a:r>
          </a:p>
          <a:p>
            <a:pPr marL="1028700" lvl="1" indent="-342900"/>
            <a:r>
              <a:rPr lang="en-DK" i="1" dirty="0"/>
              <a:t>accessModes</a:t>
            </a:r>
            <a:r>
              <a:rPr lang="en-DK" dirty="0"/>
              <a:t> = Read-only or Write, Single-node or Multi-node.</a:t>
            </a:r>
          </a:p>
          <a:p>
            <a:pPr marL="1028700" lvl="1" indent="-342900"/>
            <a:r>
              <a:rPr lang="en-DK" dirty="0"/>
              <a:t>E.g. give me 10 GB storage of class Longhorn (distributed) supporting RWX (multi-node writable) mode.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DK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DK" dirty="0"/>
              <a:t>Persistent Volumes</a:t>
            </a:r>
          </a:p>
          <a:p>
            <a:pPr marL="1028700" lvl="1" indent="-342900"/>
            <a:r>
              <a:rPr lang="en-DK" dirty="0"/>
              <a:t>An actual "piece” of dedicated persistent storage on the cluster.</a:t>
            </a:r>
          </a:p>
          <a:p>
            <a:pPr marL="1028700" lvl="1" indent="-342900"/>
            <a:r>
              <a:rPr lang="en-DK" dirty="0"/>
              <a:t>May be </a:t>
            </a:r>
            <a:r>
              <a:rPr lang="en-DK" i="1" dirty="0"/>
              <a:t>bound</a:t>
            </a:r>
            <a:r>
              <a:rPr lang="en-DK" dirty="0"/>
              <a:t> by a PVC or </a:t>
            </a:r>
            <a:r>
              <a:rPr lang="en-DK" i="1" dirty="0"/>
              <a:t>released</a:t>
            </a:r>
            <a:r>
              <a:rPr lang="en-DK" dirty="0"/>
              <a:t>.</a:t>
            </a:r>
          </a:p>
          <a:p>
            <a:pPr marL="1028700" lvl="1" indent="-342900"/>
            <a:r>
              <a:rPr lang="en-DK" dirty="0"/>
              <a:t>⚠️  ReclaimPolicy: Retain vs. Delete ⚠️</a:t>
            </a:r>
          </a:p>
          <a:p>
            <a:pPr marL="1028700" lvl="1" indent="-342900"/>
            <a:endParaRPr lang="en-DK" dirty="0"/>
          </a:p>
          <a:p>
            <a:pPr marL="342900" indent="-342900"/>
            <a:r>
              <a:rPr lang="en-GB" dirty="0">
                <a:effectLst/>
                <a:latin typeface="inherit"/>
              </a:rPr>
              <a:t>Pod</a:t>
            </a:r>
            <a:r>
              <a:rPr lang="en-GB" dirty="0"/>
              <a:t> </a:t>
            </a:r>
            <a:r>
              <a:rPr lang="en-GB" dirty="0">
                <a:latin typeface="inherit"/>
                <a:sym typeface="Wingdings" pitchFamily="2" charset="2"/>
              </a:rPr>
              <a:t></a:t>
            </a:r>
            <a:r>
              <a:rPr lang="en-GB" dirty="0"/>
              <a:t> </a:t>
            </a:r>
            <a:r>
              <a:rPr lang="en-GB" dirty="0">
                <a:effectLst/>
                <a:latin typeface="inherit"/>
              </a:rPr>
              <a:t>PVC</a:t>
            </a:r>
            <a:r>
              <a:rPr lang="en-GB" dirty="0"/>
              <a:t> </a:t>
            </a:r>
            <a:r>
              <a:rPr lang="en-GB" dirty="0">
                <a:latin typeface="inherit"/>
                <a:sym typeface="Wingdings" pitchFamily="2" charset="2"/>
              </a:rPr>
              <a:t></a:t>
            </a:r>
            <a:r>
              <a:rPr lang="en-GB" dirty="0"/>
              <a:t> </a:t>
            </a:r>
            <a:r>
              <a:rPr lang="en-GB" dirty="0">
                <a:effectLst/>
                <a:latin typeface="inherit"/>
              </a:rPr>
              <a:t>PV</a:t>
            </a:r>
            <a:r>
              <a:rPr lang="en-GB" dirty="0"/>
              <a:t> </a:t>
            </a:r>
            <a:r>
              <a:rPr lang="en-GB" dirty="0">
                <a:latin typeface="inherit"/>
                <a:sym typeface="Wingdings" pitchFamily="2" charset="2"/>
              </a:rPr>
              <a:t></a:t>
            </a:r>
            <a:r>
              <a:rPr lang="en-GB" dirty="0"/>
              <a:t> </a:t>
            </a:r>
            <a:r>
              <a:rPr lang="en-GB" dirty="0">
                <a:effectLst/>
                <a:latin typeface="inherit"/>
              </a:rPr>
              <a:t>Storage (Local, NFS, SMB)</a:t>
            </a:r>
            <a:endParaRPr lang="en-DK" dirty="0"/>
          </a:p>
        </p:txBody>
      </p:sp>
    </p:spTree>
    <p:extLst>
      <p:ext uri="{BB962C8B-B14F-4D97-AF65-F5344CB8AC3E}">
        <p14:creationId xmlns:p14="http://schemas.microsoft.com/office/powerpoint/2010/main" val="2531753200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6D22F2-7996-0951-BA31-BA03DA2BD8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dsholder til tekst 1">
            <a:extLst>
              <a:ext uri="{FF2B5EF4-FFF2-40B4-BE49-F238E27FC236}">
                <a16:creationId xmlns:a16="http://schemas.microsoft.com/office/drawing/2014/main" id="{38B74632-D966-089D-BF4B-01BF763B26ED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da-DK" dirty="0"/>
              <a:t>7.</a:t>
            </a:r>
          </a:p>
        </p:txBody>
      </p:sp>
      <p:sp>
        <p:nvSpPr>
          <p:cNvPr id="3" name="Pladsholder til tekst 2">
            <a:extLst>
              <a:ext uri="{FF2B5EF4-FFF2-40B4-BE49-F238E27FC236}">
                <a16:creationId xmlns:a16="http://schemas.microsoft.com/office/drawing/2014/main" id="{C5F74642-EA7D-63CC-DE75-65B403D88473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587749" y="2703049"/>
            <a:ext cx="5922011" cy="2884543"/>
          </a:xfrm>
        </p:spPr>
        <p:txBody>
          <a:bodyPr/>
          <a:lstStyle/>
          <a:p>
            <a:r>
              <a:rPr lang="da-DK" b="1" dirty="0" err="1"/>
              <a:t>Exercises</a:t>
            </a:r>
            <a:r>
              <a:rPr lang="da-DK" b="1" dirty="0"/>
              <a:t> for</a:t>
            </a:r>
            <a:br>
              <a:rPr lang="da-DK" dirty="0"/>
            </a:br>
            <a:r>
              <a:rPr lang="da-DK" dirty="0"/>
              <a:t>Volume </a:t>
            </a:r>
            <a:r>
              <a:rPr lang="da-DK" dirty="0" err="1"/>
              <a:t>Mounts</a:t>
            </a:r>
            <a:endParaRPr lang="da-DK" dirty="0"/>
          </a:p>
          <a:p>
            <a:endParaRPr lang="da-DK" sz="2400" dirty="0"/>
          </a:p>
          <a:p>
            <a:r>
              <a:rPr lang="en-DK" sz="2400" dirty="0"/>
              <a:t>Følg instrukser i </a:t>
            </a:r>
            <a:r>
              <a:rPr lang="en-DK" sz="2400" b="1" dirty="0"/>
              <a:t>3-volumes-and-persistence</a:t>
            </a:r>
          </a:p>
        </p:txBody>
      </p:sp>
    </p:spTree>
    <p:extLst>
      <p:ext uri="{BB962C8B-B14F-4D97-AF65-F5344CB8AC3E}">
        <p14:creationId xmlns:p14="http://schemas.microsoft.com/office/powerpoint/2010/main" val="1215795458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dsholder til tekst 1">
            <a:extLst>
              <a:ext uri="{FF2B5EF4-FFF2-40B4-BE49-F238E27FC236}">
                <a16:creationId xmlns:a16="http://schemas.microsoft.com/office/drawing/2014/main" id="{391F6EE4-50F2-FB06-9153-6CFF7145519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da-DK" dirty="0"/>
              <a:t>8.</a:t>
            </a:r>
          </a:p>
        </p:txBody>
      </p:sp>
      <p:sp>
        <p:nvSpPr>
          <p:cNvPr id="3" name="Pladsholder til tekst 2">
            <a:extLst>
              <a:ext uri="{FF2B5EF4-FFF2-40B4-BE49-F238E27FC236}">
                <a16:creationId xmlns:a16="http://schemas.microsoft.com/office/drawing/2014/main" id="{7517BDA5-72B2-1B8B-DDD6-81808EDF1A65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587749" y="2703049"/>
            <a:ext cx="5263173" cy="2884543"/>
          </a:xfrm>
        </p:spPr>
        <p:txBody>
          <a:bodyPr/>
          <a:lstStyle/>
          <a:p>
            <a:r>
              <a:rPr lang="da-DK" dirty="0" err="1"/>
              <a:t>Exposing</a:t>
            </a:r>
            <a:r>
              <a:rPr lang="da-DK" dirty="0"/>
              <a:t> containers</a:t>
            </a:r>
            <a:endParaRPr lang="da-DK" sz="2400" dirty="0"/>
          </a:p>
        </p:txBody>
      </p:sp>
    </p:spTree>
    <p:extLst>
      <p:ext uri="{BB962C8B-B14F-4D97-AF65-F5344CB8AC3E}">
        <p14:creationId xmlns:p14="http://schemas.microsoft.com/office/powerpoint/2010/main" val="4022848075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8E1C57-3D62-40F2-B494-24DC792334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K" dirty="0"/>
              <a:t>Services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1A22000-0FCF-6A51-C10A-51DAFDC4238B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838132" y="1690688"/>
            <a:ext cx="7555591" cy="4442517"/>
          </a:xfrm>
        </p:spPr>
        <p:txBody>
          <a:bodyPr/>
          <a:lstStyle/>
          <a:p>
            <a:r>
              <a:rPr lang="en-DK" dirty="0"/>
              <a:t>One stable DNS name &amp; IP for one type of Pod(s)</a:t>
            </a:r>
            <a:br>
              <a:rPr lang="en-DK" dirty="0"/>
            </a:br>
            <a:endParaRPr lang="en-DK" dirty="0"/>
          </a:p>
          <a:p>
            <a:r>
              <a:rPr lang="en-DK" dirty="0"/>
              <a:t>Query-based binding between a service-name</a:t>
            </a:r>
            <a:br>
              <a:rPr lang="en-DK" dirty="0"/>
            </a:br>
            <a:r>
              <a:rPr lang="en-DK" dirty="0"/>
              <a:t>and Pod workloads</a:t>
            </a:r>
            <a:br>
              <a:rPr lang="en-DK" dirty="0"/>
            </a:br>
            <a:endParaRPr lang="en-DK" dirty="0"/>
          </a:p>
          <a:p>
            <a:r>
              <a:rPr lang="en-DK" dirty="0"/>
              <a:t>Service (long-lived) </a:t>
            </a:r>
            <a:r>
              <a:rPr lang="en-DK" dirty="0">
                <a:sym typeface="Wingdings" pitchFamily="2" charset="2"/>
              </a:rPr>
              <a:t></a:t>
            </a:r>
            <a:r>
              <a:rPr lang="en-DK" dirty="0"/>
              <a:t> Pod (short-lived)</a:t>
            </a:r>
          </a:p>
          <a:p>
            <a:pPr lvl="1"/>
            <a:r>
              <a:rPr lang="en-DK" dirty="0"/>
              <a:t>Abstracts away the need </a:t>
            </a:r>
            <a:r>
              <a:rPr lang="en-DK" sz="1800" dirty="0"/>
              <a:t>to</a:t>
            </a:r>
            <a:r>
              <a:rPr lang="en-DK" dirty="0"/>
              <a:t> know Pod IP addresses.</a:t>
            </a:r>
          </a:p>
          <a:p>
            <a:endParaRPr lang="en-DK" dirty="0"/>
          </a:p>
          <a:p>
            <a:r>
              <a:rPr lang="en-DK" dirty="0"/>
              <a:t>A cluster’s “Internal DNS”</a:t>
            </a:r>
          </a:p>
          <a:p>
            <a:endParaRPr lang="en-DK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69D8E49-DFD1-E9F0-4B7A-1C0BD186DA2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2265" t="14523" r="3844" b="17975"/>
          <a:stretch>
            <a:fillRect/>
          </a:stretch>
        </p:blipFill>
        <p:spPr>
          <a:xfrm>
            <a:off x="7957039" y="1690688"/>
            <a:ext cx="4087760" cy="36913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20075661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020D79-0943-27C1-4CBB-B09EDBC6AE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K" dirty="0"/>
              <a:t>Service - Manifest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6AE469C-93CA-AD1D-2630-518D8AEB59D3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838132" y="1690688"/>
            <a:ext cx="6670944" cy="4442517"/>
          </a:xfrm>
        </p:spPr>
        <p:txBody>
          <a:bodyPr/>
          <a:lstStyle/>
          <a:p>
            <a:r>
              <a:rPr lang="en-GB" b="1" dirty="0">
                <a:solidFill>
                  <a:schemeClr val="tx1"/>
                </a:solidFill>
              </a:rPr>
              <a:t>Name = </a:t>
            </a:r>
            <a:r>
              <a:rPr lang="en-GB" dirty="0" err="1">
                <a:solidFill>
                  <a:schemeClr val="tx1"/>
                </a:solidFill>
              </a:rPr>
              <a:t>Navn</a:t>
            </a:r>
            <a:r>
              <a:rPr lang="en-GB" dirty="0">
                <a:solidFill>
                  <a:schemeClr val="tx1"/>
                </a:solidFill>
              </a:rPr>
              <a:t> </a:t>
            </a:r>
            <a:r>
              <a:rPr lang="en-GB" dirty="0" err="1">
                <a:solidFill>
                  <a:schemeClr val="tx1"/>
                </a:solidFill>
              </a:rPr>
              <a:t>som</a:t>
            </a:r>
            <a:r>
              <a:rPr lang="en-GB" dirty="0">
                <a:solidFill>
                  <a:schemeClr val="tx1"/>
                </a:solidFill>
              </a:rPr>
              <a:t> </a:t>
            </a:r>
            <a:r>
              <a:rPr lang="en-GB" dirty="0" err="1">
                <a:solidFill>
                  <a:schemeClr val="tx1"/>
                </a:solidFill>
              </a:rPr>
              <a:t>andre</a:t>
            </a:r>
            <a:r>
              <a:rPr lang="en-GB" dirty="0">
                <a:solidFill>
                  <a:schemeClr val="tx1"/>
                </a:solidFill>
              </a:rPr>
              <a:t> Pods </a:t>
            </a:r>
            <a:r>
              <a:rPr lang="en-GB" dirty="0" err="1">
                <a:solidFill>
                  <a:schemeClr val="tx1"/>
                </a:solidFill>
              </a:rPr>
              <a:t>i</a:t>
            </a:r>
            <a:r>
              <a:rPr lang="en-GB" dirty="0">
                <a:solidFill>
                  <a:schemeClr val="tx1"/>
                </a:solidFill>
              </a:rPr>
              <a:t> Kubernetes </a:t>
            </a:r>
            <a:r>
              <a:rPr lang="en-GB" dirty="0" err="1">
                <a:solidFill>
                  <a:schemeClr val="tx1"/>
                </a:solidFill>
              </a:rPr>
              <a:t>kan</a:t>
            </a:r>
            <a:r>
              <a:rPr lang="en-GB" dirty="0">
                <a:solidFill>
                  <a:schemeClr val="tx1"/>
                </a:solidFill>
              </a:rPr>
              <a:t> </a:t>
            </a:r>
            <a:r>
              <a:rPr lang="en-GB" dirty="0" err="1">
                <a:solidFill>
                  <a:schemeClr val="tx1"/>
                </a:solidFill>
              </a:rPr>
              <a:t>bruge</a:t>
            </a:r>
            <a:r>
              <a:rPr lang="en-GB" dirty="0">
                <a:solidFill>
                  <a:schemeClr val="tx1"/>
                </a:solidFill>
              </a:rPr>
              <a:t> </a:t>
            </a:r>
            <a:r>
              <a:rPr lang="en-GB" dirty="0" err="1">
                <a:solidFill>
                  <a:schemeClr val="tx1"/>
                </a:solidFill>
              </a:rPr>
              <a:t>i</a:t>
            </a:r>
            <a:r>
              <a:rPr lang="en-GB" dirty="0">
                <a:solidFill>
                  <a:schemeClr val="tx1"/>
                </a:solidFill>
              </a:rPr>
              <a:t> </a:t>
            </a:r>
            <a:r>
              <a:rPr lang="en-GB" dirty="0" err="1">
                <a:solidFill>
                  <a:schemeClr val="tx1"/>
                </a:solidFill>
              </a:rPr>
              <a:t>stedet</a:t>
            </a:r>
            <a:r>
              <a:rPr lang="en-GB" dirty="0">
                <a:solidFill>
                  <a:schemeClr val="tx1"/>
                </a:solidFill>
              </a:rPr>
              <a:t> for IP </a:t>
            </a:r>
            <a:r>
              <a:rPr lang="en-GB" dirty="0" err="1">
                <a:solidFill>
                  <a:schemeClr val="tx1"/>
                </a:solidFill>
              </a:rPr>
              <a:t>til</a:t>
            </a:r>
            <a:r>
              <a:rPr lang="en-GB" dirty="0">
                <a:solidFill>
                  <a:schemeClr val="tx1"/>
                </a:solidFill>
              </a:rPr>
              <a:t> at </a:t>
            </a:r>
            <a:r>
              <a:rPr lang="en-GB" dirty="0" err="1">
                <a:solidFill>
                  <a:schemeClr val="tx1"/>
                </a:solidFill>
              </a:rPr>
              <a:t>finde</a:t>
            </a:r>
            <a:r>
              <a:rPr lang="en-GB" dirty="0">
                <a:solidFill>
                  <a:schemeClr val="tx1"/>
                </a:solidFill>
              </a:rPr>
              <a:t> </a:t>
            </a:r>
            <a:r>
              <a:rPr lang="en-GB" dirty="0" err="1">
                <a:solidFill>
                  <a:schemeClr val="tx1"/>
                </a:solidFill>
              </a:rPr>
              <a:t>specifikke</a:t>
            </a:r>
            <a:r>
              <a:rPr lang="en-GB" dirty="0">
                <a:solidFill>
                  <a:schemeClr val="tx1"/>
                </a:solidFill>
              </a:rPr>
              <a:t> Pods</a:t>
            </a:r>
          </a:p>
          <a:p>
            <a:endParaRPr lang="en-GB" b="1" dirty="0">
              <a:solidFill>
                <a:schemeClr val="tx1"/>
              </a:solidFill>
            </a:endParaRPr>
          </a:p>
          <a:p>
            <a:r>
              <a:rPr lang="en-GB" b="1" dirty="0">
                <a:solidFill>
                  <a:schemeClr val="tx1"/>
                </a:solidFill>
              </a:rPr>
              <a:t>S</a:t>
            </a:r>
            <a:r>
              <a:rPr lang="en-DK" b="1" dirty="0">
                <a:solidFill>
                  <a:schemeClr val="tx1"/>
                </a:solidFill>
              </a:rPr>
              <a:t>elector </a:t>
            </a:r>
            <a:r>
              <a:rPr lang="en-DK" dirty="0">
                <a:solidFill>
                  <a:schemeClr val="tx1"/>
                </a:solidFill>
              </a:rPr>
              <a:t>= Label matching af Pods, som den sender trafik til.</a:t>
            </a:r>
            <a:br>
              <a:rPr lang="en-DK" dirty="0">
                <a:solidFill>
                  <a:schemeClr val="tx1"/>
                </a:solidFill>
              </a:rPr>
            </a:br>
            <a:endParaRPr lang="en-DK" dirty="0">
              <a:solidFill>
                <a:schemeClr val="tx1"/>
              </a:solidFill>
            </a:endParaRPr>
          </a:p>
          <a:p>
            <a:r>
              <a:rPr lang="en-DK" b="1" dirty="0">
                <a:solidFill>
                  <a:schemeClr val="tx1"/>
                </a:solidFill>
              </a:rPr>
              <a:t>Ports</a:t>
            </a:r>
            <a:r>
              <a:rPr lang="en-DK" dirty="0">
                <a:solidFill>
                  <a:schemeClr val="tx1"/>
                </a:solidFill>
              </a:rPr>
              <a:t> = How ports map from Service to Pods</a:t>
            </a:r>
          </a:p>
          <a:p>
            <a:pPr lvl="1"/>
            <a:r>
              <a:rPr lang="en-DK" dirty="0">
                <a:solidFill>
                  <a:schemeClr val="tx1"/>
                </a:solidFill>
              </a:rPr>
              <a:t>E.g. my-service:80 </a:t>
            </a:r>
            <a:r>
              <a:rPr lang="en-DK" dirty="0">
                <a:solidFill>
                  <a:schemeClr val="tx1"/>
                </a:solidFill>
                <a:sym typeface="Wingdings" pitchFamily="2" charset="2"/>
              </a:rPr>
              <a:t> pod/MyApp:9376</a:t>
            </a:r>
            <a:endParaRPr lang="en-DK" dirty="0">
              <a:solidFill>
                <a:schemeClr val="tx1"/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D20E20B-07E8-576C-F543-A020F225006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5258" t="19268" r="4958" b="32105"/>
          <a:stretch>
            <a:fillRect/>
          </a:stretch>
        </p:blipFill>
        <p:spPr>
          <a:xfrm>
            <a:off x="7721599" y="1790700"/>
            <a:ext cx="3797301" cy="3225800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3487830328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74" name="Picture 2" descr="Ingress can balance the inbound traffic in Kubernetes.">
            <a:extLst>
              <a:ext uri="{FF2B5EF4-FFF2-40B4-BE49-F238E27FC236}">
                <a16:creationId xmlns:a16="http://schemas.microsoft.com/office/drawing/2014/main" id="{00124E4C-1021-2448-3075-B26842E60B0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341084" y="1649949"/>
            <a:ext cx="6850916" cy="452399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073BE94B-EAF7-E3C6-4C06-B6A093F347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K" dirty="0"/>
              <a:t>Services &amp; Ingress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C3C3B05-A533-6D64-223F-ACFEF714C85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>
            <a:normAutofit lnSpcReduction="10000"/>
          </a:bodyPr>
          <a:lstStyle/>
          <a:p>
            <a:r>
              <a:rPr lang="en-DK" b="1" dirty="0"/>
              <a:t>Service</a:t>
            </a:r>
            <a:r>
              <a:rPr lang="en-DK" dirty="0"/>
              <a:t>:</a:t>
            </a:r>
          </a:p>
          <a:p>
            <a:pPr lvl="1"/>
            <a:r>
              <a:rPr lang="en-DK" dirty="0"/>
              <a:t>Intern DNS</a:t>
            </a:r>
          </a:p>
          <a:p>
            <a:pPr lvl="1"/>
            <a:r>
              <a:rPr lang="en-DK" dirty="0"/>
              <a:t>Fx. my-service.&lt;namespace&gt;.svc.cluster.local</a:t>
            </a:r>
          </a:p>
          <a:p>
            <a:r>
              <a:rPr lang="en-DK" b="1" dirty="0"/>
              <a:t>Ingress</a:t>
            </a:r>
            <a:r>
              <a:rPr lang="en-DK" dirty="0"/>
              <a:t>:</a:t>
            </a:r>
          </a:p>
          <a:p>
            <a:pPr lvl="1"/>
            <a:r>
              <a:rPr lang="en-DK" dirty="0"/>
              <a:t>External DNS</a:t>
            </a:r>
          </a:p>
          <a:p>
            <a:pPr lvl="1"/>
            <a:r>
              <a:rPr lang="en-DK" dirty="0"/>
              <a:t>SSL termination</a:t>
            </a:r>
          </a:p>
          <a:p>
            <a:pPr lvl="1"/>
            <a:r>
              <a:rPr lang="en-DK" dirty="0"/>
              <a:t>Connects to services</a:t>
            </a:r>
          </a:p>
          <a:p>
            <a:pPr lvl="1"/>
            <a:r>
              <a:rPr lang="da-DK" dirty="0"/>
              <a:t>Fx. </a:t>
            </a:r>
            <a:r>
              <a:rPr lang="da-DK" dirty="0" err="1"/>
              <a:t>my</a:t>
            </a:r>
            <a:r>
              <a:rPr lang="da-DK" dirty="0"/>
              <a:t>-app</a:t>
            </a:r>
            <a:r>
              <a:rPr lang="en-DK" dirty="0"/>
              <a:t>-devel.kb.dk</a:t>
            </a:r>
          </a:p>
          <a:p>
            <a:pPr marL="0" indent="0">
              <a:buNone/>
            </a:pPr>
            <a:endParaRPr lang="en-DK" dirty="0"/>
          </a:p>
          <a:p>
            <a:r>
              <a:rPr lang="en-DK" sz="2200" dirty="0"/>
              <a:t>Request </a:t>
            </a:r>
            <a:r>
              <a:rPr lang="en-DK" sz="2200" dirty="0">
                <a:sym typeface="Wingdings" pitchFamily="2" charset="2"/>
              </a:rPr>
              <a:t> </a:t>
            </a:r>
            <a:r>
              <a:rPr lang="en-DK" sz="2200" dirty="0"/>
              <a:t>Ingress </a:t>
            </a:r>
            <a:r>
              <a:rPr lang="en-DK" sz="2200" dirty="0">
                <a:sym typeface="Wingdings" pitchFamily="2" charset="2"/>
              </a:rPr>
              <a:t></a:t>
            </a:r>
            <a:r>
              <a:rPr lang="en-DK" sz="2200" dirty="0"/>
              <a:t> Service </a:t>
            </a:r>
            <a:r>
              <a:rPr lang="en-DK" sz="2200" dirty="0">
                <a:sym typeface="Wingdings" pitchFamily="2" charset="2"/>
              </a:rPr>
              <a:t> Pod</a:t>
            </a:r>
            <a:endParaRPr lang="en-DK" sz="2200" dirty="0"/>
          </a:p>
          <a:p>
            <a:endParaRPr lang="en-DK" dirty="0"/>
          </a:p>
          <a:p>
            <a:r>
              <a:rPr lang="en-DK" sz="2200" dirty="0"/>
              <a:t>Se på eksempel i Rancher</a:t>
            </a:r>
          </a:p>
        </p:txBody>
      </p:sp>
    </p:spTree>
    <p:extLst>
      <p:ext uri="{BB962C8B-B14F-4D97-AF65-F5344CB8AC3E}">
        <p14:creationId xmlns:p14="http://schemas.microsoft.com/office/powerpoint/2010/main" val="2348188324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1C8AD0-4275-B6C0-8508-66AC67AFA9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K" dirty="0"/>
              <a:t>Expose a service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C73CBB0-6729-82F4-9EF6-D2CAD44FB351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838131" y="1690688"/>
            <a:ext cx="11095721" cy="4442517"/>
          </a:xfrm>
        </p:spPr>
        <p:txBody>
          <a:bodyPr>
            <a:normAutofit fontScale="85000" lnSpcReduction="20000"/>
          </a:bodyPr>
          <a:lstStyle/>
          <a:p>
            <a:r>
              <a:rPr lang="en-GB" dirty="0">
                <a:hlinkClick r:id="rId2"/>
              </a:rPr>
              <a:t>https://kubernetes.io/docs/tutorials/services/connect-applications-service/#creating-a-service</a:t>
            </a:r>
            <a:endParaRPr lang="en-GB" dirty="0"/>
          </a:p>
          <a:p>
            <a:endParaRPr lang="en-GB" dirty="0"/>
          </a:p>
          <a:p>
            <a:r>
              <a:rPr lang="en-GB" dirty="0"/>
              <a:t>First install an Ingress controller!</a:t>
            </a:r>
          </a:p>
          <a:p>
            <a:endParaRPr lang="en-GB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GB" sz="2000" b="0" i="0" dirty="0" err="1">
                <a:solidFill>
                  <a:srgbClr val="222222"/>
                </a:solidFill>
                <a:effectLst/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kubectl</a:t>
            </a:r>
            <a:r>
              <a:rPr lang="en-GB" sz="2000" b="0" i="0" dirty="0">
                <a:solidFill>
                  <a:srgbClr val="222222"/>
                </a:solidFill>
                <a:effectLst/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 expose deployment/test --port 80</a:t>
            </a:r>
          </a:p>
          <a:p>
            <a:pPr lvl="1"/>
            <a:r>
              <a:rPr lang="en-GB" dirty="0">
                <a:solidFill>
                  <a:srgbClr val="222222"/>
                </a:solidFill>
                <a:latin typeface="SFMono-Regular"/>
              </a:rPr>
              <a:t>Creates a new Service resource!</a:t>
            </a:r>
          </a:p>
          <a:p>
            <a:pPr lvl="1"/>
            <a:endParaRPr lang="en-GB" dirty="0">
              <a:solidFill>
                <a:srgbClr val="222222"/>
              </a:solidFill>
              <a:latin typeface="SFMono-Regular"/>
            </a:endParaRPr>
          </a:p>
          <a:p>
            <a:r>
              <a:rPr lang="en-GB" sz="2000" dirty="0" err="1"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kubectl</a:t>
            </a:r>
            <a:r>
              <a:rPr lang="en-GB" sz="2000" dirty="0"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 create ingress test --rule=host/path=</a:t>
            </a:r>
            <a:r>
              <a:rPr lang="en-GB" sz="2000" dirty="0" err="1"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service:port</a:t>
            </a:r>
            <a:r>
              <a:rPr lang="en-GB" sz="2000" dirty="0">
                <a:latin typeface="Consolas" panose="020B0609020204030204" pitchFamily="49" charset="0"/>
                <a:cs typeface="Consolas" panose="020B0609020204030204" pitchFamily="49" charset="0"/>
              </a:rPr>
              <a:t> (--class=)</a:t>
            </a:r>
          </a:p>
          <a:p>
            <a:endParaRPr lang="en-GB" dirty="0"/>
          </a:p>
          <a:p>
            <a:r>
              <a:rPr lang="en-GB" sz="2000" dirty="0" err="1"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kubectl</a:t>
            </a:r>
            <a:r>
              <a:rPr lang="en-GB" sz="2000" dirty="0"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 create ingress test --rule=</a:t>
            </a:r>
            <a:r>
              <a:rPr lang="en-GB" sz="2000" dirty="0" err="1"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demo.localhost</a:t>
            </a:r>
            <a:r>
              <a:rPr lang="en-GB" sz="2000" dirty="0"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/=test:80 --class=</a:t>
            </a:r>
            <a:r>
              <a:rPr lang="en-GB" sz="2000" dirty="0" err="1"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traefik</a:t>
            </a:r>
            <a:endParaRPr lang="en-GB" sz="2000" dirty="0">
              <a:highlight>
                <a:srgbClr val="D6ECCB"/>
              </a:highlight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endParaRPr lang="en-GB" sz="2000" dirty="0">
              <a:highlight>
                <a:srgbClr val="D6ECCB"/>
              </a:highlight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GB" sz="2000" dirty="0" err="1"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kubectl</a:t>
            </a:r>
            <a:r>
              <a:rPr lang="en-GB" sz="2000" dirty="0"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 edit ingress/test</a:t>
            </a:r>
          </a:p>
          <a:p>
            <a:endParaRPr lang="en-GB" sz="2000" dirty="0">
              <a:highlight>
                <a:srgbClr val="D6ECCB"/>
              </a:highlight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GB" sz="2000" dirty="0" err="1"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kubectl</a:t>
            </a:r>
            <a:r>
              <a:rPr lang="en-GB" sz="2000" dirty="0"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 describe ingress test</a:t>
            </a:r>
          </a:p>
          <a:p>
            <a:endParaRPr lang="en-GB" sz="2000" dirty="0">
              <a:highlight>
                <a:srgbClr val="D6ECCB"/>
              </a:highlight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endParaRPr lang="en-GB" dirty="0"/>
          </a:p>
          <a:p>
            <a:endParaRPr lang="en-DK" dirty="0"/>
          </a:p>
        </p:txBody>
      </p:sp>
    </p:spTree>
    <p:extLst>
      <p:ext uri="{BB962C8B-B14F-4D97-AF65-F5344CB8AC3E}">
        <p14:creationId xmlns:p14="http://schemas.microsoft.com/office/powerpoint/2010/main" val="122063177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1B877B-8F1C-9E1A-3594-6B0FC6D774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dsholder til tekst 1">
            <a:extLst>
              <a:ext uri="{FF2B5EF4-FFF2-40B4-BE49-F238E27FC236}">
                <a16:creationId xmlns:a16="http://schemas.microsoft.com/office/drawing/2014/main" id="{7A03A756-B146-97FF-DE4D-2A1F336100DE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da-DK" dirty="0"/>
              <a:t>8.</a:t>
            </a:r>
          </a:p>
        </p:txBody>
      </p:sp>
      <p:sp>
        <p:nvSpPr>
          <p:cNvPr id="3" name="Pladsholder til tekst 2">
            <a:extLst>
              <a:ext uri="{FF2B5EF4-FFF2-40B4-BE49-F238E27FC236}">
                <a16:creationId xmlns:a16="http://schemas.microsoft.com/office/drawing/2014/main" id="{E9AB74AF-CCCA-F246-CDD0-C99EFE05624F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587749" y="2703049"/>
            <a:ext cx="5922011" cy="2884543"/>
          </a:xfrm>
        </p:spPr>
        <p:txBody>
          <a:bodyPr/>
          <a:lstStyle/>
          <a:p>
            <a:r>
              <a:rPr lang="da-DK" b="1" dirty="0" err="1"/>
              <a:t>Exercises</a:t>
            </a:r>
            <a:r>
              <a:rPr lang="da-DK" b="1" dirty="0"/>
              <a:t> for</a:t>
            </a:r>
            <a:br>
              <a:rPr lang="da-DK" dirty="0"/>
            </a:br>
            <a:r>
              <a:rPr lang="da-DK" dirty="0" err="1"/>
              <a:t>Exposing</a:t>
            </a:r>
            <a:r>
              <a:rPr lang="da-DK" dirty="0"/>
              <a:t> containers</a:t>
            </a:r>
          </a:p>
          <a:p>
            <a:endParaRPr lang="da-DK" sz="2400" dirty="0"/>
          </a:p>
          <a:p>
            <a:r>
              <a:rPr lang="en-DK" sz="2400" dirty="0"/>
              <a:t>Følg instrukser i </a:t>
            </a:r>
            <a:r>
              <a:rPr lang="en-DK" sz="2400" b="1" dirty="0"/>
              <a:t>4-exposing-workloads</a:t>
            </a:r>
          </a:p>
          <a:p>
            <a:endParaRPr lang="da-DK" sz="2400" dirty="0"/>
          </a:p>
        </p:txBody>
      </p:sp>
    </p:spTree>
    <p:extLst>
      <p:ext uri="{BB962C8B-B14F-4D97-AF65-F5344CB8AC3E}">
        <p14:creationId xmlns:p14="http://schemas.microsoft.com/office/powerpoint/2010/main" val="3289608399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1CB379AB-2542-3C49-D9C4-73D452B2805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DK" dirty="0"/>
              <a:t>9.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4C13D03-DA13-4C99-9A7E-44673762BC02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587750" y="2703049"/>
            <a:ext cx="6051550" cy="2884543"/>
          </a:xfrm>
        </p:spPr>
        <p:txBody>
          <a:bodyPr>
            <a:normAutofit/>
          </a:bodyPr>
          <a:lstStyle/>
          <a:p>
            <a:r>
              <a:rPr lang="en-DK" dirty="0"/>
              <a:t>Complex systems</a:t>
            </a:r>
            <a:br>
              <a:rPr lang="en-DK" sz="6600" dirty="0"/>
            </a:br>
            <a:br>
              <a:rPr lang="en-DK" dirty="0"/>
            </a:br>
            <a:r>
              <a:rPr lang="en-DK" sz="2400" dirty="0"/>
              <a:t>Systemer bestående af flere Pods der skal kunne snakke sammen</a:t>
            </a:r>
            <a:endParaRPr lang="en-DK" dirty="0"/>
          </a:p>
        </p:txBody>
      </p:sp>
    </p:spTree>
    <p:extLst>
      <p:ext uri="{BB962C8B-B14F-4D97-AF65-F5344CB8AC3E}">
        <p14:creationId xmlns:p14="http://schemas.microsoft.com/office/powerpoint/2010/main" val="2528873057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724C2F-6574-F7A0-E960-0C846DA729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K" dirty="0"/>
              <a:t>Komplekse systemer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284C0F1-B3A6-E24C-9E32-04B3DAF77EC0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DK" dirty="0"/>
              <a:t>Hvordan får man flere Pods/komponenter til at snakke sammen?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en-DK" dirty="0"/>
              <a:t>Services (intern DNS)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en-DK" dirty="0"/>
              <a:t>Netværks-politik, så Deployments kan nå hinandens Services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en-DK" dirty="0"/>
              <a:t>Konfiguration af apps (backing services)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en-DK" dirty="0">
                <a:latin typeface="Consolas" panose="020B0609020204030204" pitchFamily="49" charset="0"/>
                <a:cs typeface="Consolas" panose="020B0609020204030204" pitchFamily="49" charset="0"/>
              </a:rPr>
              <a:t>DB_HOSTNAME=my-postgres-database.svc.cluster.local</a:t>
            </a:r>
          </a:p>
          <a:p>
            <a:pPr marL="914400" lvl="2" indent="0">
              <a:buNone/>
            </a:pPr>
            <a:endParaRPr lang="en-DK" dirty="0"/>
          </a:p>
          <a:p>
            <a:r>
              <a:rPr lang="en-DK" dirty="0"/>
              <a:t>Systemarkitektur - Hvorfor micro-services fungerer godt i Kubernetes</a:t>
            </a:r>
          </a:p>
          <a:p>
            <a:endParaRPr lang="en-DK" dirty="0"/>
          </a:p>
          <a:p>
            <a:r>
              <a:rPr lang="en-DK" dirty="0"/>
              <a:t>Orchestration:</a:t>
            </a:r>
          </a:p>
          <a:p>
            <a:pPr lvl="1"/>
            <a:r>
              <a:rPr lang="en-DK" dirty="0"/>
              <a:t>Inter-dependencies</a:t>
            </a:r>
          </a:p>
          <a:p>
            <a:pPr lvl="1"/>
            <a:r>
              <a:rPr lang="en-DK" dirty="0"/>
              <a:t>Health probes</a:t>
            </a:r>
          </a:p>
          <a:p>
            <a:pPr lvl="1"/>
            <a:r>
              <a:rPr lang="en-DK" dirty="0"/>
              <a:t>Persistence</a:t>
            </a:r>
          </a:p>
          <a:p>
            <a:pPr lvl="1"/>
            <a:r>
              <a:rPr lang="en-DK" dirty="0"/>
              <a:t>Scaling &amp; Load-balancing</a:t>
            </a:r>
            <a:br>
              <a:rPr lang="en-DK" dirty="0"/>
            </a:b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700532395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CCD344-B461-BB41-B3C9-7708DD8AC7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K" dirty="0"/>
              <a:t>Orchestration – Health Probes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41F9AA3-3685-DAD0-3399-67C877486331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838132" y="1690688"/>
            <a:ext cx="10515600" cy="4527232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DK" dirty="0"/>
              <a:t>Kubernetes’ health probes kan svare på følgende spørgsmål om en container:</a:t>
            </a:r>
            <a:br>
              <a:rPr lang="en-DK" dirty="0"/>
            </a:br>
            <a:endParaRPr lang="en-DK" dirty="0"/>
          </a:p>
          <a:p>
            <a:pPr marL="0" indent="0">
              <a:buNone/>
            </a:pPr>
            <a:endParaRPr lang="en-DK" dirty="0"/>
          </a:p>
          <a:p>
            <a:pPr marL="0" indent="0">
              <a:buNone/>
            </a:pPr>
            <a:endParaRPr lang="en-DK" dirty="0"/>
          </a:p>
          <a:p>
            <a:pPr marL="0" indent="0">
              <a:buNone/>
            </a:pPr>
            <a:endParaRPr lang="en-DK" dirty="0"/>
          </a:p>
          <a:p>
            <a:pPr marL="0" indent="0">
              <a:buNone/>
            </a:pPr>
            <a:endParaRPr lang="en-DK" dirty="0"/>
          </a:p>
          <a:p>
            <a:pPr marL="0" indent="0">
              <a:buNone/>
            </a:pPr>
            <a:r>
              <a:rPr lang="en-DK" sz="1900" dirty="0"/>
              <a:t>Probe mechanisms (same for all three):</a:t>
            </a:r>
          </a:p>
          <a:p>
            <a:r>
              <a:rPr lang="en-DK" sz="1900" b="1" dirty="0"/>
              <a:t>httpGet</a:t>
            </a:r>
            <a:r>
              <a:rPr lang="en-DK" sz="1900" dirty="0"/>
              <a:t> (most common),</a:t>
            </a:r>
          </a:p>
          <a:p>
            <a:r>
              <a:rPr lang="en-DK" sz="1900" dirty="0"/>
              <a:t>exec (run a command, exit 0 = healthy)</a:t>
            </a:r>
          </a:p>
          <a:p>
            <a:r>
              <a:rPr lang="en-DK" sz="1900" dirty="0"/>
              <a:t>tcpSocket, grpc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43E14FD-27D2-3BA4-D692-3EDCC900364B}"/>
              </a:ext>
            </a:extLst>
          </p:cNvPr>
          <p:cNvSpPr txBox="1"/>
          <p:nvPr/>
        </p:nvSpPr>
        <p:spPr>
          <a:xfrm>
            <a:off x="5696712" y="4719927"/>
            <a:ext cx="6120350" cy="1464231"/>
          </a:xfrm>
          <a:prstGeom prst="roundRect">
            <a:avLst/>
          </a:prstGeom>
          <a:ln/>
        </p:spPr>
        <p:style>
          <a:lnRef idx="0">
            <a:schemeClr val="accent5"/>
          </a:lnRef>
          <a:fillRef idx="3">
            <a:schemeClr val="accent5"/>
          </a:fillRef>
          <a:effectRef idx="3">
            <a:schemeClr val="accent5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GB" sz="2000" b="1" dirty="0"/>
              <a:t>"Running" is not the same as "ready”</a:t>
            </a:r>
            <a:br>
              <a:rPr lang="en-GB" sz="2000" dirty="0"/>
            </a:br>
            <a:r>
              <a:rPr lang="en-GB" sz="2000" dirty="0"/>
              <a:t>A container can be up while the app inside is still booting, deadlocked, or cut off from its database. Probes let Kubernetes tell the difference</a:t>
            </a: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342F81F5-1700-6163-3E91-ED53CAE13B4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99870851"/>
              </p:ext>
            </p:extLst>
          </p:nvPr>
        </p:nvGraphicFramePr>
        <p:xfrm>
          <a:off x="838132" y="2297680"/>
          <a:ext cx="10838757" cy="1554480"/>
        </p:xfrm>
        <a:graphic>
          <a:graphicData uri="http://schemas.openxmlformats.org/drawingml/2006/table">
            <a:tbl>
              <a:tblPr/>
              <a:tblGrid>
                <a:gridCol w="2261684">
                  <a:extLst>
                    <a:ext uri="{9D8B030D-6E8A-4147-A177-3AD203B41FA5}">
                      <a16:colId xmlns:a16="http://schemas.microsoft.com/office/drawing/2014/main" val="2666288890"/>
                    </a:ext>
                  </a:extLst>
                </a:gridCol>
                <a:gridCol w="3236976">
                  <a:extLst>
                    <a:ext uri="{9D8B030D-6E8A-4147-A177-3AD203B41FA5}">
                      <a16:colId xmlns:a16="http://schemas.microsoft.com/office/drawing/2014/main" val="1317145243"/>
                    </a:ext>
                  </a:extLst>
                </a:gridCol>
                <a:gridCol w="5340097">
                  <a:extLst>
                    <a:ext uri="{9D8B030D-6E8A-4147-A177-3AD203B41FA5}">
                      <a16:colId xmlns:a16="http://schemas.microsoft.com/office/drawing/2014/main" val="3816946466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DK" b="1">
                          <a:effectLst/>
                        </a:rPr>
                        <a:t>Probe</a:t>
                      </a:r>
                    </a:p>
                  </a:txBody>
                  <a:tcPr marL="123825" marR="123825" marT="57150" marB="57150" anchor="ctr">
                    <a:lnL w="9525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DK" b="1">
                          <a:effectLst/>
                        </a:rPr>
                        <a:t>Question</a:t>
                      </a:r>
                    </a:p>
                  </a:txBody>
                  <a:tcPr marL="123825" marR="123825" marT="57150" marB="57150" anchor="ctr">
                    <a:lnL w="9525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DK" b="1" dirty="0">
                          <a:effectLst/>
                        </a:rPr>
                        <a:t>On failure</a:t>
                      </a:r>
                    </a:p>
                  </a:txBody>
                  <a:tcPr marL="123825" marR="123825" marT="57150" marB="57150" anchor="ctr">
                    <a:lnL w="9525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2401218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K" b="1" dirty="0">
                          <a:effectLst/>
                        </a:rPr>
                        <a:t>livenessProbe</a:t>
                      </a:r>
                      <a:endParaRPr lang="en-DK" dirty="0">
                        <a:effectLst/>
                      </a:endParaRPr>
                    </a:p>
                  </a:txBody>
                  <a:tcPr marL="123825" marR="123825" marT="57150" marB="57150" anchor="ctr">
                    <a:lnL w="9525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K" dirty="0">
                          <a:effectLst/>
                        </a:rPr>
                        <a:t>Is the process alive?</a:t>
                      </a:r>
                    </a:p>
                  </a:txBody>
                  <a:tcPr marL="123825" marR="123825" marT="57150" marB="57150" anchor="ctr">
                    <a:lnL w="9525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K" b="1">
                          <a:effectLst/>
                        </a:rPr>
                        <a:t>Restart</a:t>
                      </a:r>
                      <a:r>
                        <a:rPr lang="en-DK">
                          <a:effectLst/>
                        </a:rPr>
                        <a:t> the container</a:t>
                      </a:r>
                    </a:p>
                  </a:txBody>
                  <a:tcPr marL="123825" marR="123825" marT="57150" marB="57150" anchor="ctr">
                    <a:lnL w="9525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5816262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K" b="1" dirty="0">
                          <a:effectLst/>
                        </a:rPr>
                        <a:t>readinessProbe</a:t>
                      </a:r>
                      <a:endParaRPr lang="en-DK" dirty="0">
                        <a:effectLst/>
                      </a:endParaRPr>
                    </a:p>
                  </a:txBody>
                  <a:tcPr marL="123825" marR="123825" marT="57150" marB="57150" anchor="ctr">
                    <a:lnL w="9525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K" dirty="0">
                          <a:effectLst/>
                        </a:rPr>
                        <a:t>Can it serve traffic </a:t>
                      </a:r>
                      <a:r>
                        <a:rPr lang="en-DK" i="1" dirty="0">
                          <a:effectLst/>
                        </a:rPr>
                        <a:t>right now</a:t>
                      </a:r>
                      <a:r>
                        <a:rPr lang="en-DK" dirty="0">
                          <a:effectLst/>
                        </a:rPr>
                        <a:t>?</a:t>
                      </a:r>
                    </a:p>
                  </a:txBody>
                  <a:tcPr marL="123825" marR="123825" marT="57150" marB="57150" anchor="ctr">
                    <a:lnL w="9525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K" b="1" dirty="0">
                          <a:effectLst/>
                        </a:rPr>
                        <a:t>Remove</a:t>
                      </a:r>
                      <a:r>
                        <a:rPr lang="en-DK" dirty="0">
                          <a:effectLst/>
                        </a:rPr>
                        <a:t> Pod from the Service's endpoints (no restart)</a:t>
                      </a:r>
                    </a:p>
                  </a:txBody>
                  <a:tcPr marL="123825" marR="123825" marT="57150" marB="57150" anchor="ctr">
                    <a:lnL w="9525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6560756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K" b="1" dirty="0">
                          <a:effectLst/>
                        </a:rPr>
                        <a:t>startupProbe</a:t>
                      </a:r>
                      <a:endParaRPr lang="en-DK" dirty="0">
                        <a:effectLst/>
                      </a:endParaRPr>
                    </a:p>
                  </a:txBody>
                  <a:tcPr marL="123825" marR="123825" marT="57150" marB="57150" anchor="ctr">
                    <a:lnL w="9525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K" dirty="0">
                          <a:effectLst/>
                        </a:rPr>
                        <a:t>Has the app finished booting?</a:t>
                      </a:r>
                    </a:p>
                  </a:txBody>
                  <a:tcPr marL="123825" marR="123825" marT="57150" marB="57150" anchor="ctr">
                    <a:lnL w="9525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K" dirty="0">
                          <a:effectLst/>
                        </a:rPr>
                        <a:t>Hold off liveness/readiness until pass</a:t>
                      </a:r>
                    </a:p>
                  </a:txBody>
                  <a:tcPr marL="123825" marR="123825" marT="57150" marB="57150" anchor="ctr">
                    <a:lnL w="9525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8126062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46457033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A67641-7707-1544-5A01-090E8A51DC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K" dirty="0"/>
              <a:t>Orchestration – Health Probes for API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2D089C4-2822-00FD-0EF6-F0CDF152977A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DK" dirty="0"/>
              <a:t>It’s best-practice for API-based containers to have health-probe endpoints:</a:t>
            </a:r>
          </a:p>
          <a:p>
            <a:endParaRPr lang="en-DK" dirty="0"/>
          </a:p>
          <a:p>
            <a:endParaRPr lang="en-DK" dirty="0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DCF3D08C-9674-9AB3-1DCD-BA2F07EDD66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72080255"/>
              </p:ext>
            </p:extLst>
          </p:nvPr>
        </p:nvGraphicFramePr>
        <p:xfrm>
          <a:off x="1139884" y="2202212"/>
          <a:ext cx="10015796" cy="1440180"/>
        </p:xfrm>
        <a:graphic>
          <a:graphicData uri="http://schemas.openxmlformats.org/drawingml/2006/table">
            <a:tbl>
              <a:tblPr/>
              <a:tblGrid>
                <a:gridCol w="2255618">
                  <a:extLst>
                    <a:ext uri="{9D8B030D-6E8A-4147-A177-3AD203B41FA5}">
                      <a16:colId xmlns:a16="http://schemas.microsoft.com/office/drawing/2014/main" val="2220533658"/>
                    </a:ext>
                  </a:extLst>
                </a:gridCol>
                <a:gridCol w="1926306">
                  <a:extLst>
                    <a:ext uri="{9D8B030D-6E8A-4147-A177-3AD203B41FA5}">
                      <a16:colId xmlns:a16="http://schemas.microsoft.com/office/drawing/2014/main" val="1720144918"/>
                    </a:ext>
                  </a:extLst>
                </a:gridCol>
                <a:gridCol w="5833872">
                  <a:extLst>
                    <a:ext uri="{9D8B030D-6E8A-4147-A177-3AD203B41FA5}">
                      <a16:colId xmlns:a16="http://schemas.microsoft.com/office/drawing/2014/main" val="95750164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DK" b="1">
                          <a:effectLst/>
                        </a:rPr>
                        <a:t>Endpoint</a:t>
                      </a:r>
                    </a:p>
                  </a:txBody>
                  <a:tcPr marL="123825" marR="123825" marT="57150" marB="57150" anchor="ctr">
                    <a:lnL w="9525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DK" b="1">
                          <a:effectLst/>
                        </a:rPr>
                        <a:t>Probe</a:t>
                      </a:r>
                    </a:p>
                  </a:txBody>
                  <a:tcPr marL="123825" marR="123825" marT="57150" marB="57150" anchor="ctr">
                    <a:lnL w="9525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DK" b="1" dirty="0">
                          <a:effectLst/>
                        </a:rPr>
                        <a:t>Should check</a:t>
                      </a:r>
                    </a:p>
                  </a:txBody>
                  <a:tcPr marL="123825" marR="123825" marT="57150" marB="57150" anchor="ctr">
                    <a:lnL w="9525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9031441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K">
                          <a:effectLst/>
                          <a:latin typeface="ui-monospace"/>
                        </a:rPr>
                        <a:t>/healthz</a:t>
                      </a:r>
                      <a:endParaRPr lang="en-DK">
                        <a:effectLst/>
                      </a:endParaRPr>
                    </a:p>
                  </a:txBody>
                  <a:tcPr marL="123825" marR="123825" marT="57150" marB="57150" anchor="ctr">
                    <a:lnL w="9525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K">
                          <a:effectLst/>
                        </a:rPr>
                        <a:t>liveness</a:t>
                      </a:r>
                    </a:p>
                  </a:txBody>
                  <a:tcPr marL="123825" marR="123825" marT="57150" marB="57150" anchor="ctr">
                    <a:lnL w="9525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dirty="0">
                          <a:effectLst/>
                        </a:rPr>
                        <a:t>P</a:t>
                      </a:r>
                      <a:r>
                        <a:rPr lang="en-DK" dirty="0">
                          <a:effectLst/>
                        </a:rPr>
                        <a:t>rocess is alive and API port is open.</a:t>
                      </a:r>
                    </a:p>
                  </a:txBody>
                  <a:tcPr marL="123825" marR="123825" marT="57150" marB="57150" anchor="ctr">
                    <a:lnL w="9525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1650717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K">
                          <a:effectLst/>
                          <a:latin typeface="ui-monospace"/>
                        </a:rPr>
                        <a:t>/readyz</a:t>
                      </a:r>
                      <a:endParaRPr lang="en-DK">
                        <a:effectLst/>
                      </a:endParaRPr>
                    </a:p>
                  </a:txBody>
                  <a:tcPr marL="123825" marR="123825" marT="57150" marB="57150" anchor="ctr">
                    <a:lnL w="9525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K">
                          <a:effectLst/>
                        </a:rPr>
                        <a:t>readiness</a:t>
                      </a:r>
                    </a:p>
                  </a:txBody>
                  <a:tcPr marL="123825" marR="123825" marT="57150" marB="57150" anchor="ctr">
                    <a:lnL w="9525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K" dirty="0">
                          <a:effectLst/>
                        </a:rPr>
                        <a:t>Operational dependencies are up &amp; we’re ready for traffic.</a:t>
                      </a:r>
                      <a:br>
                        <a:rPr lang="en-DK" dirty="0">
                          <a:effectLst/>
                        </a:rPr>
                      </a:br>
                      <a:r>
                        <a:rPr lang="en-DK" dirty="0">
                          <a:effectLst/>
                        </a:rPr>
                        <a:t>e.g. DB connection is up and migrations applied.</a:t>
                      </a:r>
                    </a:p>
                  </a:txBody>
                  <a:tcPr marL="123825" marR="123825" marT="57150" marB="57150" anchor="ctr">
                    <a:lnL w="9525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71936013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A29655EE-BB6D-53EA-5E40-04A2317B3336}"/>
              </a:ext>
            </a:extLst>
          </p:cNvPr>
          <p:cNvSpPr txBox="1"/>
          <p:nvPr/>
        </p:nvSpPr>
        <p:spPr>
          <a:xfrm>
            <a:off x="5803358" y="4528254"/>
            <a:ext cx="5550408" cy="1464231"/>
          </a:xfrm>
          <a:prstGeom prst="roundRect">
            <a:avLst/>
          </a:prstGeom>
          <a:ln/>
        </p:spPr>
        <p:style>
          <a:lnRef idx="0">
            <a:schemeClr val="accent5"/>
          </a:lnRef>
          <a:fillRef idx="3">
            <a:schemeClr val="accent5"/>
          </a:fillRef>
          <a:effectRef idx="3">
            <a:schemeClr val="accent5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GB" sz="2000" b="1" dirty="0"/>
              <a:t>TRAP: Liveness must NOT check dependencies</a:t>
            </a:r>
            <a:r>
              <a:rPr lang="en-GB" sz="2000" dirty="0"/>
              <a:t> like the database. If liveness depends on the DB and the DB is flaky, every replica would fail liveness and restart — a self-inflicted outage.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DA1339C-F6E9-E19F-0D3E-8E7FA38DA83B}"/>
              </a:ext>
            </a:extLst>
          </p:cNvPr>
          <p:cNvSpPr txBox="1"/>
          <p:nvPr/>
        </p:nvSpPr>
        <p:spPr>
          <a:xfrm>
            <a:off x="987552" y="3803904"/>
            <a:ext cx="6789369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DK" b="1" dirty="0">
                <a:solidFill>
                  <a:srgbClr val="005DE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Deployment.yaml</a:t>
            </a:r>
          </a:p>
          <a:p>
            <a:r>
              <a:rPr lang="en-DK" dirty="0">
                <a:latin typeface="Consolas" panose="020B0609020204030204" pitchFamily="49" charset="0"/>
                <a:cs typeface="Consolas" panose="020B0609020204030204" pitchFamily="49" charset="0"/>
              </a:rPr>
              <a:t>…</a:t>
            </a:r>
          </a:p>
          <a:p>
            <a:r>
              <a:rPr lang="en-DK" dirty="0">
                <a:latin typeface="Consolas" panose="020B0609020204030204" pitchFamily="49" charset="0"/>
                <a:cs typeface="Consolas" panose="020B0609020204030204" pitchFamily="49" charset="0"/>
              </a:rPr>
              <a:t>readinessProbe:</a:t>
            </a:r>
          </a:p>
          <a:p>
            <a:r>
              <a:rPr lang="en-DK" dirty="0">
                <a:latin typeface="Consolas" panose="020B0609020204030204" pitchFamily="49" charset="0"/>
                <a:cs typeface="Consolas" panose="020B0609020204030204" pitchFamily="49" charset="0"/>
              </a:rPr>
              <a:t>  httpGet:</a:t>
            </a:r>
          </a:p>
          <a:p>
            <a:r>
              <a:rPr lang="en-DK" dirty="0">
                <a:latin typeface="Consolas" panose="020B0609020204030204" pitchFamily="49" charset="0"/>
                <a:cs typeface="Consolas" panose="020B0609020204030204" pitchFamily="49" charset="0"/>
              </a:rPr>
              <a:t>    path: /readyz</a:t>
            </a:r>
          </a:p>
          <a:p>
            <a:r>
              <a:rPr lang="en-DK" dirty="0">
                <a:latin typeface="Consolas" panose="020B0609020204030204" pitchFamily="49" charset="0"/>
                <a:cs typeface="Consolas" panose="020B0609020204030204" pitchFamily="49" charset="0"/>
              </a:rPr>
              <a:t>    port: 8080</a:t>
            </a:r>
          </a:p>
          <a:p>
            <a:r>
              <a:rPr lang="en-DK" dirty="0">
                <a:latin typeface="Consolas" panose="020B0609020204030204" pitchFamily="49" charset="0"/>
                <a:cs typeface="Consolas" panose="020B0609020204030204" pitchFamily="49" charset="0"/>
              </a:rPr>
              <a:t>  initialDelaySeconds: 5</a:t>
            </a:r>
          </a:p>
          <a:p>
            <a:r>
              <a:rPr lang="en-DK" dirty="0">
                <a:latin typeface="Consolas" panose="020B0609020204030204" pitchFamily="49" charset="0"/>
                <a:cs typeface="Consolas" panose="020B0609020204030204" pitchFamily="49" charset="0"/>
              </a:rPr>
              <a:t>  periodSeconds: 5</a:t>
            </a:r>
          </a:p>
          <a:p>
            <a:endParaRPr lang="en-DK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5203230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0F1EC3-E2F2-1914-7C51-45BAF37B42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K" dirty="0"/>
              <a:t>Orchestration – Resource limits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AA9A173-EDA6-B17E-A116-AFB0DDA331A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DK" dirty="0"/>
              <a:t>Kubernetes distributes and monitors Pods based on resource requests &amp; limits.</a:t>
            </a:r>
            <a:br>
              <a:rPr lang="en-DK" dirty="0"/>
            </a:br>
            <a:endParaRPr lang="en-DK" dirty="0"/>
          </a:p>
          <a:p>
            <a:r>
              <a:rPr lang="en-DK" b="1" dirty="0"/>
              <a:t>Request</a:t>
            </a:r>
            <a:r>
              <a:rPr lang="en-DK" dirty="0"/>
              <a:t>: De ressourcer Kubernetes lover din Pod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en-DK" dirty="0"/>
              <a:t>Garanterede ressource en Pod har til rådighed.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en-DK" dirty="0"/>
              <a:t>Afgør hvilken “node” din Pod startes på.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en-DK" dirty="0"/>
              <a:t>Hvis ingen node har nødvendige ressource </a:t>
            </a:r>
            <a:r>
              <a:rPr lang="en-DK" dirty="0">
                <a:sym typeface="Wingdings" pitchFamily="2" charset="2"/>
              </a:rPr>
              <a:t> Ingen Pod</a:t>
            </a:r>
            <a:br>
              <a:rPr lang="en-DK" dirty="0">
                <a:sym typeface="Wingdings" pitchFamily="2" charset="2"/>
              </a:rPr>
            </a:br>
            <a:endParaRPr lang="en-DK" dirty="0">
              <a:sym typeface="Wingdings" pitchFamily="2" charset="2"/>
            </a:endParaRPr>
          </a:p>
          <a:p>
            <a:pPr>
              <a:buFont typeface="Courier New" panose="02070309020205020404" pitchFamily="49" charset="0"/>
              <a:buChar char="o"/>
            </a:pPr>
            <a:r>
              <a:rPr lang="en-DK" b="1" dirty="0">
                <a:sym typeface="Wingdings" pitchFamily="2" charset="2"/>
              </a:rPr>
              <a:t>Limits:</a:t>
            </a:r>
            <a:r>
              <a:rPr lang="en-DK" dirty="0">
                <a:sym typeface="Wingdings" pitchFamily="2" charset="2"/>
              </a:rPr>
              <a:t> Regulering af din Pods ressourcer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en-DK" dirty="0">
                <a:sym typeface="Wingdings" pitchFamily="2" charset="2"/>
              </a:rPr>
              <a:t>Loft for ressourcer din Container ikke må overskride.</a:t>
            </a:r>
            <a:endParaRPr lang="en-DK" dirty="0"/>
          </a:p>
          <a:p>
            <a:pPr lvl="1">
              <a:buFont typeface="Courier New" panose="02070309020205020404" pitchFamily="49" charset="0"/>
              <a:buChar char="o"/>
            </a:pPr>
            <a:r>
              <a:rPr lang="en-DK" dirty="0"/>
              <a:t>Beskyttelse imod “noisy neighbor” problemer.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en-DK" dirty="0"/>
              <a:t>Consequence: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en-DK" dirty="0"/>
              <a:t>Reach CPU limit </a:t>
            </a:r>
            <a:r>
              <a:rPr lang="en-DK" dirty="0">
                <a:sym typeface="Wingdings" pitchFamily="2" charset="2"/>
              </a:rPr>
              <a:t></a:t>
            </a:r>
            <a:r>
              <a:rPr lang="en-DK" dirty="0"/>
              <a:t> Throttled execution.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en-DK" dirty="0"/>
              <a:t>Reach RAM limit </a:t>
            </a:r>
            <a:r>
              <a:rPr lang="en-DK" dirty="0">
                <a:sym typeface="Wingdings" pitchFamily="2" charset="2"/>
              </a:rPr>
              <a:t></a:t>
            </a:r>
            <a:r>
              <a:rPr lang="en-DK" dirty="0"/>
              <a:t> </a:t>
            </a:r>
            <a:r>
              <a:rPr lang="en-DK" b="1" dirty="0"/>
              <a:t>OOM killed </a:t>
            </a:r>
            <a:r>
              <a:rPr lang="en-DK" dirty="0"/>
              <a:t>if exceed.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FAF6E410-9ECF-FE79-1CDD-676637A4A00C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0510" t="16450" r="20936" b="5456"/>
          <a:stretch>
            <a:fillRect/>
          </a:stretch>
        </p:blipFill>
        <p:spPr>
          <a:xfrm>
            <a:off x="7981173" y="2337030"/>
            <a:ext cx="3372593" cy="41558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10603992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441868-EB45-50FC-5766-8A7FDECEE5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K" dirty="0"/>
              <a:t>Exercise: Composite Systems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C070E38-5EFC-069A-BF89-7D5931C84CB2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DK" dirty="0"/>
              <a:t>Følg instrukser i øvelse </a:t>
            </a:r>
            <a:r>
              <a:rPr lang="en-DK" b="1" dirty="0"/>
              <a:t>5-composite-system</a:t>
            </a:r>
          </a:p>
          <a:p>
            <a:endParaRPr lang="en-DK" dirty="0"/>
          </a:p>
          <a:p>
            <a:r>
              <a:rPr lang="en-DK" dirty="0"/>
              <a:t>En Spring Boot + Postgres app, vi kender fra Workshop #1</a:t>
            </a:r>
            <a:br>
              <a:rPr lang="en-DK" dirty="0"/>
            </a:br>
            <a:endParaRPr lang="en-DK" dirty="0"/>
          </a:p>
          <a:p>
            <a:pPr lvl="1">
              <a:buFont typeface="Courier New" panose="02070309020205020404" pitchFamily="49" charset="0"/>
              <a:buChar char="o"/>
            </a:pPr>
            <a:r>
              <a:rPr lang="en-DK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Pushed til GitHub Container registry (ghcr.io):</a:t>
            </a:r>
            <a:br>
              <a:rPr lang="en-DK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GB" dirty="0" err="1">
                <a:solidFill>
                  <a:srgbClr val="005DE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ghcr.io</a:t>
            </a:r>
            <a:r>
              <a:rPr lang="en-GB" dirty="0">
                <a:solidFill>
                  <a:srgbClr val="005DE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/</a:t>
            </a:r>
            <a:r>
              <a:rPr lang="en-GB" dirty="0" err="1">
                <a:solidFill>
                  <a:srgbClr val="005DE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notalib</a:t>
            </a:r>
            <a:r>
              <a:rPr lang="en-GB" dirty="0">
                <a:solidFill>
                  <a:srgbClr val="005DE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/workshop-containerisation/spring-</a:t>
            </a:r>
            <a:r>
              <a:rPr lang="en-GB" dirty="0" err="1">
                <a:solidFill>
                  <a:srgbClr val="005DE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postgres</a:t>
            </a:r>
            <a:endParaRPr lang="en-GB" dirty="0">
              <a:solidFill>
                <a:srgbClr val="005DE0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lvl="1"/>
            <a:endParaRPr lang="en-DK" b="1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DK" dirty="0"/>
              <a:t>Opgave: 	Få vores Spring Boot backend til at snakke</a:t>
            </a:r>
            <a:br>
              <a:rPr lang="en-DK" dirty="0"/>
            </a:br>
            <a:r>
              <a:rPr lang="en-DK" dirty="0"/>
              <a:t>                	med en Postgres database i kubernetes</a:t>
            </a:r>
          </a:p>
        </p:txBody>
      </p:sp>
    </p:spTree>
    <p:extLst>
      <p:ext uri="{BB962C8B-B14F-4D97-AF65-F5344CB8AC3E}">
        <p14:creationId xmlns:p14="http://schemas.microsoft.com/office/powerpoint/2010/main" val="3867074497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CFF031-EFF8-8F2A-D7DA-404C577FA1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K" dirty="0"/>
              <a:t>Komplekse systemer – Helm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1EA9DE6-A35A-D8F2-0F8A-68133F0FB4E1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DK" dirty="0"/>
              <a:t>Hvad hvis vi kunne pakke vores store fagsystemer til ét samlet versioneret release der kan køre i Kubernetes?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en-DK" dirty="0"/>
              <a:t>Og samtidig kunne ændre på konfigurationen når vi installerer det.</a:t>
            </a:r>
          </a:p>
          <a:p>
            <a:endParaRPr lang="en-DK" dirty="0"/>
          </a:p>
          <a:p>
            <a:r>
              <a:rPr lang="en-DK" dirty="0"/>
              <a:t>Det er her </a:t>
            </a:r>
            <a:r>
              <a:rPr lang="en-DK" b="1" dirty="0"/>
              <a:t>Helm Charts </a:t>
            </a:r>
            <a:r>
              <a:rPr lang="en-DK" dirty="0"/>
              <a:t>kommer ind, fokus for workshop #3.</a:t>
            </a:r>
          </a:p>
          <a:p>
            <a:pPr lvl="1"/>
            <a:r>
              <a:rPr lang="en-DK" dirty="0"/>
              <a:t>Helm charts packages all manifests for a complex system into a .zip file</a:t>
            </a:r>
          </a:p>
          <a:p>
            <a:pPr lvl="1"/>
            <a:r>
              <a:rPr lang="en-DK" dirty="0"/>
              <a:t>Helm charts expose configuration knobs instead of forcing you to edit raw YAML</a:t>
            </a:r>
          </a:p>
          <a:p>
            <a:endParaRPr lang="en-DK" dirty="0"/>
          </a:p>
          <a:p>
            <a:r>
              <a:rPr lang="en-DK" dirty="0">
                <a:solidFill>
                  <a:schemeClr val="tx1"/>
                </a:solidFill>
              </a:rPr>
              <a:t>Teaser til næste workshop:</a:t>
            </a:r>
            <a:r>
              <a:rPr lang="en-DK" dirty="0">
                <a:solidFill>
                  <a:srgbClr val="005DE0"/>
                </a:solidFill>
              </a:rPr>
              <a:t> Demo af DT-DIT Helm charts</a:t>
            </a:r>
          </a:p>
        </p:txBody>
      </p:sp>
    </p:spTree>
    <p:extLst>
      <p:ext uri="{BB962C8B-B14F-4D97-AF65-F5344CB8AC3E}">
        <p14:creationId xmlns:p14="http://schemas.microsoft.com/office/powerpoint/2010/main" val="1787843848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3FC31F27-B13D-50DC-F363-EE9A52C62390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DK" dirty="0"/>
              <a:t>X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1D7DF13-2D40-344F-F512-29057850055A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DK" dirty="0"/>
              <a:t>Extras</a:t>
            </a:r>
          </a:p>
        </p:txBody>
      </p:sp>
    </p:spTree>
    <p:extLst>
      <p:ext uri="{BB962C8B-B14F-4D97-AF65-F5344CB8AC3E}">
        <p14:creationId xmlns:p14="http://schemas.microsoft.com/office/powerpoint/2010/main" val="1291671920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7EFF76-B0ED-E0F5-1392-044B056990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K" dirty="0"/>
              <a:t>StatefulSet &amp; DaemonSet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4648290-1AC3-842B-70DE-8C7C60F4D0FB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DK" b="1" dirty="0"/>
              <a:t>DaemonSet</a:t>
            </a:r>
          </a:p>
          <a:p>
            <a:pPr lvl="1"/>
            <a:r>
              <a:rPr lang="en-DK" dirty="0"/>
              <a:t>Deployment med garanti for at 1 Pod kører på hver node/maskine.</a:t>
            </a:r>
          </a:p>
          <a:p>
            <a:pPr lvl="1"/>
            <a:r>
              <a:rPr lang="en-DK" dirty="0"/>
              <a:t>Kan bruges til cluster-wide værktøjer der bør køre på alle noder i clusteren.</a:t>
            </a:r>
          </a:p>
          <a:p>
            <a:pPr lvl="1"/>
            <a:endParaRPr lang="en-DK" dirty="0"/>
          </a:p>
          <a:p>
            <a:r>
              <a:rPr lang="en-DK" b="1" dirty="0"/>
              <a:t>StatefulSet</a:t>
            </a:r>
          </a:p>
          <a:p>
            <a:pPr lvl="1"/>
            <a:r>
              <a:rPr lang="en-DK" dirty="0"/>
              <a:t>Et specifikt antal Pods, som hver får et unikt og persistent ID (såkaldt sticky Pod ID).</a:t>
            </a:r>
          </a:p>
          <a:p>
            <a:pPr lvl="1"/>
            <a:r>
              <a:rPr lang="en-DK" dirty="0"/>
              <a:t>Kan f.eks bruges til at et cluster af ens Pods, hvor de kan kende forskel på hinanden og få den samme storage mounted hver gang.</a:t>
            </a:r>
          </a:p>
          <a:p>
            <a:pPr lvl="1"/>
            <a:endParaRPr lang="en-DK" dirty="0"/>
          </a:p>
        </p:txBody>
      </p:sp>
    </p:spTree>
    <p:extLst>
      <p:ext uri="{BB962C8B-B14F-4D97-AF65-F5344CB8AC3E}">
        <p14:creationId xmlns:p14="http://schemas.microsoft.com/office/powerpoint/2010/main" val="2530566669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3BE94B-EAF7-E3C6-4C06-B6A093F347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K" dirty="0"/>
              <a:t>Debugging Pods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C3C3B05-A533-6D64-223F-ACFEF714C85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73725" y="1690688"/>
            <a:ext cx="11215171" cy="4442517"/>
          </a:xfrm>
        </p:spPr>
        <p:txBody>
          <a:bodyPr/>
          <a:lstStyle/>
          <a:p>
            <a:r>
              <a:rPr lang="en-GB" dirty="0">
                <a:hlinkClick r:id="rId2"/>
              </a:rPr>
              <a:t>https://kubernetes.io/docs/tasks/debug/debug-application/debug-running-pod/</a:t>
            </a:r>
            <a:endParaRPr lang="en-GB" dirty="0"/>
          </a:p>
          <a:p>
            <a:endParaRPr lang="en-GB" dirty="0"/>
          </a:p>
          <a:p>
            <a:r>
              <a:rPr lang="en-GB" dirty="0"/>
              <a:t>Debug a </a:t>
            </a:r>
            <a:r>
              <a:rPr lang="en-GB" i="1" dirty="0"/>
              <a:t>running</a:t>
            </a:r>
            <a:r>
              <a:rPr lang="en-GB" dirty="0"/>
              <a:t> Pod</a:t>
            </a:r>
            <a:endParaRPr lang="en-GB" sz="2000" dirty="0"/>
          </a:p>
          <a:p>
            <a:pPr marL="0" indent="0">
              <a:buNone/>
            </a:pPr>
            <a:r>
              <a:rPr lang="en-GB" sz="1800" b="0" i="0" dirty="0" err="1">
                <a:solidFill>
                  <a:srgbClr val="222222"/>
                </a:solidFill>
                <a:effectLst/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kubectl</a:t>
            </a:r>
            <a:r>
              <a:rPr lang="en-GB" sz="1800" b="0" i="0" dirty="0">
                <a:solidFill>
                  <a:srgbClr val="222222"/>
                </a:solidFill>
                <a:effectLst/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 run pause --image</a:t>
            </a:r>
            <a:r>
              <a:rPr lang="en-GB" sz="1800" b="0" i="0" dirty="0">
                <a:solidFill>
                  <a:srgbClr val="666666"/>
                </a:solidFill>
                <a:effectLst/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=</a:t>
            </a:r>
            <a:r>
              <a:rPr lang="en-GB" sz="1800" b="0" i="0" dirty="0">
                <a:solidFill>
                  <a:srgbClr val="222222"/>
                </a:solidFill>
                <a:effectLst/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registry.k8s.io/pause:3.1 --restart</a:t>
            </a:r>
            <a:r>
              <a:rPr lang="en-GB" sz="1800" b="0" i="0" dirty="0">
                <a:solidFill>
                  <a:srgbClr val="666666"/>
                </a:solidFill>
                <a:effectLst/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=</a:t>
            </a:r>
            <a:r>
              <a:rPr lang="en-GB" sz="1800" b="0" i="0" dirty="0">
                <a:solidFill>
                  <a:srgbClr val="222222"/>
                </a:solidFill>
                <a:effectLst/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Never</a:t>
            </a:r>
            <a:br>
              <a:rPr lang="en-GB" sz="1800" b="0" i="0" dirty="0">
                <a:solidFill>
                  <a:srgbClr val="222222"/>
                </a:solidFill>
                <a:effectLst/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</a:br>
            <a:br>
              <a:rPr lang="en-GB" sz="1800" b="0" i="0" dirty="0">
                <a:solidFill>
                  <a:srgbClr val="222222"/>
                </a:solidFill>
                <a:effectLst/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GB" sz="1800" b="0" i="0" dirty="0" err="1">
                <a:solidFill>
                  <a:srgbClr val="222222"/>
                </a:solidFill>
                <a:effectLst/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kubectl</a:t>
            </a:r>
            <a:r>
              <a:rPr lang="en-GB" sz="1800" b="0" i="0" dirty="0">
                <a:solidFill>
                  <a:srgbClr val="222222"/>
                </a:solidFill>
                <a:effectLst/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 debug -it pause --image</a:t>
            </a:r>
            <a:r>
              <a:rPr lang="en-GB" sz="1800" b="0" i="0" dirty="0">
                <a:solidFill>
                  <a:srgbClr val="666666"/>
                </a:solidFill>
                <a:effectLst/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=</a:t>
            </a:r>
            <a:r>
              <a:rPr lang="en-GB" sz="1800" b="0" i="0" dirty="0">
                <a:solidFill>
                  <a:srgbClr val="222222"/>
                </a:solidFill>
                <a:effectLst/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busybox:1.28 --target</a:t>
            </a:r>
            <a:r>
              <a:rPr lang="en-GB" sz="1800" b="0" i="0" dirty="0">
                <a:solidFill>
                  <a:srgbClr val="666666"/>
                </a:solidFill>
                <a:effectLst/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=</a:t>
            </a:r>
            <a:r>
              <a:rPr lang="en-GB" sz="1800" b="0" i="0" dirty="0">
                <a:solidFill>
                  <a:schemeClr val="tx1"/>
                </a:solidFill>
                <a:effectLst/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pause</a:t>
            </a:r>
          </a:p>
          <a:p>
            <a:endParaRPr lang="en-GB" dirty="0">
              <a:solidFill>
                <a:srgbClr val="222222"/>
              </a:solidFill>
              <a:highlight>
                <a:srgbClr val="F8F8F8"/>
              </a:highlight>
              <a:latin typeface="SFMono-Regular"/>
            </a:endParaRPr>
          </a:p>
          <a:p>
            <a:r>
              <a:rPr lang="en-GB" dirty="0"/>
              <a:t>Debug a </a:t>
            </a:r>
            <a:r>
              <a:rPr lang="en-GB" i="1" dirty="0"/>
              <a:t>crashing</a:t>
            </a:r>
            <a:r>
              <a:rPr lang="en-GB" dirty="0"/>
              <a:t> Pod</a:t>
            </a:r>
            <a:endParaRPr lang="en-GB" sz="2000" dirty="0"/>
          </a:p>
          <a:p>
            <a:pPr marL="0" indent="0">
              <a:buNone/>
            </a:pPr>
            <a:r>
              <a:rPr lang="en-GB" sz="1800" dirty="0" err="1"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kubectl</a:t>
            </a:r>
            <a:r>
              <a:rPr lang="en-GB" sz="1800" dirty="0"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 run --image=busybox:1.28 </a:t>
            </a:r>
            <a:r>
              <a:rPr lang="en-GB" sz="1800" dirty="0" err="1"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myapp</a:t>
            </a:r>
            <a:r>
              <a:rPr lang="en-GB" sz="1800" dirty="0"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 – false</a:t>
            </a:r>
            <a:br>
              <a:rPr lang="en-GB" sz="1800" dirty="0"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</a:br>
            <a:br>
              <a:rPr lang="en-GB" sz="1800" dirty="0"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GB" sz="1800" dirty="0" err="1"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kubectl</a:t>
            </a:r>
            <a:r>
              <a:rPr lang="en-GB" sz="1800" dirty="0"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 debug </a:t>
            </a:r>
            <a:r>
              <a:rPr lang="en-GB" sz="1800" dirty="0" err="1"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myapp</a:t>
            </a:r>
            <a:r>
              <a:rPr lang="en-GB" sz="1800" dirty="0"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 -it --copy-to=</a:t>
            </a:r>
            <a:r>
              <a:rPr lang="en-GB" sz="1800" dirty="0" err="1"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myapp</a:t>
            </a:r>
            <a:r>
              <a:rPr lang="en-GB" sz="1800" dirty="0"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-debug --container=</a:t>
            </a:r>
            <a:r>
              <a:rPr lang="en-GB" sz="1800" dirty="0" err="1"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myapp</a:t>
            </a:r>
            <a:r>
              <a:rPr lang="en-GB" sz="1800" dirty="0"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 -- </a:t>
            </a:r>
            <a:r>
              <a:rPr lang="en-GB" sz="1800" dirty="0" err="1"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sh</a:t>
            </a:r>
            <a:endParaRPr lang="en-GB" sz="1800" dirty="0">
              <a:highlight>
                <a:srgbClr val="D6ECCB"/>
              </a:highlight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38293851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90CB12-88A0-0A98-5E4B-E2CE15A6FD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K" dirty="0"/>
              <a:t>Test images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CFAA16B-DA1F-4AB9-A24F-69C36CCA09F0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838200" y="1498181"/>
            <a:ext cx="5257800" cy="542373"/>
          </a:xfrm>
        </p:spPr>
        <p:txBody>
          <a:bodyPr>
            <a:normAutofit fontScale="85000" lnSpcReduction="10000"/>
          </a:bodyPr>
          <a:lstStyle/>
          <a:p>
            <a:r>
              <a:rPr lang="en-DK" dirty="0"/>
              <a:t>For debugging and playing around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46DFBED-8495-040E-10C9-0F508B14221C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GB" b="1" dirty="0"/>
              <a:t>HTTP debugging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dirty="0">
                <a:latin typeface="Consolas" panose="020B0609020204030204" pitchFamily="49" charset="0"/>
                <a:cs typeface="Consolas" panose="020B0609020204030204" pitchFamily="49" charset="0"/>
              </a:rPr>
              <a:t>nginx (port 80)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dirty="0" err="1">
                <a:latin typeface="Consolas" panose="020B0609020204030204" pitchFamily="49" charset="0"/>
                <a:cs typeface="Consolas" panose="020B0609020204030204" pitchFamily="49" charset="0"/>
              </a:rPr>
              <a:t>traefik</a:t>
            </a:r>
            <a:r>
              <a:rPr lang="en-GB" dirty="0">
                <a:latin typeface="Consolas" panose="020B0609020204030204" pitchFamily="49" charset="0"/>
                <a:cs typeface="Consolas" panose="020B0609020204030204" pitchFamily="49" charset="0"/>
              </a:rPr>
              <a:t>/</a:t>
            </a:r>
            <a:r>
              <a:rPr lang="en-GB" dirty="0" err="1">
                <a:latin typeface="Consolas" panose="020B0609020204030204" pitchFamily="49" charset="0"/>
                <a:cs typeface="Consolas" panose="020B0609020204030204" pitchFamily="49" charset="0"/>
              </a:rPr>
              <a:t>whoami</a:t>
            </a:r>
            <a:r>
              <a:rPr lang="en-GB" dirty="0">
                <a:latin typeface="Consolas" panose="020B0609020204030204" pitchFamily="49" charset="0"/>
                <a:cs typeface="Consolas" panose="020B0609020204030204" pitchFamily="49" charset="0"/>
              </a:rPr>
              <a:t> (port 80)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dirty="0" err="1">
                <a:latin typeface="Consolas" panose="020B0609020204030204" pitchFamily="49" charset="0"/>
                <a:cs typeface="Consolas" panose="020B0609020204030204" pitchFamily="49" charset="0"/>
              </a:rPr>
              <a:t>mendhak</a:t>
            </a:r>
            <a:r>
              <a:rPr lang="en-GB" dirty="0">
                <a:latin typeface="Consolas" panose="020B0609020204030204" pitchFamily="49" charset="0"/>
                <a:cs typeface="Consolas" panose="020B0609020204030204" pitchFamily="49" charset="0"/>
              </a:rPr>
              <a:t>/http-https-echo (ports 8080 &amp; 8443)</a:t>
            </a:r>
          </a:p>
          <a:p>
            <a:endParaRPr lang="en-GB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GB" b="1" dirty="0"/>
              <a:t>General tools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dirty="0" err="1">
                <a:latin typeface="Consolas" panose="020B0609020204030204" pitchFamily="49" charset="0"/>
                <a:cs typeface="Consolas" panose="020B0609020204030204" pitchFamily="49" charset="0"/>
              </a:rPr>
              <a:t>busybox</a:t>
            </a:r>
            <a:r>
              <a:rPr lang="en-GB" dirty="0">
                <a:latin typeface="Consolas" panose="020B0609020204030204" pitchFamily="49" charset="0"/>
                <a:cs typeface="Consolas" panose="020B0609020204030204" pitchFamily="49" charset="0"/>
              </a:rPr>
              <a:t> (very slim!)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dirty="0" err="1">
                <a:latin typeface="Consolas" panose="020B0609020204030204" pitchFamily="49" charset="0"/>
                <a:cs typeface="Consolas" panose="020B0609020204030204" pitchFamily="49" charset="0"/>
              </a:rPr>
              <a:t>wbitt</a:t>
            </a:r>
            <a:r>
              <a:rPr lang="en-GB" dirty="0">
                <a:latin typeface="Consolas" panose="020B0609020204030204" pitchFamily="49" charset="0"/>
                <a:cs typeface="Consolas" panose="020B0609020204030204" pitchFamily="49" charset="0"/>
              </a:rPr>
              <a:t>/network-multitool (:extra tag for additional tools)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dirty="0" err="1">
                <a:latin typeface="Consolas" panose="020B0609020204030204" pitchFamily="49" charset="0"/>
                <a:cs typeface="Consolas" panose="020B0609020204030204" pitchFamily="49" charset="0"/>
              </a:rPr>
              <a:t>nicolaka</a:t>
            </a:r>
            <a:r>
              <a:rPr lang="en-GB" dirty="0">
                <a:latin typeface="Consolas" panose="020B0609020204030204" pitchFamily="49" charset="0"/>
                <a:cs typeface="Consolas" panose="020B0609020204030204" pitchFamily="49" charset="0"/>
              </a:rPr>
              <a:t>/</a:t>
            </a:r>
            <a:r>
              <a:rPr lang="en-GB" dirty="0" err="1">
                <a:latin typeface="Consolas" panose="020B0609020204030204" pitchFamily="49" charset="0"/>
                <a:cs typeface="Consolas" panose="020B0609020204030204" pitchFamily="49" charset="0"/>
              </a:rPr>
              <a:t>netshoot</a:t>
            </a:r>
            <a:r>
              <a:rPr lang="en-GB" dirty="0">
                <a:latin typeface="Consolas" panose="020B0609020204030204" pitchFamily="49" charset="0"/>
                <a:cs typeface="Consolas" panose="020B0609020204030204" pitchFamily="49" charset="0"/>
              </a:rPr>
              <a:t> (</a:t>
            </a:r>
            <a:r>
              <a:rPr lang="en-GB" dirty="0" err="1">
                <a:latin typeface="Consolas" panose="020B0609020204030204" pitchFamily="49" charset="0"/>
                <a:cs typeface="Consolas" panose="020B0609020204030204" pitchFamily="49" charset="0"/>
              </a:rPr>
              <a:t>swiss</a:t>
            </a:r>
            <a:r>
              <a:rPr lang="en-GB" dirty="0">
                <a:latin typeface="Consolas" panose="020B0609020204030204" pitchFamily="49" charset="0"/>
                <a:cs typeface="Consolas" panose="020B0609020204030204" pitchFamily="49" charset="0"/>
              </a:rPr>
              <a:t>-army knife)</a:t>
            </a:r>
          </a:p>
        </p:txBody>
      </p:sp>
    </p:spTree>
    <p:extLst>
      <p:ext uri="{BB962C8B-B14F-4D97-AF65-F5344CB8AC3E}">
        <p14:creationId xmlns:p14="http://schemas.microsoft.com/office/powerpoint/2010/main" val="1435473304"/>
      </p:ext>
    </p:extLst>
  </p:cSld>
  <p:clrMapOvr>
    <a:masterClrMapping/>
  </p:clrMapOvr>
</p:sld>
</file>

<file path=ppt/theme/theme1.xml><?xml version="1.0" encoding="utf-8"?>
<a:theme xmlns:a="http://schemas.openxmlformats.org/drawingml/2006/main" name="Indhold">
  <a:themeElements>
    <a:clrScheme name="Varm blå">
      <a:dk1>
        <a:sysClr val="windowText" lastClr="000000"/>
      </a:dk1>
      <a:lt1>
        <a:sysClr val="window" lastClr="FFFFFF"/>
      </a:lt1>
      <a:dk2>
        <a:srgbClr val="242852"/>
      </a:dk2>
      <a:lt2>
        <a:srgbClr val="ACCBF9"/>
      </a:lt2>
      <a:accent1>
        <a:srgbClr val="4A66AC"/>
      </a:accent1>
      <a:accent2>
        <a:srgbClr val="629DD1"/>
      </a:accent2>
      <a:accent3>
        <a:srgbClr val="297FD5"/>
      </a:accent3>
      <a:accent4>
        <a:srgbClr val="7F8FA9"/>
      </a:accent4>
      <a:accent5>
        <a:srgbClr val="5AA2AE"/>
      </a:accent5>
      <a:accent6>
        <a:srgbClr val="9D90A0"/>
      </a:accent6>
      <a:hlink>
        <a:srgbClr val="9454C3"/>
      </a:hlink>
      <a:folHlink>
        <a:srgbClr val="3EBBF0"/>
      </a:folHlink>
    </a:clrScheme>
    <a:fontScheme name="Calibri">
      <a:maj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Kontor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Template Nota.pptx" id="{F0FBB5BE-0601-4BE8-BA7C-1355AB977626}" vid="{81F92269-22DC-477F-91A0-1E1887A1027D}"/>
    </a:ext>
  </a:extLst>
</a:theme>
</file>

<file path=ppt/theme/theme2.xml><?xml version="1.0" encoding="utf-8"?>
<a:theme xmlns:a="http://schemas.openxmlformats.org/drawingml/2006/main" name="Pause og overgange">
  <a:themeElements>
    <a:clrScheme name="Nota 2">
      <a:dk1>
        <a:srgbClr val="383838"/>
      </a:dk1>
      <a:lt1>
        <a:srgbClr val="FFFFFF"/>
      </a:lt1>
      <a:dk2>
        <a:srgbClr val="44546A"/>
      </a:dk2>
      <a:lt2>
        <a:srgbClr val="E7E6E6"/>
      </a:lt2>
      <a:accent1>
        <a:srgbClr val="0074D9"/>
      </a:accent1>
      <a:accent2>
        <a:srgbClr val="C54D02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Template Nota</Template>
  <TotalTime>44522</TotalTime>
  <Words>3932</Words>
  <Application>Microsoft Macintosh PowerPoint</Application>
  <PresentationFormat>Widescreen</PresentationFormat>
  <Paragraphs>651</Paragraphs>
  <Slides>65</Slides>
  <Notes>21</Notes>
  <HiddenSlides>0</HiddenSlides>
  <MMClips>0</MMClips>
  <ScaleCrop>false</ScaleCrop>
  <HeadingPairs>
    <vt:vector size="6" baseType="variant">
      <vt:variant>
        <vt:lpstr>Fonts Used</vt:lpstr>
      </vt:variant>
      <vt:variant>
        <vt:i4>10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65</vt:i4>
      </vt:variant>
    </vt:vector>
  </HeadingPairs>
  <TitlesOfParts>
    <vt:vector size="77" baseType="lpstr">
      <vt:lpstr>Arial</vt:lpstr>
      <vt:lpstr>Calibri</vt:lpstr>
      <vt:lpstr>Calibri Light</vt:lpstr>
      <vt:lpstr>Consolas</vt:lpstr>
      <vt:lpstr>Courier New</vt:lpstr>
      <vt:lpstr>inherit</vt:lpstr>
      <vt:lpstr>SFMono-Regular</vt:lpstr>
      <vt:lpstr>Times New Roman</vt:lpstr>
      <vt:lpstr>ui-monospace</vt:lpstr>
      <vt:lpstr>Wingdings</vt:lpstr>
      <vt:lpstr>Indhold</vt:lpstr>
      <vt:lpstr>Pause og overgange</vt:lpstr>
      <vt:lpstr>Kubernetes Workshop </vt:lpstr>
      <vt:lpstr>PowerPoint Presentation</vt:lpstr>
      <vt:lpstr>PowerPoint Presentation</vt:lpstr>
      <vt:lpstr>PowerPoint Presentation</vt:lpstr>
      <vt:lpstr>Container = Legoklods</vt:lpstr>
      <vt:lpstr>Containerization</vt:lpstr>
      <vt:lpstr>Docker vs Kubernetes (k8s)</vt:lpstr>
      <vt:lpstr>PowerPoint Presentation</vt:lpstr>
      <vt:lpstr>PowerPoint Presentation</vt:lpstr>
      <vt:lpstr>Docker Compose vs. Kubernetes</vt:lpstr>
      <vt:lpstr>Hvad er Kubernetes?</vt:lpstr>
      <vt:lpstr>Control Plane (“The Brain”) </vt:lpstr>
      <vt:lpstr>Worker Nodes (“The Muscle”)</vt:lpstr>
      <vt:lpstr>Kubernetes Cluster</vt:lpstr>
      <vt:lpstr>Kubernetes API</vt:lpstr>
      <vt:lpstr>Hvordan bruger man så Kubernetes?</vt:lpstr>
      <vt:lpstr>PowerPoint Presentation</vt:lpstr>
      <vt:lpstr>2. Demo – Smagsprøve på k8s</vt:lpstr>
      <vt:lpstr>Kubernetes Manifests (YAML)</vt:lpstr>
      <vt:lpstr>Namespaces</vt:lpstr>
      <vt:lpstr>What is a Pod?</vt:lpstr>
      <vt:lpstr>PowerPoint Presentation</vt:lpstr>
      <vt:lpstr>Pod manifest</vt:lpstr>
      <vt:lpstr>What is a Deployment?</vt:lpstr>
      <vt:lpstr>Deployment manifest</vt:lpstr>
      <vt:lpstr>PowerPoint Presentation</vt:lpstr>
      <vt:lpstr>Setup a local Kubernetes cluster</vt:lpstr>
      <vt:lpstr>Workshop Repo</vt:lpstr>
      <vt:lpstr>Exercise recap</vt:lpstr>
      <vt:lpstr>PowerPoint Presentation</vt:lpstr>
      <vt:lpstr>Manifest vs. Controller</vt:lpstr>
      <vt:lpstr>Core Kubernetes loop</vt:lpstr>
      <vt:lpstr>PowerPoint Presentation</vt:lpstr>
      <vt:lpstr>Kubectl commands</vt:lpstr>
      <vt:lpstr>Kubectl commands</vt:lpstr>
      <vt:lpstr>Kubectl commands</vt:lpstr>
      <vt:lpstr>Exec &amp; Logs</vt:lpstr>
      <vt:lpstr>Kubectl apply</vt:lpstr>
      <vt:lpstr>Kubernetes Tools</vt:lpstr>
      <vt:lpstr>PowerPoint Presentation</vt:lpstr>
      <vt:lpstr>PowerPoint Presentation</vt:lpstr>
      <vt:lpstr>Containerisation – The 12 factor app</vt:lpstr>
      <vt:lpstr>Volume Mounts</vt:lpstr>
      <vt:lpstr>Volume Mount – Example</vt:lpstr>
      <vt:lpstr>Environment variables</vt:lpstr>
      <vt:lpstr>PowerPoint Presentation</vt:lpstr>
      <vt:lpstr>Volume Mounts - Persistence</vt:lpstr>
      <vt:lpstr>PowerPoint Presentation</vt:lpstr>
      <vt:lpstr>PowerPoint Presentation</vt:lpstr>
      <vt:lpstr>Services</vt:lpstr>
      <vt:lpstr>Service - Manifest</vt:lpstr>
      <vt:lpstr>Services &amp; Ingress</vt:lpstr>
      <vt:lpstr>Expose a service</vt:lpstr>
      <vt:lpstr>PowerPoint Presentation</vt:lpstr>
      <vt:lpstr>PowerPoint Presentation</vt:lpstr>
      <vt:lpstr>Komplekse systemer</vt:lpstr>
      <vt:lpstr>Orchestration – Health Probes</vt:lpstr>
      <vt:lpstr>Orchestration – Health Probes for API</vt:lpstr>
      <vt:lpstr>Orchestration – Resource limits</vt:lpstr>
      <vt:lpstr>Exercise: Composite Systems</vt:lpstr>
      <vt:lpstr>Komplekse systemer – Helm</vt:lpstr>
      <vt:lpstr>PowerPoint Presentation</vt:lpstr>
      <vt:lpstr>StatefulSet &amp; DaemonSet</vt:lpstr>
      <vt:lpstr>Debugging Pods</vt:lpstr>
      <vt:lpstr>Test images</vt:lpstr>
    </vt:vector>
  </TitlesOfParts>
  <Company>Statens It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PowerPoint-præsentation</dc:title>
  <dc:creator>Henrik Østergaard</dc:creator>
  <cp:lastModifiedBy>Daniel Freiling</cp:lastModifiedBy>
  <cp:revision>304</cp:revision>
  <dcterms:created xsi:type="dcterms:W3CDTF">2021-06-21T11:45:03Z</dcterms:created>
  <dcterms:modified xsi:type="dcterms:W3CDTF">2026-06-15T07:16:18Z</dcterms:modified>
</cp:coreProperties>
</file>